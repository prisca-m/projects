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style2.xml" ContentType="application/vnd.ms-office.chartstyle+xml"/>
  <Override PartName="/ppt/charts/colors2.xml" ContentType="application/vnd.ms-office.chartcolorstyle+xml"/>
  <Override PartName="/ppt/charts/chart7.xml" ContentType="application/vnd.openxmlformats-officedocument.drawingml.chart+xml"/>
  <Override PartName="/ppt/charts/style3.xml" ContentType="application/vnd.ms-office.chartstyle+xml"/>
  <Override PartName="/ppt/charts/colors3.xml" ContentType="application/vnd.ms-office.chartcolorstyle+xml"/>
  <Override PartName="/ppt/charts/chart8.xml" ContentType="application/vnd.openxmlformats-officedocument.drawingml.chart+xml"/>
  <Override PartName="/ppt/charts/chart9.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7" r:id="rId3"/>
    <p:sldId id="257" r:id="rId4"/>
    <p:sldId id="258" r:id="rId5"/>
    <p:sldId id="259" r:id="rId6"/>
    <p:sldId id="260" r:id="rId7"/>
    <p:sldId id="286" r:id="rId8"/>
    <p:sldId id="278" r:id="rId9"/>
    <p:sldId id="277" r:id="rId10"/>
    <p:sldId id="279" r:id="rId11"/>
    <p:sldId id="281" r:id="rId12"/>
    <p:sldId id="282" r:id="rId13"/>
    <p:sldId id="288" r:id="rId14"/>
    <p:sldId id="289" r:id="rId15"/>
    <p:sldId id="284" r:id="rId16"/>
    <p:sldId id="285" r:id="rId17"/>
    <p:sldId id="287" r:id="rId18"/>
    <p:sldId id="290" r:id="rId19"/>
    <p:sldId id="292" r:id="rId20"/>
  </p:sldIdLst>
  <p:sldSz cx="18288000" cy="10287000"/>
  <p:notesSz cx="6858000" cy="9144000"/>
  <p:embeddedFontLst>
    <p:embeddedFont>
      <p:font typeface="Calibri" panose="020F0502020204030204" pitchFamily="34" charset="0"/>
      <p:regular r:id="rId21"/>
      <p:bold r:id="rId22"/>
      <p:italic r:id="rId23"/>
      <p:boldItalic r:id="rId24"/>
    </p:embeddedFont>
    <p:embeddedFont>
      <p:font typeface="TT Fors" panose="020B0604020202020204" charset="0"/>
      <p:regular r:id="rId25"/>
    </p:embeddedFont>
    <p:embeddedFont>
      <p:font typeface="TT Fors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1" d="100"/>
          <a:sy n="41" d="100"/>
        </p:scale>
        <p:origin x="820"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deye\Downloads\CAPSTONE%20PROJECT.ods"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C:\Users\adeye\Downloads\CAPSTONE%20PROJECT.ods"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oleObject" Target="file:///C:\Users\adeye\Downloads\CAPSTONE%20PROJECT.ods"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adeye\Downloads\CAPSTONE%20PROJECT.ods"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adeye\Downloads\CAPSTONE%20PROJECT.ods" TargetMode="External"/></Relationships>
</file>

<file path=ppt/charts/_rels/chart6.xml.rels><?xml version="1.0" encoding="UTF-8" standalone="yes"?>
<Relationships xmlns="http://schemas.openxmlformats.org/package/2006/relationships"><Relationship Id="rId3" Type="http://schemas.openxmlformats.org/officeDocument/2006/relationships/oleObject" Target="file:///C:\Users\adeye\Downloads\CAPSTONE%20PROJECT.ods" TargetMode="External"/><Relationship Id="rId2" Type="http://schemas.microsoft.com/office/2011/relationships/chartColorStyle" Target="colors2.xml"/><Relationship Id="rId1" Type="http://schemas.microsoft.com/office/2011/relationships/chartStyle" Target="style2.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deye\Downloads\CAPSTONE%20PROJECT.ods" TargetMode="External"/><Relationship Id="rId2" Type="http://schemas.microsoft.com/office/2011/relationships/chartColorStyle" Target="colors3.xml"/><Relationship Id="rId1" Type="http://schemas.microsoft.com/office/2011/relationships/chartStyle" Target="style3.xml"/></Relationships>
</file>

<file path=ppt/charts/_rels/chart8.xml.rels><?xml version="1.0" encoding="UTF-8" standalone="yes"?>
<Relationships xmlns="http://schemas.openxmlformats.org/package/2006/relationships"><Relationship Id="rId1" Type="http://schemas.openxmlformats.org/officeDocument/2006/relationships/oleObject" Target="file:///C:\Users\adeye\Downloads\CAPSTONE%20PROJECT.ods"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Users\adeye\Downloads\CAPSTONE%20PROJECT.od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a:defRPr sz="2400"/>
            </a:pPr>
            <a:r>
              <a:rPr lang="en-GB" sz="2400"/>
              <a:t>CASE BY GENDER</a:t>
            </a:r>
          </a:p>
        </c:rich>
      </c:tx>
      <c:overlay val="0"/>
      <c:spPr>
        <a:noFill/>
        <a:ln>
          <a:noFill/>
        </a:ln>
      </c:spPr>
    </c:title>
    <c:autoTitleDeleted val="0"/>
    <c:plotArea>
      <c:layout/>
      <c:doughnutChart>
        <c:varyColors val="1"/>
        <c:ser>
          <c:idx val="0"/>
          <c:order val="0"/>
          <c:tx>
            <c:strRef>
              <c:f>'Q2'!$B$2</c:f>
              <c:strCache>
                <c:ptCount val="1"/>
                <c:pt idx="0">
                  <c:v>total_cases</c:v>
                </c:pt>
              </c:strCache>
            </c:strRef>
          </c:tx>
          <c:spPr>
            <a:solidFill>
              <a:schemeClr val="tx2"/>
            </a:solidFill>
          </c:spPr>
          <c:dPt>
            <c:idx val="0"/>
            <c:bubble3D val="0"/>
            <c:spPr>
              <a:solidFill>
                <a:schemeClr val="tx2"/>
              </a:solidFill>
              <a:ln w="19046">
                <a:solidFill>
                  <a:srgbClr val="FFFFFF"/>
                </a:solidFill>
                <a:prstDash val="solid"/>
              </a:ln>
            </c:spPr>
            <c:extLst>
              <c:ext xmlns:c16="http://schemas.microsoft.com/office/drawing/2014/chart" uri="{C3380CC4-5D6E-409C-BE32-E72D297353CC}">
                <c16:uniqueId val="{00000001-8997-4D31-A997-0203DA9D88C5}"/>
              </c:ext>
            </c:extLst>
          </c:dPt>
          <c:dPt>
            <c:idx val="1"/>
            <c:bubble3D val="0"/>
            <c:spPr>
              <a:solidFill>
                <a:schemeClr val="accent6"/>
              </a:solidFill>
              <a:ln w="19046">
                <a:solidFill>
                  <a:srgbClr val="FFFFFF"/>
                </a:solidFill>
                <a:prstDash val="solid"/>
              </a:ln>
            </c:spPr>
            <c:extLst>
              <c:ext xmlns:c16="http://schemas.microsoft.com/office/drawing/2014/chart" uri="{C3380CC4-5D6E-409C-BE32-E72D297353CC}">
                <c16:uniqueId val="{00000003-8997-4D31-A997-0203DA9D88C5}"/>
              </c:ext>
            </c:extLst>
          </c:dPt>
          <c:dLbls>
            <c:dLbl>
              <c:idx val="0"/>
              <c:layout>
                <c:manualLayout>
                  <c:x val="0.10368000874890637"/>
                  <c:y val="-0.1862266695829688"/>
                </c:manualLayout>
              </c:layout>
              <c:spPr>
                <a:noFill/>
                <a:ln>
                  <a:noFill/>
                </a:ln>
                <a:effectLst/>
              </c:spPr>
              <c:txPr>
                <a:bodyPr/>
                <a:lstStyle/>
                <a:p>
                  <a:pPr algn="ctr">
                    <a:defRPr/>
                  </a:pPr>
                  <a:endParaRPr lang="en-US"/>
                </a:p>
              </c:txPr>
              <c:showLegendKey val="0"/>
              <c:showVal val="1"/>
              <c:showCatName val="0"/>
              <c:showSerName val="0"/>
              <c:showPercent val="0"/>
              <c:showBubbleSize val="0"/>
              <c:separator>, </c:separator>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8997-4D31-A997-0203DA9D88C5}"/>
                </c:ext>
              </c:extLst>
            </c:dLbl>
            <c:dLbl>
              <c:idx val="1"/>
              <c:layout>
                <c:manualLayout>
                  <c:x val="-0.11298665791776027"/>
                  <c:y val="-0.10289442986293384"/>
                </c:manualLayout>
              </c:layout>
              <c:spPr>
                <a:noFill/>
                <a:ln>
                  <a:noFill/>
                </a:ln>
                <a:effectLst/>
              </c:spPr>
              <c:txPr>
                <a:bodyPr/>
                <a:lstStyle/>
                <a:p>
                  <a:pPr algn="ctr">
                    <a:defRPr/>
                  </a:pPr>
                  <a:endParaRPr lang="en-US"/>
                </a:p>
              </c:txPr>
              <c:showLegendKey val="0"/>
              <c:showVal val="1"/>
              <c:showCatName val="0"/>
              <c:showSerName val="0"/>
              <c:showPercent val="0"/>
              <c:showBubbleSize val="0"/>
              <c:separator>, </c:separator>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8997-4D31-A997-0203DA9D88C5}"/>
                </c:ext>
              </c:extLst>
            </c:dLbl>
            <c:spPr>
              <a:noFill/>
              <a:ln>
                <a:noFill/>
              </a:ln>
              <a:effectLst/>
            </c:spPr>
            <c:txPr>
              <a:bodyPr/>
              <a:lstStyle/>
              <a:p>
                <a:pPr algn="ctr">
                  <a:defRPr/>
                </a:pPr>
                <a:endParaRPr lang="en-US"/>
              </a:p>
            </c:txPr>
            <c:showLegendKey val="0"/>
            <c:showVal val="1"/>
            <c:showCatName val="0"/>
            <c:showSerName val="0"/>
            <c:showPercent val="0"/>
            <c:showBubbleSize val="0"/>
            <c:separator>, </c:separator>
            <c:showLeaderLines val="1"/>
            <c:extLst>
              <c:ext xmlns:c15="http://schemas.microsoft.com/office/drawing/2012/chart" uri="{CE6537A1-D6FC-4f65-9D91-7224C49458BB}"/>
            </c:extLst>
          </c:dLbls>
          <c:cat>
            <c:strRef>
              <c:f>'Q2'!$A$3:$A$4</c:f>
              <c:strCache>
                <c:ptCount val="2"/>
                <c:pt idx="0">
                  <c:v>MALE</c:v>
                </c:pt>
                <c:pt idx="1">
                  <c:v>FEMALE</c:v>
                </c:pt>
              </c:strCache>
            </c:strRef>
          </c:cat>
          <c:val>
            <c:numRef>
              <c:f>'Q2'!$B$3:$B$4</c:f>
              <c:numCache>
                <c:formatCode>General</c:formatCode>
                <c:ptCount val="2"/>
                <c:pt idx="0">
                  <c:v>241</c:v>
                </c:pt>
                <c:pt idx="1">
                  <c:v>217</c:v>
                </c:pt>
              </c:numCache>
            </c:numRef>
          </c:val>
          <c:extLst>
            <c:ext xmlns:c16="http://schemas.microsoft.com/office/drawing/2014/chart" uri="{C3380CC4-5D6E-409C-BE32-E72D297353CC}">
              <c16:uniqueId val="{00000004-8997-4D31-A997-0203DA9D88C5}"/>
            </c:ext>
          </c:extLst>
        </c:ser>
        <c:dLbls>
          <c:showLegendKey val="0"/>
          <c:showVal val="0"/>
          <c:showCatName val="0"/>
          <c:showSerName val="0"/>
          <c:showPercent val="0"/>
          <c:showBubbleSize val="0"/>
          <c:showLeaderLines val="1"/>
        </c:dLbls>
        <c:firstSliceAng val="360"/>
        <c:holeSize val="75"/>
      </c:doughnutChart>
      <c:spPr>
        <a:noFill/>
        <a:ln>
          <a:noFill/>
        </a:ln>
      </c:spPr>
    </c:plotArea>
    <c:legend>
      <c:legendPos val="b"/>
      <c:overlay val="0"/>
      <c:spPr>
        <a:noFill/>
        <a:ln>
          <a:noFill/>
        </a:ln>
      </c:spPr>
    </c:legend>
    <c:plotVisOnly val="1"/>
    <c:dispBlanksAs val="gap"/>
    <c:showDLblsOverMax val="0"/>
  </c:chart>
  <c:spPr>
    <a:solidFill>
      <a:srgbClr val="FFFFFF"/>
    </a:solid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lang="en-GB" sz="2800" b="0" i="0" u="none" strike="noStrike" kern="1200" baseline="0">
          <a:solidFill>
            <a:srgbClr val="000000"/>
          </a:solidFill>
          <a:latin typeface="TT Fors" panose="020B0604020202020204" charset="0"/>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360" b="1" i="0" u="none" strike="noStrike" kern="1200" spc="0" baseline="0">
                <a:solidFill>
                  <a:schemeClr val="tx1"/>
                </a:solidFill>
                <a:latin typeface="TT Fors" panose="020B0604020202020204" charset="0"/>
                <a:ea typeface="+mn-ea"/>
                <a:cs typeface="+mn-cs"/>
              </a:defRPr>
            </a:pPr>
            <a:r>
              <a:rPr lang="en-US"/>
              <a:t>AGE DISTRIBUTION</a:t>
            </a:r>
          </a:p>
        </c:rich>
      </c:tx>
      <c:overlay val="0"/>
      <c:spPr>
        <a:noFill/>
        <a:ln>
          <a:noFill/>
        </a:ln>
        <a:effectLst/>
      </c:spPr>
      <c:txPr>
        <a:bodyPr rot="0" spcFirstLastPara="1" vertOverflow="ellipsis" vert="horz" wrap="square" anchor="ctr" anchorCtr="1"/>
        <a:lstStyle/>
        <a:p>
          <a:pPr>
            <a:defRPr sz="3360" b="1" i="0" u="none" strike="noStrike" kern="1200" spc="0" baseline="0">
              <a:solidFill>
                <a:schemeClr val="tx1"/>
              </a:solidFill>
              <a:latin typeface="TT Fors" panose="020B0604020202020204" charset="0"/>
              <a:ea typeface="+mn-ea"/>
              <a:cs typeface="+mn-cs"/>
            </a:defRPr>
          </a:pPr>
          <a:endParaRPr lang="en-US"/>
        </a:p>
      </c:txPr>
    </c:title>
    <c:autoTitleDeleted val="0"/>
    <c:plotArea>
      <c:layout/>
      <c:barChart>
        <c:barDir val="col"/>
        <c:grouping val="clustered"/>
        <c:varyColors val="0"/>
        <c:ser>
          <c:idx val="0"/>
          <c:order val="0"/>
          <c:tx>
            <c:strRef>
              <c:f>'Q1'!$B$3</c:f>
              <c:strCache>
                <c:ptCount val="1"/>
                <c:pt idx="0">
                  <c:v>total_cases</c:v>
                </c:pt>
              </c:strCache>
            </c:strRef>
          </c:tx>
          <c:spPr>
            <a:solidFill>
              <a:schemeClr val="tx2"/>
            </a:solidFill>
            <a:ln>
              <a:noFill/>
            </a:ln>
            <a:effectLst/>
          </c:spPr>
          <c:invertIfNegative val="0"/>
          <c:dLbls>
            <c:spPr>
              <a:noFill/>
              <a:ln>
                <a:noFill/>
              </a:ln>
              <a:effectLst/>
            </c:spPr>
            <c:txPr>
              <a:bodyPr rot="0" spcFirstLastPara="1" vertOverflow="ellipsis" vert="horz" wrap="square" anchor="ctr" anchorCtr="1"/>
              <a:lstStyle/>
              <a:p>
                <a:pPr>
                  <a:defRPr sz="2800" b="1" i="0" u="none" strike="noStrike" kern="1200" baseline="0">
                    <a:solidFill>
                      <a:schemeClr val="tx1"/>
                    </a:solidFill>
                    <a:latin typeface="TT Fors" panose="020B060402020202020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'Q1'!$A$4:$A$6</c:f>
              <c:strCache>
                <c:ptCount val="3"/>
                <c:pt idx="0">
                  <c:v>Adult</c:v>
                </c:pt>
                <c:pt idx="1">
                  <c:v>Elderly</c:v>
                </c:pt>
                <c:pt idx="2">
                  <c:v>Youth</c:v>
                </c:pt>
              </c:strCache>
            </c:strRef>
          </c:cat>
          <c:val>
            <c:numRef>
              <c:f>'Q1'!$B$4:$B$6</c:f>
              <c:numCache>
                <c:formatCode>General</c:formatCode>
                <c:ptCount val="3"/>
                <c:pt idx="0">
                  <c:v>42</c:v>
                </c:pt>
                <c:pt idx="1">
                  <c:v>407</c:v>
                </c:pt>
                <c:pt idx="2">
                  <c:v>9</c:v>
                </c:pt>
              </c:numCache>
            </c:numRef>
          </c:val>
          <c:extLst>
            <c:ext xmlns:c16="http://schemas.microsoft.com/office/drawing/2014/chart" uri="{C3380CC4-5D6E-409C-BE32-E72D297353CC}">
              <c16:uniqueId val="{00000000-FDF1-45AC-8BF5-324EA1967998}"/>
            </c:ext>
          </c:extLst>
        </c:ser>
        <c:dLbls>
          <c:dLblPos val="outEnd"/>
          <c:showLegendKey val="0"/>
          <c:showVal val="1"/>
          <c:showCatName val="0"/>
          <c:showSerName val="0"/>
          <c:showPercent val="0"/>
          <c:showBubbleSize val="0"/>
        </c:dLbls>
        <c:gapWidth val="219"/>
        <c:overlap val="-27"/>
        <c:axId val="1577621152"/>
        <c:axId val="1577636992"/>
      </c:barChart>
      <c:catAx>
        <c:axId val="15776211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800" b="1" i="0" u="none" strike="noStrike" kern="1200" baseline="0">
                <a:solidFill>
                  <a:schemeClr val="tx1"/>
                </a:solidFill>
                <a:latin typeface="TT Fors" panose="020B0604020202020204" charset="0"/>
                <a:ea typeface="+mn-ea"/>
                <a:cs typeface="+mn-cs"/>
              </a:defRPr>
            </a:pPr>
            <a:endParaRPr lang="en-US"/>
          </a:p>
        </c:txPr>
        <c:crossAx val="1577636992"/>
        <c:crosses val="autoZero"/>
        <c:auto val="1"/>
        <c:lblAlgn val="ctr"/>
        <c:lblOffset val="100"/>
        <c:noMultiLvlLbl val="0"/>
      </c:catAx>
      <c:valAx>
        <c:axId val="1577636992"/>
        <c:scaling>
          <c:orientation val="minMax"/>
        </c:scaling>
        <c:delete val="1"/>
        <c:axPos val="l"/>
        <c:numFmt formatCode="General" sourceLinked="1"/>
        <c:majorTickMark val="none"/>
        <c:minorTickMark val="none"/>
        <c:tickLblPos val="nextTo"/>
        <c:crossAx val="1577621152"/>
        <c:crosses val="autoZero"/>
        <c:crossBetween val="between"/>
      </c:valAx>
      <c:spPr>
        <a:noFill/>
        <a:ln>
          <a:noFill/>
        </a:ln>
        <a:effectLst/>
      </c:spPr>
    </c:plotArea>
    <c:plotVisOnly val="1"/>
    <c:dispBlanksAs val="gap"/>
    <c:showDLblsOverMax val="0"/>
  </c:chart>
  <c:spPr>
    <a:noFill/>
    <a:ln>
      <a:noFill/>
    </a:ln>
    <a:effectLst/>
  </c:spPr>
  <c:txPr>
    <a:bodyPr/>
    <a:lstStyle/>
    <a:p>
      <a:pPr>
        <a:defRPr sz="2800" b="1">
          <a:solidFill>
            <a:schemeClr val="tx1"/>
          </a:solidFill>
          <a:latin typeface="TT Fors" panose="020B060402020202020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a:defRPr/>
            </a:pPr>
            <a:r>
              <a:rPr lang="en-GB"/>
              <a:t>Cancer History Case</a:t>
            </a:r>
          </a:p>
        </c:rich>
      </c:tx>
      <c:overlay val="0"/>
      <c:spPr>
        <a:noFill/>
        <a:ln>
          <a:noFill/>
        </a:ln>
      </c:spPr>
    </c:title>
    <c:autoTitleDeleted val="0"/>
    <c:plotArea>
      <c:layout/>
      <c:barChart>
        <c:barDir val="col"/>
        <c:grouping val="clustered"/>
        <c:varyColors val="0"/>
        <c:ser>
          <c:idx val="0"/>
          <c:order val="0"/>
          <c:tx>
            <c:strRef>
              <c:f>'Q3'!$B$2</c:f>
              <c:strCache>
                <c:ptCount val="1"/>
                <c:pt idx="0">
                  <c:v>total_cases</c:v>
                </c:pt>
              </c:strCache>
            </c:strRef>
          </c:tx>
          <c:spPr>
            <a:solidFill>
              <a:schemeClr val="tx2"/>
            </a:solidFill>
            <a:ln>
              <a:solidFill>
                <a:schemeClr val="bg1"/>
              </a:solidFill>
            </a:ln>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'Q3'!$A$3:$A$4</c:f>
              <c:strCache>
                <c:ptCount val="2"/>
                <c:pt idx="0">
                  <c:v>FALSE </c:v>
                </c:pt>
                <c:pt idx="1">
                  <c:v>TRUE</c:v>
                </c:pt>
              </c:strCache>
            </c:strRef>
          </c:cat>
          <c:val>
            <c:numRef>
              <c:f>'Q3'!$B$3:$B$4</c:f>
              <c:numCache>
                <c:formatCode>General</c:formatCode>
                <c:ptCount val="2"/>
                <c:pt idx="0">
                  <c:v>212</c:v>
                </c:pt>
                <c:pt idx="1">
                  <c:v>246</c:v>
                </c:pt>
              </c:numCache>
            </c:numRef>
          </c:val>
          <c:extLst>
            <c:ext xmlns:c16="http://schemas.microsoft.com/office/drawing/2014/chart" uri="{C3380CC4-5D6E-409C-BE32-E72D297353CC}">
              <c16:uniqueId val="{00000000-69F8-44F3-8123-7C7B3DBEE2E6}"/>
            </c:ext>
          </c:extLst>
        </c:ser>
        <c:dLbls>
          <c:dLblPos val="outEnd"/>
          <c:showLegendKey val="0"/>
          <c:showVal val="1"/>
          <c:showCatName val="0"/>
          <c:showSerName val="0"/>
          <c:showPercent val="0"/>
          <c:showBubbleSize val="0"/>
        </c:dLbls>
        <c:gapWidth val="100"/>
        <c:overlap val="-24"/>
        <c:axId val="1448296944"/>
        <c:axId val="1448305104"/>
      </c:barChart>
      <c:valAx>
        <c:axId val="1448305104"/>
        <c:scaling>
          <c:orientation val="minMax"/>
        </c:scaling>
        <c:delete val="1"/>
        <c:axPos val="l"/>
        <c:numFmt formatCode="General" sourceLinked="1"/>
        <c:majorTickMark val="none"/>
        <c:minorTickMark val="none"/>
        <c:tickLblPos val="nextTo"/>
        <c:crossAx val="1448296944"/>
        <c:crosses val="autoZero"/>
        <c:crossBetween val="between"/>
      </c:valAx>
      <c:catAx>
        <c:axId val="1448296944"/>
        <c:scaling>
          <c:orientation val="minMax"/>
        </c:scaling>
        <c:delete val="0"/>
        <c:axPos val="b"/>
        <c:numFmt formatCode="General" sourceLinked="1"/>
        <c:majorTickMark val="none"/>
        <c:minorTickMark val="none"/>
        <c:tickLblPos val="nextTo"/>
        <c:spPr>
          <a:noFill/>
          <a:ln w="9528" cap="flat">
            <a:solidFill>
              <a:srgbClr val="CADFF4"/>
            </a:solidFill>
            <a:prstDash val="solid"/>
            <a:round/>
          </a:ln>
        </c:spPr>
        <c:crossAx val="1448305104"/>
        <c:crosses val="autoZero"/>
        <c:auto val="1"/>
        <c:lblAlgn val="ctr"/>
        <c:lblOffset val="100"/>
        <c:noMultiLvlLbl val="0"/>
      </c:catAx>
      <c:spPr>
        <a:noFill/>
        <a:ln>
          <a:noFill/>
        </a:ln>
      </c:spPr>
    </c:plotArea>
    <c:plotVisOnly val="1"/>
    <c:dispBlanksAs val="gap"/>
    <c:showDLblsOverMax val="0"/>
  </c:chart>
  <c:spPr>
    <a:solidFill>
      <a:srgbClr val="FFFFFF"/>
    </a:solidFill>
    <a:ln w="9528" cap="flat">
      <a:solidFill>
        <a:srgbClr val="CADFF4"/>
      </a:solidFill>
      <a:prstDash val="solid"/>
      <a:round/>
    </a:ln>
  </c:spPr>
  <c:txPr>
    <a:bodyPr lIns="0" tIns="0" rIns="0" bIns="0"/>
    <a:lstStyle/>
    <a:p>
      <a:pPr marL="0" marR="0" indent="0" defTabSz="914400" fontAlgn="auto" hangingPunct="1">
        <a:lnSpc>
          <a:spcPct val="100000"/>
        </a:lnSpc>
        <a:spcBef>
          <a:spcPts val="0"/>
        </a:spcBef>
        <a:spcAft>
          <a:spcPts val="0"/>
        </a:spcAft>
        <a:tabLst/>
        <a:defRPr lang="en-GB" sz="2000" b="1" i="0" u="none" strike="noStrike" kern="1200" baseline="0">
          <a:solidFill>
            <a:schemeClr val="tx1"/>
          </a:solidFill>
          <a:latin typeface="Aptos Narrow"/>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a:defRPr/>
            </a:pPr>
            <a:r>
              <a:rPr lang="en-GB"/>
              <a:t>Skin Cancer History</a:t>
            </a:r>
          </a:p>
        </c:rich>
      </c:tx>
      <c:overlay val="0"/>
      <c:spPr>
        <a:noFill/>
        <a:ln>
          <a:noFill/>
        </a:ln>
      </c:spPr>
    </c:title>
    <c:autoTitleDeleted val="0"/>
    <c:plotArea>
      <c:layout/>
      <c:pieChart>
        <c:varyColors val="1"/>
        <c:ser>
          <c:idx val="0"/>
          <c:order val="0"/>
          <c:tx>
            <c:strRef>
              <c:f>'Q4'!$B$2</c:f>
              <c:strCache>
                <c:ptCount val="1"/>
                <c:pt idx="0">
                  <c:v>total_cases</c:v>
                </c:pt>
              </c:strCache>
            </c:strRef>
          </c:tx>
          <c:dPt>
            <c:idx val="0"/>
            <c:bubble3D val="0"/>
            <c:spPr>
              <a:solidFill>
                <a:schemeClr val="tx2"/>
              </a:solidFill>
              <a:ln w="19046">
                <a:solidFill>
                  <a:srgbClr val="FFFFFF"/>
                </a:solidFill>
                <a:prstDash val="solid"/>
              </a:ln>
            </c:spPr>
            <c:extLst>
              <c:ext xmlns:c16="http://schemas.microsoft.com/office/drawing/2014/chart" uri="{C3380CC4-5D6E-409C-BE32-E72D297353CC}">
                <c16:uniqueId val="{00000001-95FA-4A8E-9344-BFF47443FF69}"/>
              </c:ext>
            </c:extLst>
          </c:dPt>
          <c:dPt>
            <c:idx val="1"/>
            <c:bubble3D val="0"/>
            <c:spPr>
              <a:solidFill>
                <a:srgbClr val="E97132"/>
              </a:solidFill>
              <a:ln w="19046">
                <a:solidFill>
                  <a:srgbClr val="FFFFFF"/>
                </a:solidFill>
                <a:prstDash val="solid"/>
              </a:ln>
            </c:spPr>
            <c:extLst>
              <c:ext xmlns:c16="http://schemas.microsoft.com/office/drawing/2014/chart" uri="{C3380CC4-5D6E-409C-BE32-E72D297353CC}">
                <c16:uniqueId val="{00000003-95FA-4A8E-9344-BFF47443FF69}"/>
              </c:ext>
            </c:extLst>
          </c:dPt>
          <c:dLbls>
            <c:dLbl>
              <c:idx val="0"/>
              <c:layout>
                <c:manualLayout>
                  <c:x val="0.11852165354330713"/>
                  <c:y val="-0.31228310002916304"/>
                </c:manualLayout>
              </c:layout>
              <c:spPr>
                <a:noFill/>
                <a:ln>
                  <a:noFill/>
                </a:ln>
                <a:effectLst/>
              </c:spPr>
              <c:txPr>
                <a:bodyPr/>
                <a:lstStyle/>
                <a:p>
                  <a:pPr algn="ctr">
                    <a:defRPr/>
                  </a:pPr>
                  <a:endParaRPr lang="en-US"/>
                </a:p>
              </c:txPr>
              <c:showLegendKey val="0"/>
              <c:showVal val="1"/>
              <c:showCatName val="0"/>
              <c:showSerName val="0"/>
              <c:showPercent val="0"/>
              <c:showBubbleSize val="0"/>
              <c:separator>, </c:separator>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95FA-4A8E-9344-BFF47443FF69}"/>
                </c:ext>
              </c:extLst>
            </c:dLbl>
            <c:dLbl>
              <c:idx val="1"/>
              <c:layout>
                <c:manualLayout>
                  <c:x val="-0.13449584426946634"/>
                  <c:y val="-9.5030621172353447E-2"/>
                </c:manualLayout>
              </c:layout>
              <c:spPr>
                <a:noFill/>
                <a:ln>
                  <a:noFill/>
                </a:ln>
                <a:effectLst/>
              </c:spPr>
              <c:txPr>
                <a:bodyPr/>
                <a:lstStyle/>
                <a:p>
                  <a:pPr algn="ctr">
                    <a:defRPr/>
                  </a:pPr>
                  <a:endParaRPr lang="en-US"/>
                </a:p>
              </c:txPr>
              <c:showLegendKey val="0"/>
              <c:showVal val="1"/>
              <c:showCatName val="0"/>
              <c:showSerName val="0"/>
              <c:showPercent val="0"/>
              <c:showBubbleSize val="0"/>
              <c:separator>, </c:separator>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95FA-4A8E-9344-BFF47443FF69}"/>
                </c:ext>
              </c:extLst>
            </c:dLbl>
            <c:spPr>
              <a:noFill/>
              <a:ln>
                <a:noFill/>
              </a:ln>
              <a:effectLst/>
            </c:spPr>
            <c:txPr>
              <a:bodyPr/>
              <a:lstStyle/>
              <a:p>
                <a:pPr algn="ctr">
                  <a:defRPr/>
                </a:pPr>
                <a:endParaRPr lang="en-US"/>
              </a:p>
            </c:txPr>
            <c:showLegendKey val="0"/>
            <c:showVal val="1"/>
            <c:showCatName val="0"/>
            <c:showSerName val="0"/>
            <c:showPercent val="0"/>
            <c:showBubbleSize val="0"/>
            <c:separator>, </c:separator>
            <c:showLeaderLines val="1"/>
            <c:extLst>
              <c:ext xmlns:c15="http://schemas.microsoft.com/office/drawing/2012/chart" uri="{CE6537A1-D6FC-4f65-9D91-7224C49458BB}"/>
            </c:extLst>
          </c:dLbls>
          <c:cat>
            <c:strRef>
              <c:f>'Q4'!$A$3:$A$4</c:f>
              <c:strCache>
                <c:ptCount val="2"/>
                <c:pt idx="0">
                  <c:v>FALSE </c:v>
                </c:pt>
                <c:pt idx="1">
                  <c:v>TRUE</c:v>
                </c:pt>
              </c:strCache>
            </c:strRef>
          </c:cat>
          <c:val>
            <c:numRef>
              <c:f>'Q4'!$B$3:$B$4</c:f>
              <c:numCache>
                <c:formatCode>General</c:formatCode>
                <c:ptCount val="2"/>
                <c:pt idx="0">
                  <c:v>259</c:v>
                </c:pt>
                <c:pt idx="1">
                  <c:v>199</c:v>
                </c:pt>
              </c:numCache>
            </c:numRef>
          </c:val>
          <c:extLst>
            <c:ext xmlns:c16="http://schemas.microsoft.com/office/drawing/2014/chart" uri="{C3380CC4-5D6E-409C-BE32-E72D297353CC}">
              <c16:uniqueId val="{00000004-95FA-4A8E-9344-BFF47443FF69}"/>
            </c:ext>
          </c:extLst>
        </c:ser>
        <c:dLbls>
          <c:showLegendKey val="0"/>
          <c:showVal val="0"/>
          <c:showCatName val="0"/>
          <c:showSerName val="0"/>
          <c:showPercent val="0"/>
          <c:showBubbleSize val="0"/>
          <c:showLeaderLines val="1"/>
        </c:dLbls>
        <c:firstSliceAng val="0"/>
      </c:pieChart>
      <c:spPr>
        <a:noFill/>
        <a:ln>
          <a:noFill/>
        </a:ln>
      </c:spPr>
    </c:plotArea>
    <c:legend>
      <c:legendPos val="b"/>
      <c:overlay val="0"/>
      <c:spPr>
        <a:noFill/>
        <a:ln>
          <a:noFill/>
        </a:ln>
      </c:spPr>
    </c:legend>
    <c:plotVisOnly val="1"/>
    <c:dispBlanksAs val="gap"/>
    <c:showDLblsOverMax val="0"/>
  </c:chart>
  <c:spPr>
    <a:solidFill>
      <a:srgbClr val="FFFFFF"/>
    </a:solid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lang="en-GB" sz="2400" b="0" i="0" u="none" strike="noStrike" kern="1200" baseline="0">
          <a:solidFill>
            <a:srgbClr val="000000"/>
          </a:solidFill>
          <a:latin typeface="TT Fors" panose="020B0604020202020204" charset="0"/>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a:defRPr/>
            </a:pPr>
            <a:r>
              <a:rPr lang="en-GB" dirty="0"/>
              <a:t>Pesticide Control</a:t>
            </a:r>
          </a:p>
        </c:rich>
      </c:tx>
      <c:overlay val="0"/>
      <c:spPr>
        <a:noFill/>
        <a:ln>
          <a:noFill/>
        </a:ln>
      </c:spPr>
    </c:title>
    <c:autoTitleDeleted val="0"/>
    <c:plotArea>
      <c:layout/>
      <c:barChart>
        <c:barDir val="col"/>
        <c:grouping val="clustered"/>
        <c:varyColors val="0"/>
        <c:ser>
          <c:idx val="0"/>
          <c:order val="0"/>
          <c:tx>
            <c:strRef>
              <c:f>'Q5'!$B$2</c:f>
              <c:strCache>
                <c:ptCount val="1"/>
                <c:pt idx="0">
                  <c:v>total_cases</c:v>
                </c:pt>
              </c:strCache>
            </c:strRef>
          </c:tx>
          <c:spPr>
            <a:solidFill>
              <a:schemeClr val="tx2"/>
            </a:solidFill>
            <a:ln>
              <a:noFill/>
            </a:ln>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'Q5'!$A$3:$A$4</c:f>
              <c:strCache>
                <c:ptCount val="2"/>
                <c:pt idx="0">
                  <c:v>FALSE </c:v>
                </c:pt>
                <c:pt idx="1">
                  <c:v>TRUE</c:v>
                </c:pt>
              </c:strCache>
            </c:strRef>
          </c:cat>
          <c:val>
            <c:numRef>
              <c:f>'Q5'!$B$3:$B$4</c:f>
              <c:numCache>
                <c:formatCode>General</c:formatCode>
                <c:ptCount val="2"/>
                <c:pt idx="0">
                  <c:v>257</c:v>
                </c:pt>
                <c:pt idx="1">
                  <c:v>201</c:v>
                </c:pt>
              </c:numCache>
            </c:numRef>
          </c:val>
          <c:extLst>
            <c:ext xmlns:c16="http://schemas.microsoft.com/office/drawing/2014/chart" uri="{C3380CC4-5D6E-409C-BE32-E72D297353CC}">
              <c16:uniqueId val="{00000000-7C37-40D3-94DF-CEFBE86E63C9}"/>
            </c:ext>
          </c:extLst>
        </c:ser>
        <c:dLbls>
          <c:dLblPos val="outEnd"/>
          <c:showLegendKey val="0"/>
          <c:showVal val="1"/>
          <c:showCatName val="0"/>
          <c:showSerName val="0"/>
          <c:showPercent val="0"/>
          <c:showBubbleSize val="0"/>
        </c:dLbls>
        <c:gapWidth val="219"/>
        <c:overlap val="-27"/>
        <c:axId val="1448297904"/>
        <c:axId val="1448295984"/>
      </c:barChart>
      <c:valAx>
        <c:axId val="1448295984"/>
        <c:scaling>
          <c:orientation val="minMax"/>
        </c:scaling>
        <c:delete val="0"/>
        <c:axPos val="l"/>
        <c:numFmt formatCode="General" sourceLinked="1"/>
        <c:majorTickMark val="none"/>
        <c:minorTickMark val="none"/>
        <c:tickLblPos val="nextTo"/>
        <c:spPr>
          <a:noFill/>
          <a:ln>
            <a:noFill/>
          </a:ln>
        </c:spPr>
        <c:crossAx val="1448297904"/>
        <c:crosses val="autoZero"/>
        <c:crossBetween val="between"/>
      </c:valAx>
      <c:catAx>
        <c:axId val="1448297904"/>
        <c:scaling>
          <c:orientation val="minMax"/>
        </c:scaling>
        <c:delete val="0"/>
        <c:axPos val="b"/>
        <c:numFmt formatCode="General" sourceLinked="1"/>
        <c:majorTickMark val="none"/>
        <c:minorTickMark val="none"/>
        <c:tickLblPos val="nextTo"/>
        <c:spPr>
          <a:noFill/>
          <a:ln w="9528" cap="flat">
            <a:solidFill>
              <a:srgbClr val="D9D9D9"/>
            </a:solidFill>
            <a:prstDash val="solid"/>
            <a:round/>
          </a:ln>
        </c:spPr>
        <c:crossAx val="1448295984"/>
        <c:crosses val="autoZero"/>
        <c:auto val="1"/>
        <c:lblAlgn val="ctr"/>
        <c:lblOffset val="100"/>
        <c:noMultiLvlLbl val="0"/>
      </c:catAx>
      <c:spPr>
        <a:noFill/>
        <a:ln>
          <a:noFill/>
        </a:ln>
      </c:spPr>
    </c:plotArea>
    <c:plotVisOnly val="1"/>
    <c:dispBlanksAs val="gap"/>
    <c:showDLblsOverMax val="0"/>
  </c:chart>
  <c:spPr>
    <a:solidFill>
      <a:srgbClr val="FFFFFF"/>
    </a:solid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lang="en-GB" sz="1800" b="1" i="0" u="none" strike="noStrike" kern="1200" baseline="0">
          <a:solidFill>
            <a:srgbClr val="000000"/>
          </a:solidFill>
          <a:latin typeface="TT Fors" panose="020B0604020202020204" charset="0"/>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r>
              <a:rPr lang="en-US"/>
              <a:t>RELATIONSHIP BETWEEN ALCOHOL, SMOKING &amp; CANCER</a:t>
            </a:r>
          </a:p>
        </c:rich>
      </c:tx>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lotArea>
      <c:layout/>
      <c:areaChart>
        <c:grouping val="stacked"/>
        <c:varyColors val="0"/>
        <c:ser>
          <c:idx val="0"/>
          <c:order val="0"/>
          <c:tx>
            <c:strRef>
              <c:f>NEW!$D$2</c:f>
              <c:strCache>
                <c:ptCount val="1"/>
                <c:pt idx="0">
                  <c:v>total_cases</c:v>
                </c:pt>
              </c:strCache>
            </c:strRef>
          </c:tx>
          <c:spPr>
            <a:gradFill>
              <a:gsLst>
                <a:gs pos="0">
                  <a:schemeClr val="lt1">
                    <a:alpha val="50000"/>
                  </a:schemeClr>
                </a:gs>
                <a:gs pos="100000">
                  <a:schemeClr val="lt1">
                    <a:alpha val="0"/>
                  </a:schemeClr>
                </a:gs>
              </a:gsLst>
              <a:lin ang="5400000" scaled="0"/>
            </a:gradFill>
            <a:ln>
              <a:solidFill>
                <a:schemeClr val="accent1"/>
              </a:solidFill>
            </a:ln>
            <a:effectLst>
              <a:innerShdw dist="38100" dir="16200000">
                <a:schemeClr val="lt1"/>
              </a:innerShdw>
            </a:effectLst>
          </c:spPr>
          <c:dLbls>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strRef>
              <c:f>NEW!$A$3:$C$6</c:f>
              <c:strCache>
                <c:ptCount val="4"/>
                <c:pt idx="0">
                  <c:v>Category 1</c:v>
                </c:pt>
                <c:pt idx="1">
                  <c:v>Category 2</c:v>
                </c:pt>
                <c:pt idx="2">
                  <c:v>Category 3</c:v>
                </c:pt>
                <c:pt idx="3">
                  <c:v>Category 4</c:v>
                </c:pt>
              </c:strCache>
            </c:strRef>
          </c:cat>
          <c:val>
            <c:numRef>
              <c:f>NEW!$D$3:$D$6</c:f>
              <c:numCache>
                <c:formatCode>General</c:formatCode>
                <c:ptCount val="4"/>
                <c:pt idx="0">
                  <c:v>26</c:v>
                </c:pt>
                <c:pt idx="1">
                  <c:v>303</c:v>
                </c:pt>
                <c:pt idx="2">
                  <c:v>98</c:v>
                </c:pt>
                <c:pt idx="3">
                  <c:v>31</c:v>
                </c:pt>
              </c:numCache>
            </c:numRef>
          </c:val>
          <c:extLst>
            <c:ext xmlns:c16="http://schemas.microsoft.com/office/drawing/2014/chart" uri="{C3380CC4-5D6E-409C-BE32-E72D297353CC}">
              <c16:uniqueId val="{00000000-BCC8-4951-B9B3-0FABCAD687AA}"/>
            </c:ext>
          </c:extLst>
        </c:ser>
        <c:dLbls>
          <c:showLegendKey val="0"/>
          <c:showVal val="1"/>
          <c:showCatName val="0"/>
          <c:showSerName val="0"/>
          <c:showPercent val="0"/>
          <c:showBubbleSize val="0"/>
        </c:dLbls>
        <c:dropLines>
          <c:spPr>
            <a:ln w="9525" cap="flat" cmpd="sng" algn="ctr">
              <a:gradFill>
                <a:gsLst>
                  <a:gs pos="0">
                    <a:schemeClr val="lt1"/>
                  </a:gs>
                  <a:gs pos="50000">
                    <a:schemeClr val="lt1">
                      <a:alpha val="0"/>
                    </a:schemeClr>
                  </a:gs>
                </a:gsLst>
                <a:lin ang="5400000" scaled="0"/>
              </a:gradFill>
              <a:round/>
            </a:ln>
            <a:effectLst/>
          </c:spPr>
        </c:dropLines>
        <c:axId val="458506431"/>
        <c:axId val="258159199"/>
      </c:areaChart>
      <c:catAx>
        <c:axId val="458506431"/>
        <c:scaling>
          <c:orientation val="minMax"/>
        </c:scaling>
        <c:delete val="0"/>
        <c:axPos val="b"/>
        <c:numFmt formatCode="General" sourceLinked="1"/>
        <c:majorTickMark val="none"/>
        <c:minorTickMark val="none"/>
        <c:tickLblPos val="nextTo"/>
        <c:spPr>
          <a:noFill/>
          <a:ln w="9525" cap="flat" cmpd="sng" algn="ctr">
            <a:solidFill>
              <a:schemeClr val="accent1">
                <a:lumMod val="40000"/>
                <a:lumOff val="60000"/>
                <a:alpha val="25000"/>
              </a:schemeClr>
            </a:solidFill>
            <a:round/>
          </a:ln>
          <a:effectLst/>
        </c:spPr>
        <c:txPr>
          <a:bodyPr rot="-60000000" spcFirstLastPara="1" vertOverflow="ellipsis" vert="horz" wrap="square" anchor="ctr" anchorCtr="1"/>
          <a:lstStyle/>
          <a:p>
            <a:pPr>
              <a:defRPr sz="2400" b="0" i="0" u="none" strike="noStrike" kern="1200" baseline="0">
                <a:solidFill>
                  <a:schemeClr val="lt1"/>
                </a:solidFill>
                <a:latin typeface="+mn-lt"/>
                <a:ea typeface="+mn-ea"/>
                <a:cs typeface="+mn-cs"/>
              </a:defRPr>
            </a:pPr>
            <a:endParaRPr lang="en-US"/>
          </a:p>
        </c:txPr>
        <c:crossAx val="258159199"/>
        <c:crosses val="autoZero"/>
        <c:auto val="1"/>
        <c:lblAlgn val="ctr"/>
        <c:lblOffset val="100"/>
        <c:noMultiLvlLbl val="0"/>
      </c:catAx>
      <c:valAx>
        <c:axId val="258159199"/>
        <c:scaling>
          <c:orientation val="minMax"/>
        </c:scaling>
        <c:delete val="1"/>
        <c:axPos val="l"/>
        <c:numFmt formatCode="General" sourceLinked="1"/>
        <c:majorTickMark val="out"/>
        <c:minorTickMark val="none"/>
        <c:tickLblPos val="nextTo"/>
        <c:crossAx val="458506431"/>
        <c:crosses val="autoZero"/>
        <c:crossBetween val="midCat"/>
      </c:valAx>
      <c:spPr>
        <a:noFill/>
        <a:ln>
          <a:noFill/>
        </a:ln>
        <a:effectLst/>
      </c:spPr>
    </c:plotArea>
    <c:plotVisOnly val="1"/>
    <c:dispBlanksAs val="zero"/>
    <c:showDLblsOverMax val="0"/>
  </c:chart>
  <c:spPr>
    <a:solidFill>
      <a:schemeClr val="tx2"/>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cap="all" spc="100" normalizeH="0" baseline="0">
                <a:solidFill>
                  <a:schemeClr val="lt1"/>
                </a:solidFill>
                <a:latin typeface="+mn-lt"/>
                <a:ea typeface="+mn-ea"/>
                <a:cs typeface="+mn-cs"/>
              </a:defRPr>
            </a:pPr>
            <a:r>
              <a:rPr lang="en-US" sz="2400" dirty="0"/>
              <a:t>ENVIRONMENTAL/DIAGNOSTIC RATE</a:t>
            </a:r>
          </a:p>
        </c:rich>
      </c:tx>
      <c:overlay val="0"/>
      <c:spPr>
        <a:noFill/>
        <a:ln>
          <a:noFill/>
        </a:ln>
        <a:effectLst/>
      </c:spPr>
      <c:txPr>
        <a:bodyPr rot="0" spcFirstLastPara="1" vertOverflow="ellipsis" vert="horz" wrap="square" anchor="ctr" anchorCtr="1"/>
        <a:lstStyle/>
        <a:p>
          <a:pPr>
            <a:defRPr sz="2400" b="1" i="0" u="none" strike="noStrike" kern="1200" cap="all" spc="100" normalizeH="0" baseline="0">
              <a:solidFill>
                <a:schemeClr val="lt1"/>
              </a:solidFill>
              <a:latin typeface="+mn-lt"/>
              <a:ea typeface="+mn-ea"/>
              <a:cs typeface="+mn-cs"/>
            </a:defRPr>
          </a:pPr>
          <a:endParaRPr lang="en-US"/>
        </a:p>
      </c:txPr>
    </c:title>
    <c:autoTitleDeleted val="0"/>
    <c:plotArea>
      <c:layout/>
      <c:areaChart>
        <c:grouping val="stacked"/>
        <c:varyColors val="0"/>
        <c:ser>
          <c:idx val="0"/>
          <c:order val="0"/>
          <c:tx>
            <c:strRef>
              <c:f>Sheet2!$D$1</c:f>
              <c:strCache>
                <c:ptCount val="1"/>
                <c:pt idx="0">
                  <c:v>total_cases</c:v>
                </c:pt>
              </c:strCache>
            </c:strRef>
          </c:tx>
          <c:spPr>
            <a:gradFill>
              <a:gsLst>
                <a:gs pos="0">
                  <a:schemeClr val="lt1">
                    <a:alpha val="50000"/>
                  </a:schemeClr>
                </a:gs>
                <a:gs pos="100000">
                  <a:schemeClr val="lt1">
                    <a:alpha val="0"/>
                  </a:schemeClr>
                </a:gs>
              </a:gsLst>
              <a:lin ang="5400000" scaled="0"/>
            </a:gradFill>
            <a:ln>
              <a:solidFill>
                <a:schemeClr val="accent1"/>
              </a:solidFill>
            </a:ln>
            <a:effectLst>
              <a:innerShdw dist="38100" dir="16200000">
                <a:schemeClr val="lt1"/>
              </a:innerShdw>
            </a:effectLst>
          </c:spPr>
          <c:dLbls>
            <c:dLbl>
              <c:idx val="4"/>
              <c:delete val="1"/>
              <c:extLst>
                <c:ext xmlns:c15="http://schemas.microsoft.com/office/drawing/2012/chart" uri="{CE6537A1-D6FC-4f65-9D91-7224C49458BB}"/>
                <c:ext xmlns:c16="http://schemas.microsoft.com/office/drawing/2014/chart" uri="{C3380CC4-5D6E-409C-BE32-E72D297353CC}">
                  <c16:uniqueId val="{00000000-6051-40CD-8C61-6DA86D252D13}"/>
                </c:ext>
              </c:extLst>
            </c:dLbl>
            <c:spPr>
              <a:noFill/>
              <a:ln>
                <a:noFill/>
              </a:ln>
              <a:effectLst/>
            </c:spPr>
            <c:txPr>
              <a:bodyPr rot="0" spcFirstLastPara="1" vertOverflow="ellipsis" vert="horz" wrap="square" lIns="38100" tIns="19050" rIns="38100" bIns="19050" anchor="ctr" anchorCtr="1">
                <a:spAutoFit/>
              </a:bodyPr>
              <a:lstStyle/>
              <a:p>
                <a:pPr>
                  <a:defRPr sz="28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strRef>
              <c:f>Sheet2!$A$2:$C$6</c:f>
              <c:strCache>
                <c:ptCount val="4"/>
                <c:pt idx="0">
                  <c:v>Category 1</c:v>
                </c:pt>
                <c:pt idx="1">
                  <c:v>Category 2</c:v>
                </c:pt>
                <c:pt idx="2">
                  <c:v>Category 3</c:v>
                </c:pt>
                <c:pt idx="3">
                  <c:v>Category 4</c:v>
                </c:pt>
              </c:strCache>
            </c:strRef>
          </c:cat>
          <c:val>
            <c:numRef>
              <c:f>Sheet2!$D$2:$D$6</c:f>
              <c:numCache>
                <c:formatCode>General</c:formatCode>
                <c:ptCount val="5"/>
                <c:pt idx="0">
                  <c:v>231</c:v>
                </c:pt>
                <c:pt idx="1">
                  <c:v>175</c:v>
                </c:pt>
                <c:pt idx="2">
                  <c:v>41</c:v>
                </c:pt>
                <c:pt idx="3">
                  <c:v>11</c:v>
                </c:pt>
              </c:numCache>
            </c:numRef>
          </c:val>
          <c:extLst>
            <c:ext xmlns:c16="http://schemas.microsoft.com/office/drawing/2014/chart" uri="{C3380CC4-5D6E-409C-BE32-E72D297353CC}">
              <c16:uniqueId val="{00000001-6051-40CD-8C61-6DA86D252D13}"/>
            </c:ext>
          </c:extLst>
        </c:ser>
        <c:dLbls>
          <c:showLegendKey val="0"/>
          <c:showVal val="1"/>
          <c:showCatName val="0"/>
          <c:showSerName val="0"/>
          <c:showPercent val="0"/>
          <c:showBubbleSize val="0"/>
        </c:dLbls>
        <c:dropLines>
          <c:spPr>
            <a:ln w="9525" cap="flat" cmpd="sng" algn="ctr">
              <a:gradFill>
                <a:gsLst>
                  <a:gs pos="0">
                    <a:schemeClr val="lt1"/>
                  </a:gs>
                  <a:gs pos="50000">
                    <a:schemeClr val="lt1">
                      <a:alpha val="0"/>
                    </a:schemeClr>
                  </a:gs>
                </a:gsLst>
                <a:lin ang="5400000" scaled="0"/>
              </a:gradFill>
              <a:round/>
            </a:ln>
            <a:effectLst/>
          </c:spPr>
        </c:dropLines>
        <c:axId val="533225759"/>
        <c:axId val="533225279"/>
      </c:areaChart>
      <c:catAx>
        <c:axId val="533225759"/>
        <c:scaling>
          <c:orientation val="minMax"/>
        </c:scaling>
        <c:delete val="0"/>
        <c:axPos val="b"/>
        <c:numFmt formatCode="General" sourceLinked="1"/>
        <c:majorTickMark val="none"/>
        <c:minorTickMark val="none"/>
        <c:tickLblPos val="nextTo"/>
        <c:spPr>
          <a:noFill/>
          <a:ln w="9525" cap="flat" cmpd="sng" algn="ctr">
            <a:solidFill>
              <a:schemeClr val="accent1">
                <a:lumMod val="40000"/>
                <a:lumOff val="60000"/>
                <a:alpha val="25000"/>
              </a:schemeClr>
            </a:solidFill>
            <a:round/>
          </a:ln>
          <a:effectLst/>
        </c:spPr>
        <c:txPr>
          <a:bodyPr rot="-60000000" spcFirstLastPara="1" vertOverflow="ellipsis" vert="horz" wrap="square" anchor="ctr" anchorCtr="1"/>
          <a:lstStyle/>
          <a:p>
            <a:pPr>
              <a:defRPr sz="2000" b="1" i="0" u="none" strike="noStrike" kern="1200" baseline="0">
                <a:solidFill>
                  <a:schemeClr val="lt1"/>
                </a:solidFill>
                <a:latin typeface="TT Fors" panose="020B0604020202020204" charset="0"/>
                <a:ea typeface="+mn-ea"/>
                <a:cs typeface="+mn-cs"/>
              </a:defRPr>
            </a:pPr>
            <a:endParaRPr lang="en-US"/>
          </a:p>
        </c:txPr>
        <c:crossAx val="533225279"/>
        <c:crosses val="autoZero"/>
        <c:auto val="1"/>
        <c:lblAlgn val="ctr"/>
        <c:lblOffset val="100"/>
        <c:noMultiLvlLbl val="0"/>
      </c:catAx>
      <c:valAx>
        <c:axId val="533225279"/>
        <c:scaling>
          <c:orientation val="minMax"/>
        </c:scaling>
        <c:delete val="1"/>
        <c:axPos val="l"/>
        <c:numFmt formatCode="General" sourceLinked="1"/>
        <c:majorTickMark val="out"/>
        <c:minorTickMark val="none"/>
        <c:tickLblPos val="nextTo"/>
        <c:crossAx val="533225759"/>
        <c:crosses val="autoZero"/>
        <c:crossBetween val="midCat"/>
      </c:valAx>
      <c:spPr>
        <a:noFill/>
        <a:ln>
          <a:noFill/>
        </a:ln>
        <a:effectLst/>
      </c:spPr>
    </c:plotArea>
    <c:plotVisOnly val="1"/>
    <c:dispBlanksAs val="zero"/>
    <c:showDLblsOverMax val="0"/>
  </c:chart>
  <c:spPr>
    <a:solidFill>
      <a:schemeClr val="tx2"/>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a:defRPr/>
            </a:pPr>
            <a:r>
              <a:rPr lang="en-GB"/>
              <a:t>Diagnostic Cases</a:t>
            </a:r>
          </a:p>
        </c:rich>
      </c:tx>
      <c:overlay val="0"/>
      <c:spPr>
        <a:noFill/>
        <a:ln>
          <a:noFill/>
        </a:ln>
      </c:spPr>
    </c:title>
    <c:autoTitleDeleted val="0"/>
    <c:plotArea>
      <c:layout/>
      <c:barChart>
        <c:barDir val="col"/>
        <c:grouping val="clustered"/>
        <c:varyColors val="0"/>
        <c:ser>
          <c:idx val="0"/>
          <c:order val="0"/>
          <c:tx>
            <c:strRef>
              <c:f>'Q8'!$B$1</c:f>
              <c:strCache>
                <c:ptCount val="1"/>
                <c:pt idx="0">
                  <c:v>total_cases</c:v>
                </c:pt>
              </c:strCache>
            </c:strRef>
          </c:tx>
          <c:spPr>
            <a:solidFill>
              <a:schemeClr val="tx2"/>
            </a:solidFill>
            <a:ln>
              <a:noFill/>
            </a:ln>
          </c:spPr>
          <c:invertIfNegative val="0"/>
          <c:dLbls>
            <c:spPr>
              <a:noFill/>
              <a:ln>
                <a:noFill/>
              </a:ln>
              <a:effectLst/>
            </c:spPr>
            <c:txPr>
              <a:bodyPr wrap="square" lIns="38100" tIns="19050" rIns="38100" bIns="19050" anchor="ctr">
                <a:spAutoFit/>
              </a:bodyPr>
              <a:lstStyle/>
              <a:p>
                <a:pPr>
                  <a:defRPr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'Q8'!$A$2:$A$7</c:f>
              <c:strCache>
                <c:ptCount val="6"/>
                <c:pt idx="0">
                  <c:v>ACK</c:v>
                </c:pt>
                <c:pt idx="1">
                  <c:v>BCC</c:v>
                </c:pt>
                <c:pt idx="2">
                  <c:v>NEV</c:v>
                </c:pt>
                <c:pt idx="3">
                  <c:v>SEK</c:v>
                </c:pt>
                <c:pt idx="4">
                  <c:v>SCC</c:v>
                </c:pt>
                <c:pt idx="5">
                  <c:v>MEL</c:v>
                </c:pt>
              </c:strCache>
            </c:strRef>
          </c:cat>
          <c:val>
            <c:numRef>
              <c:f>'Q8'!$B$2:$B$7</c:f>
              <c:numCache>
                <c:formatCode>General</c:formatCode>
                <c:ptCount val="6"/>
                <c:pt idx="0">
                  <c:v>461</c:v>
                </c:pt>
                <c:pt idx="1">
                  <c:v>273</c:v>
                </c:pt>
                <c:pt idx="2">
                  <c:v>144</c:v>
                </c:pt>
                <c:pt idx="3">
                  <c:v>137</c:v>
                </c:pt>
                <c:pt idx="4">
                  <c:v>56</c:v>
                </c:pt>
                <c:pt idx="5">
                  <c:v>17</c:v>
                </c:pt>
              </c:numCache>
            </c:numRef>
          </c:val>
          <c:extLst>
            <c:ext xmlns:c16="http://schemas.microsoft.com/office/drawing/2014/chart" uri="{C3380CC4-5D6E-409C-BE32-E72D297353CC}">
              <c16:uniqueId val="{00000000-7991-4614-A1EE-DB5EDFBAD22A}"/>
            </c:ext>
          </c:extLst>
        </c:ser>
        <c:ser>
          <c:idx val="1"/>
          <c:order val="1"/>
          <c:tx>
            <c:strRef>
              <c:f>'Q8'!$C$1</c:f>
              <c:strCache>
                <c:ptCount val="1"/>
                <c:pt idx="0">
                  <c:v>lesion_group</c:v>
                </c:pt>
              </c:strCache>
            </c:strRef>
          </c:tx>
          <c:spPr>
            <a:solidFill>
              <a:srgbClr val="E97132"/>
            </a:solidFill>
            <a:ln>
              <a:noFill/>
            </a:ln>
          </c:spPr>
          <c:invertIfNegative val="0"/>
          <c:cat>
            <c:strRef>
              <c:f>'Q8'!$A$2:$A$7</c:f>
              <c:strCache>
                <c:ptCount val="6"/>
                <c:pt idx="0">
                  <c:v>ACK</c:v>
                </c:pt>
                <c:pt idx="1">
                  <c:v>BCC</c:v>
                </c:pt>
                <c:pt idx="2">
                  <c:v>NEV</c:v>
                </c:pt>
                <c:pt idx="3">
                  <c:v>SEK</c:v>
                </c:pt>
                <c:pt idx="4">
                  <c:v>SCC</c:v>
                </c:pt>
                <c:pt idx="5">
                  <c:v>MEL</c:v>
                </c:pt>
              </c:strCache>
            </c:strRef>
          </c:cat>
          <c:val>
            <c:numRef>
              <c:f>'Q8'!$C$2:$C$7</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7991-4614-A1EE-DB5EDFBAD22A}"/>
            </c:ext>
          </c:extLst>
        </c:ser>
        <c:dLbls>
          <c:showLegendKey val="0"/>
          <c:showVal val="0"/>
          <c:showCatName val="0"/>
          <c:showSerName val="0"/>
          <c:showPercent val="0"/>
          <c:showBubbleSize val="0"/>
        </c:dLbls>
        <c:gapWidth val="219"/>
        <c:overlap val="-27"/>
        <c:axId val="1448317584"/>
        <c:axId val="1448319984"/>
      </c:barChart>
      <c:valAx>
        <c:axId val="1448319984"/>
        <c:scaling>
          <c:orientation val="minMax"/>
        </c:scaling>
        <c:delete val="1"/>
        <c:axPos val="l"/>
        <c:numFmt formatCode="General" sourceLinked="1"/>
        <c:majorTickMark val="none"/>
        <c:minorTickMark val="none"/>
        <c:tickLblPos val="nextTo"/>
        <c:crossAx val="1448317584"/>
        <c:crosses val="autoZero"/>
        <c:crossBetween val="between"/>
      </c:valAx>
      <c:catAx>
        <c:axId val="1448317584"/>
        <c:scaling>
          <c:orientation val="minMax"/>
        </c:scaling>
        <c:delete val="0"/>
        <c:axPos val="b"/>
        <c:numFmt formatCode="General" sourceLinked="1"/>
        <c:majorTickMark val="none"/>
        <c:minorTickMark val="none"/>
        <c:tickLblPos val="nextTo"/>
        <c:spPr>
          <a:noFill/>
          <a:ln w="9528" cap="flat">
            <a:solidFill>
              <a:srgbClr val="D9D9D9"/>
            </a:solidFill>
            <a:prstDash val="solid"/>
            <a:round/>
          </a:ln>
        </c:spPr>
        <c:txPr>
          <a:bodyPr/>
          <a:lstStyle/>
          <a:p>
            <a:pPr>
              <a:defRPr b="1"/>
            </a:pPr>
            <a:endParaRPr lang="en-US"/>
          </a:p>
        </c:txPr>
        <c:crossAx val="1448319984"/>
        <c:crosses val="autoZero"/>
        <c:auto val="1"/>
        <c:lblAlgn val="ctr"/>
        <c:lblOffset val="100"/>
        <c:noMultiLvlLbl val="0"/>
      </c:catAx>
      <c:spPr>
        <a:noFill/>
        <a:ln w="25400">
          <a:noFill/>
        </a:ln>
      </c:spPr>
    </c:plotArea>
    <c:plotVisOnly val="1"/>
    <c:dispBlanksAs val="gap"/>
    <c:showDLblsOverMax val="0"/>
  </c:chart>
  <c:spPr>
    <a:solidFill>
      <a:srgbClr val="FFFFFF"/>
    </a:solid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lang="en-GB" sz="2000" b="0" i="0" u="none" strike="noStrike" kern="1200" baseline="0">
          <a:solidFill>
            <a:schemeClr val="tx1"/>
          </a:solidFill>
          <a:latin typeface="TT Fors" panose="020B0604020202020204" charset="0"/>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a:defRPr/>
            </a:pPr>
            <a:r>
              <a:rPr lang="en-GB" dirty="0"/>
              <a:t>Lesion Status</a:t>
            </a:r>
          </a:p>
        </c:rich>
      </c:tx>
      <c:overlay val="0"/>
      <c:spPr>
        <a:noFill/>
        <a:ln>
          <a:noFill/>
        </a:ln>
      </c:spPr>
    </c:title>
    <c:autoTitleDeleted val="0"/>
    <c:plotArea>
      <c:layout/>
      <c:barChart>
        <c:barDir val="col"/>
        <c:grouping val="clustered"/>
        <c:varyColors val="0"/>
        <c:ser>
          <c:idx val="0"/>
          <c:order val="0"/>
          <c:tx>
            <c:strRef>
              <c:f>'Q9'!$A$3</c:f>
              <c:strCache>
                <c:ptCount val="1"/>
                <c:pt idx="0">
                  <c:v>Non-cancerous lesion</c:v>
                </c:pt>
              </c:strCache>
            </c:strRef>
          </c:tx>
          <c:spPr>
            <a:solidFill>
              <a:schemeClr val="tx2"/>
            </a:solidFill>
            <a:ln>
              <a:noFill/>
            </a:ln>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'Q9'!$B$2:$C$2</c:f>
              <c:strCache>
                <c:ptCount val="2"/>
                <c:pt idx="0">
                  <c:v>Average Diametre 1</c:v>
                </c:pt>
                <c:pt idx="1">
                  <c:v>Average Diametre 2</c:v>
                </c:pt>
              </c:strCache>
            </c:strRef>
          </c:cat>
          <c:val>
            <c:numRef>
              <c:f>'Q9'!$B$3:$C$3</c:f>
              <c:numCache>
                <c:formatCode>General</c:formatCode>
                <c:ptCount val="2"/>
                <c:pt idx="0">
                  <c:v>0.8</c:v>
                </c:pt>
                <c:pt idx="1">
                  <c:v>0.57999999999999996</c:v>
                </c:pt>
              </c:numCache>
            </c:numRef>
          </c:val>
          <c:extLst>
            <c:ext xmlns:c16="http://schemas.microsoft.com/office/drawing/2014/chart" uri="{C3380CC4-5D6E-409C-BE32-E72D297353CC}">
              <c16:uniqueId val="{00000000-C58C-4A22-B755-176FC9588E5C}"/>
            </c:ext>
          </c:extLst>
        </c:ser>
        <c:ser>
          <c:idx val="1"/>
          <c:order val="1"/>
          <c:tx>
            <c:strRef>
              <c:f>'Q9'!$A$4</c:f>
              <c:strCache>
                <c:ptCount val="1"/>
                <c:pt idx="0">
                  <c:v>Cancerous lesion</c:v>
                </c:pt>
              </c:strCache>
            </c:strRef>
          </c:tx>
          <c:spPr>
            <a:solidFill>
              <a:srgbClr val="E97132"/>
            </a:solidFill>
            <a:ln>
              <a:noFill/>
            </a:ln>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'Q9'!$B$2:$C$2</c:f>
              <c:strCache>
                <c:ptCount val="2"/>
                <c:pt idx="0">
                  <c:v>Average Diametre 1</c:v>
                </c:pt>
                <c:pt idx="1">
                  <c:v>Average Diametre 2</c:v>
                </c:pt>
              </c:strCache>
            </c:strRef>
          </c:cat>
          <c:val>
            <c:numRef>
              <c:f>'Q9'!$B$4:$C$4</c:f>
              <c:numCache>
                <c:formatCode>General</c:formatCode>
                <c:ptCount val="2"/>
                <c:pt idx="0">
                  <c:v>11.23</c:v>
                </c:pt>
                <c:pt idx="1">
                  <c:v>8.52</c:v>
                </c:pt>
              </c:numCache>
            </c:numRef>
          </c:val>
          <c:extLst>
            <c:ext xmlns:c16="http://schemas.microsoft.com/office/drawing/2014/chart" uri="{C3380CC4-5D6E-409C-BE32-E72D297353CC}">
              <c16:uniqueId val="{00000001-C58C-4A22-B755-176FC9588E5C}"/>
            </c:ext>
          </c:extLst>
        </c:ser>
        <c:dLbls>
          <c:showLegendKey val="0"/>
          <c:showVal val="0"/>
          <c:showCatName val="0"/>
          <c:showSerName val="0"/>
          <c:showPercent val="0"/>
          <c:showBubbleSize val="0"/>
        </c:dLbls>
        <c:gapWidth val="219"/>
        <c:overlap val="-27"/>
        <c:axId val="1448314224"/>
        <c:axId val="1448320464"/>
      </c:barChart>
      <c:valAx>
        <c:axId val="1448320464"/>
        <c:scaling>
          <c:orientation val="minMax"/>
        </c:scaling>
        <c:delete val="0"/>
        <c:axPos val="l"/>
        <c:numFmt formatCode="General" sourceLinked="1"/>
        <c:majorTickMark val="none"/>
        <c:minorTickMark val="none"/>
        <c:tickLblPos val="nextTo"/>
        <c:spPr>
          <a:noFill/>
          <a:ln>
            <a:noFill/>
          </a:ln>
        </c:spPr>
        <c:crossAx val="1448314224"/>
        <c:crosses val="autoZero"/>
        <c:crossBetween val="between"/>
      </c:valAx>
      <c:catAx>
        <c:axId val="1448314224"/>
        <c:scaling>
          <c:orientation val="minMax"/>
        </c:scaling>
        <c:delete val="0"/>
        <c:axPos val="b"/>
        <c:numFmt formatCode="General" sourceLinked="1"/>
        <c:majorTickMark val="none"/>
        <c:minorTickMark val="none"/>
        <c:tickLblPos val="nextTo"/>
        <c:spPr>
          <a:noFill/>
          <a:ln w="9528" cap="flat">
            <a:solidFill>
              <a:srgbClr val="D9D9D9"/>
            </a:solidFill>
            <a:prstDash val="solid"/>
            <a:round/>
          </a:ln>
        </c:spPr>
        <c:txPr>
          <a:bodyPr/>
          <a:lstStyle/>
          <a:p>
            <a:pPr>
              <a:defRPr sz="1800" b="1">
                <a:latin typeface="TT Fors" panose="020B0604020202020204" charset="0"/>
              </a:defRPr>
            </a:pPr>
            <a:endParaRPr lang="en-US"/>
          </a:p>
        </c:txPr>
        <c:crossAx val="1448320464"/>
        <c:crosses val="autoZero"/>
        <c:auto val="1"/>
        <c:lblAlgn val="ctr"/>
        <c:lblOffset val="100"/>
        <c:noMultiLvlLbl val="0"/>
      </c:catAx>
      <c:spPr>
        <a:noFill/>
        <a:ln>
          <a:noFill/>
        </a:ln>
      </c:spPr>
    </c:plotArea>
    <c:legend>
      <c:legendPos val="b"/>
      <c:overlay val="0"/>
      <c:spPr>
        <a:noFill/>
        <a:ln>
          <a:noFill/>
        </a:ln>
      </c:spPr>
    </c:legend>
    <c:plotVisOnly val="1"/>
    <c:dispBlanksAs val="gap"/>
    <c:showDLblsOverMax val="0"/>
  </c:chart>
  <c:spPr>
    <a:solidFill>
      <a:srgbClr val="FFFFFF"/>
    </a:solid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lang="en-GB" sz="1600" b="1" i="0" u="none" strike="noStrike" kern="1200" baseline="0">
          <a:solidFill>
            <a:srgbClr val="000000"/>
          </a:solidFill>
          <a:latin typeface="TT Fors" panose="020B0604020202020204" charset="0"/>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5">
  <cs:axisTitle>
    <cs:lnRef idx="0"/>
    <cs:fillRef idx="0"/>
    <cs:effectRef idx="0"/>
    <cs:fontRef idx="minor">
      <a:schemeClr val="lt1"/>
    </cs:fontRef>
    <cs:defRPr sz="1197" kern="1200"/>
  </cs:axisTitle>
  <cs:categoryAxis>
    <cs:lnRef idx="0">
      <cs:styleClr val="0"/>
    </cs:lnRef>
    <cs:fillRef idx="0"/>
    <cs:effectRef idx="0"/>
    <cs:fontRef idx="minor">
      <a:schemeClr val="lt1"/>
    </cs:fontRef>
    <cs:spPr>
      <a:ln w="9525" cap="flat" cmpd="sng" algn="ctr">
        <a:solidFill>
          <a:schemeClr val="phClr">
            <a:lumMod val="40000"/>
            <a:lumOff val="60000"/>
            <a:alpha val="25000"/>
          </a:schemeClr>
        </a:solidFill>
        <a:round/>
      </a:ln>
    </cs:spPr>
    <cs:defRPr sz="1197" kern="1200"/>
  </cs:categoryAxis>
  <cs:chartArea>
    <cs:lnRef idx="0">
      <cs:styleClr val="0"/>
    </cs:lnRef>
    <cs:fillRef idx="0">
      <cs:styleClr val="0"/>
    </cs:fillRef>
    <cs:effectRef idx="0"/>
    <cs:fontRef idx="minor">
      <a:schemeClr val="lt1"/>
    </cs:fontRef>
    <cs:spPr>
      <a:solidFill>
        <a:schemeClr val="phClr"/>
      </a:solidFill>
      <a:ln w="9525" cap="flat" cmpd="sng" algn="ctr">
        <a:solidFill>
          <a:schemeClr val="phClr"/>
        </a:solidFill>
        <a:round/>
      </a:ln>
    </cs:spPr>
    <cs:defRPr sz="1197"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tx1"/>
    </cs:fontRef>
    <cs:spPr>
      <a:gradFill>
        <a:gsLst>
          <a:gs pos="0">
            <a:schemeClr val="lt1">
              <a:alpha val="50000"/>
            </a:schemeClr>
          </a:gs>
          <a:gs pos="100000">
            <a:schemeClr val="lt1">
              <a:alpha val="0"/>
            </a:schemeClr>
          </a:gs>
        </a:gsLst>
        <a:lin ang="5400000" scaled="0"/>
      </a:gradFill>
      <a:ln>
        <a:solidFill>
          <a:schemeClr val="phClr"/>
        </a:solidFill>
      </a:ln>
      <a:effectLst>
        <a:innerShdw dist="38100" dir="16200000">
          <a:schemeClr val="lt1"/>
        </a:innerShdw>
      </a:effectLst>
    </cs:spPr>
  </cs:dataPoint>
  <cs:dataPoint3D>
    <cs:lnRef idx="0">
      <cs:styleClr val="auto"/>
    </cs:lnRef>
    <cs:fillRef idx="0"/>
    <cs:effectRef idx="0"/>
    <cs:fontRef idx="minor">
      <a:schemeClr val="lt1"/>
    </cs:fontRef>
    <cs:spPr>
      <a:gradFill>
        <a:gsLst>
          <a:gs pos="0">
            <a:schemeClr val="lt1">
              <a:alpha val="50000"/>
            </a:schemeClr>
          </a:gs>
          <a:gs pos="100000">
            <a:schemeClr val="lt1">
              <a:alpha val="0"/>
            </a:schemeClr>
          </a:gs>
        </a:gsLst>
        <a:lin ang="5400000" scaled="0"/>
      </a:gradFill>
      <a:ln>
        <a:solidFill>
          <a:schemeClr val="phClr"/>
        </a:solidFill>
      </a:ln>
      <a:effectLst>
        <a:innerShdw dist="38100" dir="16200000">
          <a:schemeClr val="lt1"/>
        </a:innerShdw>
      </a:effectLst>
    </cs:spPr>
  </cs:dataPoint3D>
  <cs:dataPointLine>
    <cs:lnRef idx="0">
      <cs:styleClr val="auto"/>
    </cs:lnRef>
    <cs:fillRef idx="0"/>
    <cs:effectRef idx="0">
      <cs:styleClr val="auto"/>
    </cs:effectRef>
    <cs:fontRef idx="minor">
      <a:schemeClr val="lt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lt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lt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40000"/>
            <a:lumOff val="60000"/>
            <a:alpha val="25000"/>
          </a:schemeClr>
        </a:solidFill>
      </a:ln>
    </cs:spPr>
    <cs:defRPr sz="1197" kern="1200"/>
  </cs:dataTable>
  <cs:downBar>
    <cs:lnRef idx="0">
      <cs:styleClr val="0"/>
    </cs:lnRef>
    <cs:fillRef idx="0"/>
    <cs:effectRef idx="0"/>
    <cs:fontRef idx="minor">
      <a:schemeClr val="lt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lt1"/>
    </cs:fontRef>
    <cs:spPr>
      <a:ln w="9525" cap="flat" cmpd="sng" algn="ctr">
        <a:gradFill>
          <a:gsLst>
            <a:gs pos="0">
              <a:schemeClr val="lt1"/>
            </a:gs>
            <a:gs pos="50000">
              <a:schemeClr val="lt1">
                <a:alpha val="0"/>
              </a:schemeClr>
            </a:gs>
          </a:gsLst>
          <a:lin ang="5400000" scaled="0"/>
        </a:gradFill>
        <a:round/>
      </a:ln>
    </cs:spPr>
  </cs:dropLine>
  <cs:errorBar>
    <cs:lnRef idx="0">
      <cs:styleClr val="0"/>
    </cs:lnRef>
    <cs:fillRef idx="0"/>
    <cs:effectRef idx="0"/>
    <cs:fontRef idx="minor">
      <a:schemeClr val="lt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lt1"/>
    </cs:fontRef>
  </cs:floor>
  <cs:gridlineMajor>
    <cs:lnRef idx="0">
      <cs:styleClr val="0"/>
    </cs:lnRef>
    <cs:fillRef idx="0"/>
    <cs:effectRef idx="0"/>
    <cs:fontRef idx="minor">
      <a:schemeClr val="lt1"/>
    </cs:fontRef>
    <cs:spPr>
      <a:ln>
        <a:solidFill>
          <a:schemeClr val="phClr">
            <a:lumMod val="40000"/>
            <a:lumOff val="60000"/>
            <a:alpha val="25000"/>
          </a:schemeClr>
        </a:solidFill>
      </a:ln>
    </cs:spPr>
  </cs:gridlineMajor>
  <cs:gridlineMinor>
    <cs:lnRef idx="0">
      <cs:styleClr val="0"/>
    </cs:lnRef>
    <cs:fillRef idx="0"/>
    <cs:effectRef idx="0"/>
    <cs:fontRef idx="minor">
      <a:schemeClr val="lt1"/>
    </cs:fontRef>
    <cs:spPr>
      <a:ln>
        <a:solidFill>
          <a:schemeClr val="phClr">
            <a:lumMod val="40000"/>
            <a:lumOff val="60000"/>
            <a:alpha val="25000"/>
          </a:schemeClr>
        </a:solidFill>
      </a:ln>
    </cs:spPr>
  </cs:gridlineMinor>
  <cs:hiLoLine>
    <cs:lnRef idx="0">
      <cs:styleClr val="0"/>
    </cs:lnRef>
    <cs:fillRef idx="0"/>
    <cs:effectRef idx="0"/>
    <cs:fontRef idx="minor">
      <a:schemeClr val="lt1"/>
    </cs:fontRef>
    <cs:spPr>
      <a:ln w="9525">
        <a:solidFill>
          <a:schemeClr val="phClr">
            <a:lumMod val="60000"/>
            <a:lumOff val="40000"/>
          </a:schemeClr>
        </a:solidFill>
      </a:ln>
    </cs:spPr>
  </cs:hiLoLine>
  <cs:leaderLine>
    <cs:lnRef idx="0">
      <cs:styleClr val="0"/>
    </cs:lnRef>
    <cs:fillRef idx="0"/>
    <cs:effectRef idx="0"/>
    <cs:fontRef idx="minor">
      <a:schemeClr val="lt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styleClr val="0"/>
    </cs:lnRef>
    <cs:fillRef idx="0"/>
    <cs:effectRef idx="0"/>
    <cs:fontRef idx="minor">
      <a:schemeClr val="lt1"/>
    </cs:fontRef>
    <cs:spPr>
      <a:ln w="9525" cap="flat" cmpd="sng" algn="ctr">
        <a:solidFill>
          <a:schemeClr val="phClr">
            <a:lumMod val="40000"/>
            <a:lumOff val="60000"/>
            <a:alpha val="25000"/>
          </a:schemeClr>
        </a:solidFill>
        <a:round/>
      </a:ln>
    </cs:spPr>
    <cs:defRPr sz="1197" kern="1200"/>
  </cs:seriesAxis>
  <cs:seriesLine>
    <cs:lnRef idx="0">
      <cs:styleClr val="0"/>
    </cs:lnRef>
    <cs:fillRef idx="0"/>
    <cs:effectRef idx="0"/>
    <cs:fontRef idx="minor">
      <a:schemeClr val="lt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lt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lt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bodyPr/>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85">
  <cs:axisTitle>
    <cs:lnRef idx="0"/>
    <cs:fillRef idx="0"/>
    <cs:effectRef idx="0"/>
    <cs:fontRef idx="minor">
      <a:schemeClr val="lt1"/>
    </cs:fontRef>
    <cs:defRPr sz="900" kern="1200"/>
  </cs:axisTitle>
  <cs:categoryAxis>
    <cs:lnRef idx="0">
      <cs:styleClr val="0"/>
    </cs:lnRef>
    <cs:fillRef idx="0"/>
    <cs:effectRef idx="0"/>
    <cs:fontRef idx="minor">
      <a:schemeClr val="lt1"/>
    </cs:fontRef>
    <cs:spPr>
      <a:ln w="9525" cap="flat" cmpd="sng" algn="ctr">
        <a:solidFill>
          <a:schemeClr val="phClr">
            <a:lumMod val="40000"/>
            <a:lumOff val="60000"/>
            <a:alpha val="25000"/>
          </a:schemeClr>
        </a:solidFill>
        <a:round/>
      </a:ln>
    </cs:spPr>
    <cs:defRPr sz="900" kern="1200"/>
  </cs:categoryAxis>
  <cs:chartArea>
    <cs:lnRef idx="0">
      <cs:styleClr val="0"/>
    </cs:lnRef>
    <cs:fillRef idx="0">
      <cs:styleClr val="0"/>
    </cs:fillRef>
    <cs:effectRef idx="0"/>
    <cs:fontRef idx="minor">
      <a:schemeClr val="lt1"/>
    </cs:fontRef>
    <cs:spPr>
      <a:solidFill>
        <a:schemeClr val="phClr"/>
      </a:solidFill>
      <a:ln w="9525" cap="flat" cmpd="sng" algn="ctr">
        <a:solidFill>
          <a:schemeClr val="phClr"/>
        </a:solidFill>
        <a:round/>
      </a:ln>
    </cs:spPr>
    <cs:defRPr sz="900" kern="1200"/>
  </cs:chartArea>
  <cs:dataLabel>
    <cs:lnRef idx="0"/>
    <cs:fillRef idx="0"/>
    <cs:effectRef idx="0"/>
    <cs:fontRef idx="minor">
      <a:schemeClr val="lt1"/>
    </cs:fontRef>
    <cs:defRPr sz="900" b="1"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tx1"/>
    </cs:fontRef>
    <cs:spPr>
      <a:gradFill>
        <a:gsLst>
          <a:gs pos="0">
            <a:schemeClr val="lt1">
              <a:alpha val="50000"/>
            </a:schemeClr>
          </a:gs>
          <a:gs pos="100000">
            <a:schemeClr val="lt1">
              <a:alpha val="0"/>
            </a:schemeClr>
          </a:gs>
        </a:gsLst>
        <a:lin ang="5400000" scaled="0"/>
      </a:gradFill>
      <a:ln>
        <a:solidFill>
          <a:schemeClr val="phClr"/>
        </a:solidFill>
      </a:ln>
      <a:effectLst>
        <a:innerShdw dist="38100" dir="16200000">
          <a:schemeClr val="lt1"/>
        </a:innerShdw>
      </a:effectLst>
    </cs:spPr>
  </cs:dataPoint>
  <cs:dataPoint3D>
    <cs:lnRef idx="0">
      <cs:styleClr val="auto"/>
    </cs:lnRef>
    <cs:fillRef idx="0"/>
    <cs:effectRef idx="0"/>
    <cs:fontRef idx="minor">
      <a:schemeClr val="lt1"/>
    </cs:fontRef>
    <cs:spPr>
      <a:gradFill>
        <a:gsLst>
          <a:gs pos="0">
            <a:schemeClr val="lt1">
              <a:alpha val="50000"/>
            </a:schemeClr>
          </a:gs>
          <a:gs pos="100000">
            <a:schemeClr val="lt1">
              <a:alpha val="0"/>
            </a:schemeClr>
          </a:gs>
        </a:gsLst>
        <a:lin ang="5400000" scaled="0"/>
      </a:gradFill>
      <a:ln>
        <a:solidFill>
          <a:schemeClr val="phClr"/>
        </a:solidFill>
      </a:ln>
      <a:effectLst>
        <a:innerShdw dist="38100" dir="16200000">
          <a:schemeClr val="lt1"/>
        </a:innerShdw>
      </a:effectLst>
    </cs:spPr>
  </cs:dataPoint3D>
  <cs:dataPointLine>
    <cs:lnRef idx="0">
      <cs:styleClr val="auto"/>
    </cs:lnRef>
    <cs:fillRef idx="0"/>
    <cs:effectRef idx="0">
      <cs:styleClr val="auto"/>
    </cs:effectRef>
    <cs:fontRef idx="minor">
      <a:schemeClr val="lt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lt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lt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40000"/>
            <a:lumOff val="60000"/>
            <a:alpha val="25000"/>
          </a:schemeClr>
        </a:solidFill>
      </a:ln>
    </cs:spPr>
    <cs:defRPr sz="900" kern="1200"/>
  </cs:dataTable>
  <cs:downBar>
    <cs:lnRef idx="0">
      <cs:styleClr val="0"/>
    </cs:lnRef>
    <cs:fillRef idx="0"/>
    <cs:effectRef idx="0"/>
    <cs:fontRef idx="minor">
      <a:schemeClr val="lt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lt1"/>
    </cs:fontRef>
    <cs:spPr>
      <a:ln w="9525" cap="flat" cmpd="sng" algn="ctr">
        <a:gradFill>
          <a:gsLst>
            <a:gs pos="0">
              <a:schemeClr val="lt1"/>
            </a:gs>
            <a:gs pos="50000">
              <a:schemeClr val="lt1">
                <a:alpha val="0"/>
              </a:schemeClr>
            </a:gs>
          </a:gsLst>
          <a:lin ang="5400000" scaled="0"/>
        </a:gradFill>
        <a:round/>
      </a:ln>
    </cs:spPr>
  </cs:dropLine>
  <cs:errorBar>
    <cs:lnRef idx="0">
      <cs:styleClr val="0"/>
    </cs:lnRef>
    <cs:fillRef idx="0"/>
    <cs:effectRef idx="0"/>
    <cs:fontRef idx="minor">
      <a:schemeClr val="lt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lt1"/>
    </cs:fontRef>
  </cs:floor>
  <cs:gridlineMajor>
    <cs:lnRef idx="0">
      <cs:styleClr val="0"/>
    </cs:lnRef>
    <cs:fillRef idx="0"/>
    <cs:effectRef idx="0"/>
    <cs:fontRef idx="minor">
      <a:schemeClr val="lt1"/>
    </cs:fontRef>
    <cs:spPr>
      <a:ln>
        <a:solidFill>
          <a:schemeClr val="phClr">
            <a:lumMod val="40000"/>
            <a:lumOff val="60000"/>
            <a:alpha val="25000"/>
          </a:schemeClr>
        </a:solidFill>
      </a:ln>
    </cs:spPr>
  </cs:gridlineMajor>
  <cs:gridlineMinor>
    <cs:lnRef idx="0">
      <cs:styleClr val="0"/>
    </cs:lnRef>
    <cs:fillRef idx="0"/>
    <cs:effectRef idx="0"/>
    <cs:fontRef idx="minor">
      <a:schemeClr val="lt1"/>
    </cs:fontRef>
    <cs:spPr>
      <a:ln>
        <a:solidFill>
          <a:schemeClr val="phClr">
            <a:lumMod val="40000"/>
            <a:lumOff val="60000"/>
            <a:alpha val="25000"/>
          </a:schemeClr>
        </a:solidFill>
      </a:ln>
    </cs:spPr>
  </cs:gridlineMinor>
  <cs:hiLoLine>
    <cs:lnRef idx="0">
      <cs:styleClr val="0"/>
    </cs:lnRef>
    <cs:fillRef idx="0"/>
    <cs:effectRef idx="0"/>
    <cs:fontRef idx="minor">
      <a:schemeClr val="lt1"/>
    </cs:fontRef>
    <cs:spPr>
      <a:ln w="9525">
        <a:solidFill>
          <a:schemeClr val="phClr">
            <a:lumMod val="60000"/>
            <a:lumOff val="40000"/>
          </a:schemeClr>
        </a:solidFill>
      </a:ln>
    </cs:spPr>
  </cs:hiLoLine>
  <cs:leaderLine>
    <cs:lnRef idx="0">
      <cs:styleClr val="0"/>
    </cs:lnRef>
    <cs:fillRef idx="0"/>
    <cs:effectRef idx="0"/>
    <cs:fontRef idx="minor">
      <a:schemeClr val="lt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styleClr val="0"/>
    </cs:lnRef>
    <cs:fillRef idx="0"/>
    <cs:effectRef idx="0"/>
    <cs:fontRef idx="minor">
      <a:schemeClr val="lt1"/>
    </cs:fontRef>
    <cs:spPr>
      <a:ln w="9525" cap="flat" cmpd="sng" algn="ctr">
        <a:solidFill>
          <a:schemeClr val="phClr">
            <a:lumMod val="40000"/>
            <a:lumOff val="60000"/>
            <a:alpha val="25000"/>
          </a:schemeClr>
        </a:solidFill>
        <a:round/>
      </a:ln>
    </cs:spPr>
    <cs:defRPr sz="900" kern="1200"/>
  </cs:seriesAxis>
  <cs:seriesLine>
    <cs:lnRef idx="0">
      <cs:styleClr val="0"/>
    </cs:lnRef>
    <cs:fillRef idx="0"/>
    <cs:effectRef idx="0"/>
    <cs:fontRef idx="minor">
      <a:schemeClr val="lt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lt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lt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bodyPr/>
  </cs:valueAxis>
  <cs:wall>
    <cs:lnRef idx="0"/>
    <cs:fillRef idx="0"/>
    <cs:effectRef idx="0"/>
    <cs:fontRef idx="minor">
      <a:schemeClr val="lt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2.svg"/><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26.sv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5" Type="http://schemas.openxmlformats.org/officeDocument/2006/relationships/image" Target="../media/image2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 Id="rId14"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2" name="Freeform 2"/>
          <p:cNvSpPr/>
          <p:nvPr/>
        </p:nvSpPr>
        <p:spPr>
          <a:xfrm>
            <a:off x="5321510" y="2231586"/>
            <a:ext cx="5855779" cy="5855779"/>
          </a:xfrm>
          <a:custGeom>
            <a:avLst/>
            <a:gdLst/>
            <a:ahLst/>
            <a:cxnLst/>
            <a:rect l="l" t="t" r="r" b="b"/>
            <a:pathLst>
              <a:path w="5855779" h="5855779">
                <a:moveTo>
                  <a:pt x="0" y="0"/>
                </a:moveTo>
                <a:lnTo>
                  <a:pt x="5855779" y="0"/>
                </a:lnTo>
                <a:lnTo>
                  <a:pt x="5855779" y="5855779"/>
                </a:lnTo>
                <a:lnTo>
                  <a:pt x="0" y="58557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3" name="Group 3"/>
          <p:cNvGrpSpPr/>
          <p:nvPr/>
        </p:nvGrpSpPr>
        <p:grpSpPr>
          <a:xfrm rot="5400000">
            <a:off x="-2742935" y="674860"/>
            <a:ext cx="12798869" cy="8937280"/>
            <a:chOff x="0" y="0"/>
            <a:chExt cx="660400" cy="461149"/>
          </a:xfrm>
        </p:grpSpPr>
        <p:sp>
          <p:nvSpPr>
            <p:cNvPr id="4" name="Freeform 4"/>
            <p:cNvSpPr/>
            <p:nvPr/>
          </p:nvSpPr>
          <p:spPr>
            <a:xfrm>
              <a:off x="0" y="0"/>
              <a:ext cx="660400" cy="461149"/>
            </a:xfrm>
            <a:custGeom>
              <a:avLst/>
              <a:gdLst/>
              <a:ahLst/>
              <a:cxnLst/>
              <a:rect l="l" t="t" r="r" b="b"/>
              <a:pathLst>
                <a:path w="660400" h="461149">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0691"/>
                  </a:cubicBezTo>
                  <a:lnTo>
                    <a:pt x="660400" y="461149"/>
                  </a:lnTo>
                  <a:lnTo>
                    <a:pt x="0" y="461149"/>
                  </a:lnTo>
                  <a:lnTo>
                    <a:pt x="0" y="320795"/>
                  </a:lnTo>
                  <a:cubicBezTo>
                    <a:pt x="1782" y="185660"/>
                    <a:pt x="93019" y="64045"/>
                    <a:pt x="220252" y="19070"/>
                  </a:cubicBezTo>
                  <a:close/>
                </a:path>
              </a:pathLst>
            </a:custGeom>
            <a:ln w="66675" cap="sq">
              <a:solidFill>
                <a:srgbClr val="BEC8DA"/>
              </a:solidFill>
              <a:prstDash val="solid"/>
              <a:miter/>
            </a:ln>
          </p:spPr>
          <p:txBody>
            <a:bodyPr/>
            <a:lstStyle/>
            <a:p>
              <a:endParaRPr lang="en-GB"/>
            </a:p>
          </p:txBody>
        </p:sp>
        <p:sp>
          <p:nvSpPr>
            <p:cNvPr id="5" name="TextBox 5"/>
            <p:cNvSpPr txBox="1"/>
            <p:nvPr/>
          </p:nvSpPr>
          <p:spPr>
            <a:xfrm>
              <a:off x="0" y="88900"/>
              <a:ext cx="660400" cy="372249"/>
            </a:xfrm>
            <a:prstGeom prst="rect">
              <a:avLst/>
            </a:prstGeom>
          </p:spPr>
          <p:txBody>
            <a:bodyPr lIns="50800" tIns="50800" rIns="50800" bIns="50800" rtlCol="0" anchor="ctr"/>
            <a:lstStyle/>
            <a:p>
              <a:pPr algn="ctr">
                <a:lnSpc>
                  <a:spcPts val="2940"/>
                </a:lnSpc>
              </a:pPr>
              <a:endParaRPr/>
            </a:p>
          </p:txBody>
        </p:sp>
      </p:grpSp>
      <p:grpSp>
        <p:nvGrpSpPr>
          <p:cNvPr id="6" name="Group 6"/>
          <p:cNvGrpSpPr/>
          <p:nvPr/>
        </p:nvGrpSpPr>
        <p:grpSpPr>
          <a:xfrm>
            <a:off x="5611076" y="2215609"/>
            <a:ext cx="5855779" cy="5855779"/>
            <a:chOff x="0" y="0"/>
            <a:chExt cx="812800" cy="812800"/>
          </a:xfrm>
          <a:solidFill>
            <a:schemeClr val="bg1"/>
          </a:solidFill>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pFill/>
          </p:spPr>
          <p:txBody>
            <a:bodyPr/>
            <a:lstStyle/>
            <a:p>
              <a:endParaRPr lang="en-GB"/>
            </a:p>
          </p:txBody>
        </p:sp>
        <p:sp>
          <p:nvSpPr>
            <p:cNvPr id="8" name="TextBox 8"/>
            <p:cNvSpPr txBox="1"/>
            <p:nvPr/>
          </p:nvSpPr>
          <p:spPr>
            <a:xfrm>
              <a:off x="76200" y="38100"/>
              <a:ext cx="660400" cy="698500"/>
            </a:xfrm>
            <a:prstGeom prst="rect">
              <a:avLst/>
            </a:prstGeom>
            <a:grpFill/>
          </p:spPr>
          <p:txBody>
            <a:bodyPr lIns="50800" tIns="50800" rIns="50800" bIns="50800" rtlCol="0" anchor="ctr"/>
            <a:lstStyle/>
            <a:p>
              <a:pPr algn="ctr">
                <a:lnSpc>
                  <a:spcPts val="2940"/>
                </a:lnSpc>
              </a:pPr>
              <a:endParaRPr/>
            </a:p>
          </p:txBody>
        </p:sp>
      </p:grpSp>
      <p:sp>
        <p:nvSpPr>
          <p:cNvPr id="34" name="TextBox 34"/>
          <p:cNvSpPr txBox="1"/>
          <p:nvPr/>
        </p:nvSpPr>
        <p:spPr>
          <a:xfrm>
            <a:off x="6360771" y="4193583"/>
            <a:ext cx="4757820" cy="1161215"/>
          </a:xfrm>
          <a:prstGeom prst="rect">
            <a:avLst/>
          </a:prstGeom>
        </p:spPr>
        <p:txBody>
          <a:bodyPr wrap="square" lIns="0" tIns="0" rIns="0" bIns="0" rtlCol="0" anchor="t">
            <a:spAutoFit/>
          </a:bodyPr>
          <a:lstStyle/>
          <a:p>
            <a:pPr algn="ctr">
              <a:lnSpc>
                <a:spcPts val="2940"/>
              </a:lnSpc>
              <a:spcBef>
                <a:spcPct val="0"/>
              </a:spcBef>
            </a:pPr>
            <a:r>
              <a:rPr lang="en-GB" sz="3600" b="1" dirty="0" err="1">
                <a:solidFill>
                  <a:srgbClr val="112F8D"/>
                </a:solidFill>
                <a:latin typeface="TT Fors Bold"/>
              </a:rPr>
              <a:t>DermAI</a:t>
            </a:r>
            <a:r>
              <a:rPr lang="en-GB" sz="3600" b="1" dirty="0">
                <a:solidFill>
                  <a:srgbClr val="112F8D"/>
                </a:solidFill>
                <a:latin typeface="TT Fors Bold"/>
              </a:rPr>
              <a:t> Diagnostics Skin Cancer Dataset</a:t>
            </a:r>
            <a:endParaRPr lang="en-US" sz="3600" b="1" dirty="0">
              <a:solidFill>
                <a:srgbClr val="112F8D"/>
              </a:solidFill>
              <a:latin typeface="TT Fors Bold"/>
              <a:sym typeface="TT Fors"/>
            </a:endParaRPr>
          </a:p>
        </p:txBody>
      </p:sp>
      <p:sp>
        <p:nvSpPr>
          <p:cNvPr id="9" name="Oval 8">
            <a:extLst>
              <a:ext uri="{FF2B5EF4-FFF2-40B4-BE49-F238E27FC236}">
                <a16:creationId xmlns:a16="http://schemas.microsoft.com/office/drawing/2014/main" id="{FDE8F2C4-634B-CDEA-0591-7F00E2317E57}"/>
              </a:ext>
            </a:extLst>
          </p:cNvPr>
          <p:cNvSpPr/>
          <p:nvPr/>
        </p:nvSpPr>
        <p:spPr>
          <a:xfrm>
            <a:off x="12420600" y="293370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E4E04DD1-E957-9E57-D7B8-68FDED48FCD2}"/>
              </a:ext>
            </a:extLst>
          </p:cNvPr>
          <p:cNvSpPr/>
          <p:nvPr/>
        </p:nvSpPr>
        <p:spPr>
          <a:xfrm>
            <a:off x="12786360" y="34823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3C9B5BCE-167C-7E0A-6990-29F70E0FB95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3EB2847-4BF5-8FAA-35F5-50B6893E959F}"/>
              </a:ext>
            </a:extLst>
          </p:cNvPr>
          <p:cNvSpPr/>
          <p:nvPr/>
        </p:nvSpPr>
        <p:spPr>
          <a:xfrm>
            <a:off x="728610" y="2598370"/>
            <a:ext cx="5855779" cy="5855779"/>
          </a:xfrm>
          <a:custGeom>
            <a:avLst/>
            <a:gdLst/>
            <a:ahLst/>
            <a:cxnLst/>
            <a:rect l="l" t="t" r="r" b="b"/>
            <a:pathLst>
              <a:path w="5855779" h="5855779">
                <a:moveTo>
                  <a:pt x="0" y="0"/>
                </a:moveTo>
                <a:lnTo>
                  <a:pt x="5855779" y="0"/>
                </a:lnTo>
                <a:lnTo>
                  <a:pt x="5855779" y="5855779"/>
                </a:lnTo>
                <a:lnTo>
                  <a:pt x="0" y="58557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3" name="Group 3">
            <a:extLst>
              <a:ext uri="{FF2B5EF4-FFF2-40B4-BE49-F238E27FC236}">
                <a16:creationId xmlns:a16="http://schemas.microsoft.com/office/drawing/2014/main" id="{3CEA9ABC-5B5C-3402-EF4F-3D115A49558C}"/>
              </a:ext>
            </a:extLst>
          </p:cNvPr>
          <p:cNvGrpSpPr/>
          <p:nvPr/>
        </p:nvGrpSpPr>
        <p:grpSpPr>
          <a:xfrm rot="5400000">
            <a:off x="-2742935" y="674860"/>
            <a:ext cx="12798869" cy="8937280"/>
            <a:chOff x="0" y="0"/>
            <a:chExt cx="660400" cy="461149"/>
          </a:xfrm>
        </p:grpSpPr>
        <p:sp>
          <p:nvSpPr>
            <p:cNvPr id="4" name="Freeform 4">
              <a:extLst>
                <a:ext uri="{FF2B5EF4-FFF2-40B4-BE49-F238E27FC236}">
                  <a16:creationId xmlns:a16="http://schemas.microsoft.com/office/drawing/2014/main" id="{C530772C-0B97-722E-AEC7-E55C71E5CAA6}"/>
                </a:ext>
              </a:extLst>
            </p:cNvPr>
            <p:cNvSpPr/>
            <p:nvPr/>
          </p:nvSpPr>
          <p:spPr>
            <a:xfrm>
              <a:off x="0" y="0"/>
              <a:ext cx="660400" cy="461149"/>
            </a:xfrm>
            <a:custGeom>
              <a:avLst/>
              <a:gdLst/>
              <a:ahLst/>
              <a:cxnLst/>
              <a:rect l="l" t="t" r="r" b="b"/>
              <a:pathLst>
                <a:path w="660400" h="461149">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0691"/>
                  </a:cubicBezTo>
                  <a:lnTo>
                    <a:pt x="660400" y="461149"/>
                  </a:lnTo>
                  <a:lnTo>
                    <a:pt x="0" y="461149"/>
                  </a:lnTo>
                  <a:lnTo>
                    <a:pt x="0" y="320795"/>
                  </a:lnTo>
                  <a:cubicBezTo>
                    <a:pt x="1782" y="185660"/>
                    <a:pt x="93019" y="64045"/>
                    <a:pt x="220252" y="19070"/>
                  </a:cubicBezTo>
                  <a:close/>
                </a:path>
              </a:pathLst>
            </a:custGeom>
            <a:ln w="66675" cap="sq">
              <a:solidFill>
                <a:srgbClr val="BEC8DA"/>
              </a:solidFill>
              <a:prstDash val="solid"/>
              <a:miter/>
            </a:ln>
          </p:spPr>
          <p:txBody>
            <a:bodyPr/>
            <a:lstStyle/>
            <a:p>
              <a:endParaRPr lang="en-GB"/>
            </a:p>
          </p:txBody>
        </p:sp>
        <p:sp>
          <p:nvSpPr>
            <p:cNvPr id="5" name="TextBox 5">
              <a:extLst>
                <a:ext uri="{FF2B5EF4-FFF2-40B4-BE49-F238E27FC236}">
                  <a16:creationId xmlns:a16="http://schemas.microsoft.com/office/drawing/2014/main" id="{4351C601-44E8-9F09-3AAD-7668CFDC6E69}"/>
                </a:ext>
              </a:extLst>
            </p:cNvPr>
            <p:cNvSpPr txBox="1"/>
            <p:nvPr/>
          </p:nvSpPr>
          <p:spPr>
            <a:xfrm>
              <a:off x="0" y="88900"/>
              <a:ext cx="660400" cy="372249"/>
            </a:xfrm>
            <a:prstGeom prst="rect">
              <a:avLst/>
            </a:prstGeom>
          </p:spPr>
          <p:txBody>
            <a:bodyPr lIns="50800" tIns="50800" rIns="50800" bIns="50800" rtlCol="0" anchor="ctr"/>
            <a:lstStyle/>
            <a:p>
              <a:pPr algn="ctr">
                <a:lnSpc>
                  <a:spcPts val="2940"/>
                </a:lnSpc>
              </a:pPr>
              <a:endParaRPr/>
            </a:p>
          </p:txBody>
        </p:sp>
      </p:grpSp>
      <p:sp>
        <p:nvSpPr>
          <p:cNvPr id="9" name="Freeform 9">
            <a:extLst>
              <a:ext uri="{FF2B5EF4-FFF2-40B4-BE49-F238E27FC236}">
                <a16:creationId xmlns:a16="http://schemas.microsoft.com/office/drawing/2014/main" id="{2C6044CD-BCF5-D66C-A041-B90D44970D81}"/>
              </a:ext>
            </a:extLst>
          </p:cNvPr>
          <p:cNvSpPr/>
          <p:nvPr/>
        </p:nvSpPr>
        <p:spPr>
          <a:xfrm>
            <a:off x="7159943" y="2573406"/>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10" name="Group 10">
            <a:extLst>
              <a:ext uri="{FF2B5EF4-FFF2-40B4-BE49-F238E27FC236}">
                <a16:creationId xmlns:a16="http://schemas.microsoft.com/office/drawing/2014/main" id="{D704A86E-3619-3E80-205C-D36FB2B5D484}"/>
              </a:ext>
            </a:extLst>
          </p:cNvPr>
          <p:cNvGrpSpPr/>
          <p:nvPr/>
        </p:nvGrpSpPr>
        <p:grpSpPr>
          <a:xfrm>
            <a:off x="7243628" y="2692555"/>
            <a:ext cx="1216244" cy="1216244"/>
            <a:chOff x="0" y="0"/>
            <a:chExt cx="812800" cy="812800"/>
          </a:xfrm>
        </p:grpSpPr>
        <p:sp>
          <p:nvSpPr>
            <p:cNvPr id="11" name="Freeform 11">
              <a:extLst>
                <a:ext uri="{FF2B5EF4-FFF2-40B4-BE49-F238E27FC236}">
                  <a16:creationId xmlns:a16="http://schemas.microsoft.com/office/drawing/2014/main" id="{1628908E-5644-8E65-68FF-551C11F0823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359"/>
            </a:solidFill>
          </p:spPr>
          <p:txBody>
            <a:bodyPr/>
            <a:lstStyle/>
            <a:p>
              <a:endParaRPr lang="en-GB"/>
            </a:p>
          </p:txBody>
        </p:sp>
        <p:sp>
          <p:nvSpPr>
            <p:cNvPr id="12" name="TextBox 12">
              <a:extLst>
                <a:ext uri="{FF2B5EF4-FFF2-40B4-BE49-F238E27FC236}">
                  <a16:creationId xmlns:a16="http://schemas.microsoft.com/office/drawing/2014/main" id="{111FFD06-4772-98CB-4D07-CD54F57BF169}"/>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7" name="Freeform 17">
            <a:extLst>
              <a:ext uri="{FF2B5EF4-FFF2-40B4-BE49-F238E27FC236}">
                <a16:creationId xmlns:a16="http://schemas.microsoft.com/office/drawing/2014/main" id="{942B0042-298F-558B-4055-38FB9B161635}"/>
              </a:ext>
            </a:extLst>
          </p:cNvPr>
          <p:cNvSpPr/>
          <p:nvPr/>
        </p:nvSpPr>
        <p:spPr>
          <a:xfrm>
            <a:off x="7433695" y="4197779"/>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18" name="Group 18">
            <a:extLst>
              <a:ext uri="{FF2B5EF4-FFF2-40B4-BE49-F238E27FC236}">
                <a16:creationId xmlns:a16="http://schemas.microsoft.com/office/drawing/2014/main" id="{E8F5878C-C937-A45B-2803-ACAEBFC6AEE1}"/>
              </a:ext>
            </a:extLst>
          </p:cNvPr>
          <p:cNvGrpSpPr/>
          <p:nvPr/>
        </p:nvGrpSpPr>
        <p:grpSpPr>
          <a:xfrm>
            <a:off x="7448451" y="4197779"/>
            <a:ext cx="1216244" cy="1216244"/>
            <a:chOff x="0" y="0"/>
            <a:chExt cx="812800" cy="812800"/>
          </a:xfrm>
        </p:grpSpPr>
        <p:sp>
          <p:nvSpPr>
            <p:cNvPr id="19" name="Freeform 19">
              <a:extLst>
                <a:ext uri="{FF2B5EF4-FFF2-40B4-BE49-F238E27FC236}">
                  <a16:creationId xmlns:a16="http://schemas.microsoft.com/office/drawing/2014/main" id="{C613C529-0A19-3D76-9C46-AECD7CCCCB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D6298"/>
            </a:solidFill>
          </p:spPr>
          <p:txBody>
            <a:bodyPr/>
            <a:lstStyle/>
            <a:p>
              <a:endParaRPr lang="en-GB"/>
            </a:p>
          </p:txBody>
        </p:sp>
        <p:sp>
          <p:nvSpPr>
            <p:cNvPr id="20" name="TextBox 20">
              <a:extLst>
                <a:ext uri="{FF2B5EF4-FFF2-40B4-BE49-F238E27FC236}">
                  <a16:creationId xmlns:a16="http://schemas.microsoft.com/office/drawing/2014/main" id="{3B3B04F4-AE7E-4717-FE56-2AEEE52929AB}"/>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25" name="Freeform 25">
            <a:extLst>
              <a:ext uri="{FF2B5EF4-FFF2-40B4-BE49-F238E27FC236}">
                <a16:creationId xmlns:a16="http://schemas.microsoft.com/office/drawing/2014/main" id="{372D3ACD-BB15-E2E9-098F-183D5A71B185}"/>
              </a:ext>
            </a:extLst>
          </p:cNvPr>
          <p:cNvSpPr/>
          <p:nvPr/>
        </p:nvSpPr>
        <p:spPr>
          <a:xfrm>
            <a:off x="7366365" y="5901501"/>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6" name="Group 26">
            <a:extLst>
              <a:ext uri="{FF2B5EF4-FFF2-40B4-BE49-F238E27FC236}">
                <a16:creationId xmlns:a16="http://schemas.microsoft.com/office/drawing/2014/main" id="{D7020D0A-9B60-BF3B-388F-630FA97E9E8F}"/>
              </a:ext>
            </a:extLst>
          </p:cNvPr>
          <p:cNvGrpSpPr/>
          <p:nvPr/>
        </p:nvGrpSpPr>
        <p:grpSpPr>
          <a:xfrm>
            <a:off x="7361186" y="5913903"/>
            <a:ext cx="1216244" cy="1216244"/>
            <a:chOff x="0" y="0"/>
            <a:chExt cx="812800" cy="812800"/>
          </a:xfrm>
        </p:grpSpPr>
        <p:sp>
          <p:nvSpPr>
            <p:cNvPr id="27" name="Freeform 27">
              <a:extLst>
                <a:ext uri="{FF2B5EF4-FFF2-40B4-BE49-F238E27FC236}">
                  <a16:creationId xmlns:a16="http://schemas.microsoft.com/office/drawing/2014/main" id="{8A4B1CBA-3C56-E3D1-E260-B5ADA556AB0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EC8DA"/>
            </a:solidFill>
          </p:spPr>
          <p:txBody>
            <a:bodyPr/>
            <a:lstStyle/>
            <a:p>
              <a:endParaRPr lang="en-GB"/>
            </a:p>
          </p:txBody>
        </p:sp>
        <p:sp>
          <p:nvSpPr>
            <p:cNvPr id="28" name="TextBox 28">
              <a:extLst>
                <a:ext uri="{FF2B5EF4-FFF2-40B4-BE49-F238E27FC236}">
                  <a16:creationId xmlns:a16="http://schemas.microsoft.com/office/drawing/2014/main" id="{488C6BE1-DB79-FE91-DE3E-B50F8CDD319F}"/>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29" name="Freeform 29">
            <a:extLst>
              <a:ext uri="{FF2B5EF4-FFF2-40B4-BE49-F238E27FC236}">
                <a16:creationId xmlns:a16="http://schemas.microsoft.com/office/drawing/2014/main" id="{AA43CA99-BA5F-F9CF-9A15-8A65CF435C13}"/>
              </a:ext>
            </a:extLst>
          </p:cNvPr>
          <p:cNvSpPr/>
          <p:nvPr/>
        </p:nvSpPr>
        <p:spPr>
          <a:xfrm>
            <a:off x="7654999" y="3055017"/>
            <a:ext cx="431374" cy="517391"/>
          </a:xfrm>
          <a:custGeom>
            <a:avLst/>
            <a:gdLst/>
            <a:ahLst/>
            <a:cxnLst/>
            <a:rect l="l" t="t" r="r" b="b"/>
            <a:pathLst>
              <a:path w="431374" h="517391">
                <a:moveTo>
                  <a:pt x="0" y="0"/>
                </a:moveTo>
                <a:lnTo>
                  <a:pt x="431374" y="0"/>
                </a:lnTo>
                <a:lnTo>
                  <a:pt x="431374" y="517391"/>
                </a:lnTo>
                <a:lnTo>
                  <a:pt x="0" y="5173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2" name="Freeform 32">
            <a:extLst>
              <a:ext uri="{FF2B5EF4-FFF2-40B4-BE49-F238E27FC236}">
                <a16:creationId xmlns:a16="http://schemas.microsoft.com/office/drawing/2014/main" id="{A726F296-E2D7-9434-CFF4-319F0241A8CC}"/>
              </a:ext>
            </a:extLst>
          </p:cNvPr>
          <p:cNvSpPr/>
          <p:nvPr/>
        </p:nvSpPr>
        <p:spPr>
          <a:xfrm>
            <a:off x="7786318" y="4490329"/>
            <a:ext cx="600110" cy="600110"/>
          </a:xfrm>
          <a:custGeom>
            <a:avLst/>
            <a:gdLst/>
            <a:ahLst/>
            <a:cxnLst/>
            <a:rect l="l" t="t" r="r" b="b"/>
            <a:pathLst>
              <a:path w="600110" h="600110">
                <a:moveTo>
                  <a:pt x="0" y="0"/>
                </a:moveTo>
                <a:lnTo>
                  <a:pt x="600110" y="0"/>
                </a:lnTo>
                <a:lnTo>
                  <a:pt x="600110" y="600111"/>
                </a:lnTo>
                <a:lnTo>
                  <a:pt x="0" y="6001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33" name="Freeform 33">
            <a:extLst>
              <a:ext uri="{FF2B5EF4-FFF2-40B4-BE49-F238E27FC236}">
                <a16:creationId xmlns:a16="http://schemas.microsoft.com/office/drawing/2014/main" id="{2B509068-3719-6D03-6338-304C45D83E2E}"/>
              </a:ext>
            </a:extLst>
          </p:cNvPr>
          <p:cNvSpPr/>
          <p:nvPr/>
        </p:nvSpPr>
        <p:spPr>
          <a:xfrm>
            <a:off x="7701926" y="6252034"/>
            <a:ext cx="520857" cy="543267"/>
          </a:xfrm>
          <a:custGeom>
            <a:avLst/>
            <a:gdLst/>
            <a:ahLst/>
            <a:cxnLst/>
            <a:rect l="l" t="t" r="r" b="b"/>
            <a:pathLst>
              <a:path w="520857" h="543267">
                <a:moveTo>
                  <a:pt x="0" y="0"/>
                </a:moveTo>
                <a:lnTo>
                  <a:pt x="520858" y="0"/>
                </a:lnTo>
                <a:lnTo>
                  <a:pt x="520858" y="543267"/>
                </a:lnTo>
                <a:lnTo>
                  <a:pt x="0" y="54326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36" name="TextBox 36">
            <a:extLst>
              <a:ext uri="{FF2B5EF4-FFF2-40B4-BE49-F238E27FC236}">
                <a16:creationId xmlns:a16="http://schemas.microsoft.com/office/drawing/2014/main" id="{33E92A22-3462-F923-A3AE-5E9C5AFD872F}"/>
              </a:ext>
            </a:extLst>
          </p:cNvPr>
          <p:cNvSpPr txBox="1"/>
          <p:nvPr/>
        </p:nvSpPr>
        <p:spPr>
          <a:xfrm>
            <a:off x="8125139" y="2900983"/>
            <a:ext cx="1409248" cy="717589"/>
          </a:xfrm>
          <a:prstGeom prst="rect">
            <a:avLst/>
          </a:prstGeom>
        </p:spPr>
        <p:txBody>
          <a:bodyPr lIns="0" tIns="0" rIns="0" bIns="0" rtlCol="0" anchor="t">
            <a:spAutoFit/>
          </a:bodyPr>
          <a:lstStyle/>
          <a:p>
            <a:pPr algn="r">
              <a:lnSpc>
                <a:spcPts val="5600"/>
              </a:lnSpc>
            </a:pPr>
            <a:r>
              <a:rPr lang="en-US" sz="5000" b="1" dirty="0">
                <a:solidFill>
                  <a:srgbClr val="122359"/>
                </a:solidFill>
                <a:latin typeface="TT Fors Bold"/>
                <a:ea typeface="TT Fors Bold"/>
                <a:cs typeface="TT Fors Bold"/>
                <a:sym typeface="TT Fors Bold"/>
              </a:rPr>
              <a:t>01</a:t>
            </a:r>
          </a:p>
        </p:txBody>
      </p:sp>
      <p:sp>
        <p:nvSpPr>
          <p:cNvPr id="38" name="TextBox 38">
            <a:extLst>
              <a:ext uri="{FF2B5EF4-FFF2-40B4-BE49-F238E27FC236}">
                <a16:creationId xmlns:a16="http://schemas.microsoft.com/office/drawing/2014/main" id="{B3956F97-4230-00D3-13CE-156A11B5567E}"/>
              </a:ext>
            </a:extLst>
          </p:cNvPr>
          <p:cNvSpPr txBox="1"/>
          <p:nvPr/>
        </p:nvSpPr>
        <p:spPr>
          <a:xfrm>
            <a:off x="8269822" y="4552556"/>
            <a:ext cx="1409248" cy="717589"/>
          </a:xfrm>
          <a:prstGeom prst="rect">
            <a:avLst/>
          </a:prstGeom>
        </p:spPr>
        <p:txBody>
          <a:bodyPr lIns="0" tIns="0" rIns="0" bIns="0" rtlCol="0" anchor="t">
            <a:spAutoFit/>
          </a:bodyPr>
          <a:lstStyle/>
          <a:p>
            <a:pPr algn="r">
              <a:lnSpc>
                <a:spcPts val="5600"/>
              </a:lnSpc>
            </a:pPr>
            <a:r>
              <a:rPr lang="en-US" sz="5000" b="1" dirty="0">
                <a:solidFill>
                  <a:srgbClr val="122359"/>
                </a:solidFill>
                <a:latin typeface="TT Fors Bold"/>
                <a:ea typeface="TT Fors Bold"/>
                <a:cs typeface="TT Fors Bold"/>
                <a:sym typeface="TT Fors Bold"/>
              </a:rPr>
              <a:t>02</a:t>
            </a:r>
          </a:p>
        </p:txBody>
      </p:sp>
      <p:pic>
        <p:nvPicPr>
          <p:cNvPr id="13" name="Picture 12">
            <a:extLst>
              <a:ext uri="{FF2B5EF4-FFF2-40B4-BE49-F238E27FC236}">
                <a16:creationId xmlns:a16="http://schemas.microsoft.com/office/drawing/2014/main" id="{C9254E7E-D138-CEAA-F403-3C266AA67D10}"/>
              </a:ext>
            </a:extLst>
          </p:cNvPr>
          <p:cNvPicPr>
            <a:picLocks noChangeAspect="1"/>
          </p:cNvPicPr>
          <p:nvPr/>
        </p:nvPicPr>
        <p:blipFill>
          <a:blip r:embed="rId10"/>
          <a:stretch>
            <a:fillRect/>
          </a:stretch>
        </p:blipFill>
        <p:spPr>
          <a:xfrm>
            <a:off x="1049456" y="2749566"/>
            <a:ext cx="5352762" cy="4239727"/>
          </a:xfrm>
          <a:prstGeom prst="rect">
            <a:avLst/>
          </a:prstGeom>
          <a:ln>
            <a:noFill/>
          </a:ln>
          <a:effectLst>
            <a:softEdge rad="112500"/>
          </a:effectLst>
        </p:spPr>
      </p:pic>
      <p:sp>
        <p:nvSpPr>
          <p:cNvPr id="14" name="TextBox 48">
            <a:extLst>
              <a:ext uri="{FF2B5EF4-FFF2-40B4-BE49-F238E27FC236}">
                <a16:creationId xmlns:a16="http://schemas.microsoft.com/office/drawing/2014/main" id="{C10FFC53-56CD-6B7A-B4B4-10CE5B6F66B5}"/>
              </a:ext>
            </a:extLst>
          </p:cNvPr>
          <p:cNvSpPr txBox="1"/>
          <p:nvPr/>
        </p:nvSpPr>
        <p:spPr>
          <a:xfrm>
            <a:off x="10138281" y="2839447"/>
            <a:ext cx="5248889" cy="684162"/>
          </a:xfrm>
          <a:prstGeom prst="rect">
            <a:avLst/>
          </a:prstGeom>
        </p:spPr>
        <p:txBody>
          <a:bodyPr lIns="0" tIns="0" rIns="0" bIns="0" rtlCol="0" anchor="t">
            <a:spAutoFit/>
          </a:bodyPr>
          <a:lstStyle/>
          <a:p>
            <a:pPr algn="l">
              <a:lnSpc>
                <a:spcPts val="2519"/>
              </a:lnSpc>
              <a:spcBef>
                <a:spcPct val="0"/>
              </a:spcBef>
            </a:pPr>
            <a:br>
              <a:rPr lang="en-US" sz="3200" b="1" dirty="0">
                <a:solidFill>
                  <a:srgbClr val="000000"/>
                </a:solidFill>
                <a:latin typeface="TT Fors Bold"/>
                <a:ea typeface="TT Fors Bold"/>
                <a:cs typeface="TT Fors Bold"/>
                <a:sym typeface="TT Fors Bold"/>
              </a:rPr>
            </a:br>
            <a:r>
              <a:rPr lang="en-US" sz="3200" b="1" dirty="0">
                <a:solidFill>
                  <a:srgbClr val="000000"/>
                </a:solidFill>
                <a:latin typeface="TT Fors Bold"/>
                <a:ea typeface="TT Fors Bold"/>
                <a:cs typeface="TT Fors Bold"/>
                <a:sym typeface="TT Fors Bold"/>
              </a:rPr>
              <a:t>Capstone Project</a:t>
            </a:r>
          </a:p>
        </p:txBody>
      </p:sp>
      <p:sp>
        <p:nvSpPr>
          <p:cNvPr id="15" name="TextBox 50">
            <a:extLst>
              <a:ext uri="{FF2B5EF4-FFF2-40B4-BE49-F238E27FC236}">
                <a16:creationId xmlns:a16="http://schemas.microsoft.com/office/drawing/2014/main" id="{99BA7DC4-36C8-14C2-06BE-52E6284E2DEC}"/>
              </a:ext>
            </a:extLst>
          </p:cNvPr>
          <p:cNvSpPr txBox="1"/>
          <p:nvPr/>
        </p:nvSpPr>
        <p:spPr>
          <a:xfrm>
            <a:off x="10138281" y="4001144"/>
            <a:ext cx="6815190" cy="1477328"/>
          </a:xfrm>
          <a:prstGeom prst="rect">
            <a:avLst/>
          </a:prstGeom>
        </p:spPr>
        <p:txBody>
          <a:bodyPr wrap="square" lIns="0" tIns="0" rIns="0" bIns="0" rtlCol="0" anchor="t">
            <a:spAutoFit/>
          </a:bodyPr>
          <a:lstStyle/>
          <a:p>
            <a:pPr algn="l">
              <a:spcBef>
                <a:spcPct val="0"/>
              </a:spcBef>
            </a:pPr>
            <a:endParaRPr lang="en-US" sz="3200" b="1" dirty="0">
              <a:solidFill>
                <a:srgbClr val="000000"/>
              </a:solidFill>
              <a:latin typeface="TT Fors Bold"/>
              <a:ea typeface="TT Fors Bold"/>
              <a:cs typeface="TT Fors Bold"/>
              <a:sym typeface="TT Fors Bold"/>
            </a:endParaRPr>
          </a:p>
          <a:p>
            <a:pPr>
              <a:spcBef>
                <a:spcPct val="0"/>
              </a:spcBef>
            </a:pPr>
            <a:r>
              <a:rPr lang="en-GB" sz="3200" b="1" dirty="0">
                <a:solidFill>
                  <a:srgbClr val="000000"/>
                </a:solidFill>
                <a:latin typeface="TT Fors Bold"/>
              </a:rPr>
              <a:t>Analysis of </a:t>
            </a:r>
            <a:r>
              <a:rPr lang="en-GB" sz="3200" b="1" dirty="0" err="1">
                <a:solidFill>
                  <a:srgbClr val="000000"/>
                </a:solidFill>
                <a:latin typeface="TT Fors Bold"/>
              </a:rPr>
              <a:t>DermAI</a:t>
            </a:r>
            <a:r>
              <a:rPr lang="en-GB" sz="3200" b="1" dirty="0">
                <a:solidFill>
                  <a:srgbClr val="000000"/>
                </a:solidFill>
                <a:latin typeface="TT Fors Bold"/>
              </a:rPr>
              <a:t> Diagnostics Skin Cancer Dataset </a:t>
            </a:r>
            <a:endParaRPr lang="en-US" sz="3200" b="1" dirty="0">
              <a:solidFill>
                <a:srgbClr val="000000"/>
              </a:solidFill>
              <a:latin typeface="TT Fors Bold"/>
              <a:sym typeface="TT Fors Bold"/>
            </a:endParaRPr>
          </a:p>
        </p:txBody>
      </p:sp>
      <p:sp>
        <p:nvSpPr>
          <p:cNvPr id="16" name="TextBox 49">
            <a:extLst>
              <a:ext uri="{FF2B5EF4-FFF2-40B4-BE49-F238E27FC236}">
                <a16:creationId xmlns:a16="http://schemas.microsoft.com/office/drawing/2014/main" id="{32AF85A0-6330-98C5-50F3-8340DD6D178C}"/>
              </a:ext>
            </a:extLst>
          </p:cNvPr>
          <p:cNvSpPr txBox="1"/>
          <p:nvPr/>
        </p:nvSpPr>
        <p:spPr>
          <a:xfrm>
            <a:off x="10162862" y="6117212"/>
            <a:ext cx="5248889" cy="1004762"/>
          </a:xfrm>
          <a:prstGeom prst="rect">
            <a:avLst/>
          </a:prstGeom>
        </p:spPr>
        <p:txBody>
          <a:bodyPr lIns="0" tIns="0" rIns="0" bIns="0" rtlCol="0" anchor="t">
            <a:spAutoFit/>
          </a:bodyPr>
          <a:lstStyle/>
          <a:p>
            <a:pPr algn="l">
              <a:lnSpc>
                <a:spcPts val="2519"/>
              </a:lnSpc>
              <a:spcBef>
                <a:spcPct val="0"/>
              </a:spcBef>
            </a:pPr>
            <a:endParaRPr lang="en-US" sz="3200" b="1" dirty="0">
              <a:solidFill>
                <a:srgbClr val="000000"/>
              </a:solidFill>
              <a:latin typeface="TT Fors Bold"/>
              <a:ea typeface="TT Fors Bold"/>
              <a:cs typeface="TT Fors Bold"/>
              <a:sym typeface="TT Fors Bold"/>
            </a:endParaRPr>
          </a:p>
          <a:p>
            <a:pPr>
              <a:lnSpc>
                <a:spcPts val="2519"/>
              </a:lnSpc>
              <a:spcBef>
                <a:spcPct val="0"/>
              </a:spcBef>
            </a:pPr>
            <a:r>
              <a:rPr lang="en-GB" sz="3200" b="1" dirty="0">
                <a:solidFill>
                  <a:srgbClr val="000000"/>
                </a:solidFill>
                <a:latin typeface="TT Fors Bold"/>
              </a:rPr>
              <a:t>Using SQL</a:t>
            </a:r>
          </a:p>
          <a:p>
            <a:pPr algn="l">
              <a:lnSpc>
                <a:spcPts val="2519"/>
              </a:lnSpc>
              <a:spcBef>
                <a:spcPct val="0"/>
              </a:spcBef>
            </a:pPr>
            <a:endParaRPr lang="en-US" sz="3200" b="1" dirty="0">
              <a:solidFill>
                <a:srgbClr val="000000"/>
              </a:solidFill>
              <a:latin typeface="TT Fors Bold"/>
              <a:ea typeface="TT Fors Bold"/>
              <a:cs typeface="TT Fors Bold"/>
              <a:sym typeface="TT Fors Bold"/>
            </a:endParaRPr>
          </a:p>
        </p:txBody>
      </p:sp>
      <p:sp>
        <p:nvSpPr>
          <p:cNvPr id="21" name="TextBox 38">
            <a:extLst>
              <a:ext uri="{FF2B5EF4-FFF2-40B4-BE49-F238E27FC236}">
                <a16:creationId xmlns:a16="http://schemas.microsoft.com/office/drawing/2014/main" id="{7DF09396-8267-800D-DD34-0D03BA25A90C}"/>
              </a:ext>
            </a:extLst>
          </p:cNvPr>
          <p:cNvSpPr txBox="1"/>
          <p:nvPr/>
        </p:nvSpPr>
        <p:spPr>
          <a:xfrm>
            <a:off x="8233984" y="6163230"/>
            <a:ext cx="1409248" cy="730969"/>
          </a:xfrm>
          <a:prstGeom prst="rect">
            <a:avLst/>
          </a:prstGeom>
        </p:spPr>
        <p:txBody>
          <a:bodyPr lIns="0" tIns="0" rIns="0" bIns="0" rtlCol="0" anchor="t">
            <a:spAutoFit/>
          </a:bodyPr>
          <a:lstStyle/>
          <a:p>
            <a:pPr algn="r">
              <a:lnSpc>
                <a:spcPts val="5600"/>
              </a:lnSpc>
            </a:pPr>
            <a:r>
              <a:rPr lang="en-US" sz="5000" b="1" dirty="0">
                <a:solidFill>
                  <a:srgbClr val="122359"/>
                </a:solidFill>
                <a:latin typeface="TT Fors Bold"/>
                <a:ea typeface="TT Fors Bold"/>
                <a:cs typeface="TT Fors Bold"/>
                <a:sym typeface="TT Fors Bold"/>
              </a:rPr>
              <a:t>03</a:t>
            </a:r>
          </a:p>
        </p:txBody>
      </p:sp>
      <p:sp>
        <p:nvSpPr>
          <p:cNvPr id="6" name="Oval 5">
            <a:extLst>
              <a:ext uri="{FF2B5EF4-FFF2-40B4-BE49-F238E27FC236}">
                <a16:creationId xmlns:a16="http://schemas.microsoft.com/office/drawing/2014/main" id="{B7E68653-A415-C96C-1861-415077FD168E}"/>
              </a:ext>
            </a:extLst>
          </p:cNvPr>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394BBDDB-01A6-34BC-2A7B-8C38EC0FD8CE}"/>
              </a:ext>
            </a:extLst>
          </p:cNvPr>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326466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3" name="Freeform 3"/>
          <p:cNvSpPr/>
          <p:nvPr/>
        </p:nvSpPr>
        <p:spPr>
          <a:xfrm>
            <a:off x="5791200" y="3118522"/>
            <a:ext cx="6072282" cy="1203416"/>
          </a:xfrm>
          <a:custGeom>
            <a:avLst/>
            <a:gdLst/>
            <a:ahLst/>
            <a:cxnLst/>
            <a:rect l="l" t="t" r="r" b="b"/>
            <a:pathLst>
              <a:path w="6072282" h="1203416">
                <a:moveTo>
                  <a:pt x="0" y="0"/>
                </a:moveTo>
                <a:lnTo>
                  <a:pt x="6072282" y="0"/>
                </a:lnTo>
                <a:lnTo>
                  <a:pt x="6072282" y="1203416"/>
                </a:lnTo>
                <a:lnTo>
                  <a:pt x="0" y="1203416"/>
                </a:lnTo>
                <a:lnTo>
                  <a:pt x="0" y="0"/>
                </a:lnTo>
                <a:close/>
              </a:path>
            </a:pathLst>
          </a:custGeom>
          <a:blipFill>
            <a:blip r:embed="rId2"/>
            <a:stretch>
              <a:fillRect/>
            </a:stretch>
          </a:blipFill>
        </p:spPr>
        <p:txBody>
          <a:bodyPr/>
          <a:lstStyle/>
          <a:p>
            <a:endParaRPr lang="en-GB" sz="3200"/>
          </a:p>
        </p:txBody>
      </p:sp>
      <p:grpSp>
        <p:nvGrpSpPr>
          <p:cNvPr id="5" name="Group 5"/>
          <p:cNvGrpSpPr/>
          <p:nvPr/>
        </p:nvGrpSpPr>
        <p:grpSpPr>
          <a:xfrm>
            <a:off x="5559065" y="2728249"/>
            <a:ext cx="6536552" cy="1154304"/>
            <a:chOff x="0" y="0"/>
            <a:chExt cx="1721561" cy="304014"/>
          </a:xfrm>
        </p:grpSpPr>
        <p:sp>
          <p:nvSpPr>
            <p:cNvPr id="6" name="Freeform 6"/>
            <p:cNvSpPr/>
            <p:nvPr/>
          </p:nvSpPr>
          <p:spPr>
            <a:xfrm>
              <a:off x="0" y="0"/>
              <a:ext cx="1721561" cy="304014"/>
            </a:xfrm>
            <a:custGeom>
              <a:avLst/>
              <a:gdLst/>
              <a:ahLst/>
              <a:cxnLst/>
              <a:rect l="l" t="t" r="r" b="b"/>
              <a:pathLst>
                <a:path w="1721561" h="304014">
                  <a:moveTo>
                    <a:pt x="20135" y="0"/>
                  </a:moveTo>
                  <a:lnTo>
                    <a:pt x="1701426" y="0"/>
                  </a:lnTo>
                  <a:cubicBezTo>
                    <a:pt x="1712546" y="0"/>
                    <a:pt x="1721561" y="9015"/>
                    <a:pt x="1721561" y="20135"/>
                  </a:cubicBezTo>
                  <a:lnTo>
                    <a:pt x="1721561" y="283879"/>
                  </a:lnTo>
                  <a:cubicBezTo>
                    <a:pt x="1721561" y="295000"/>
                    <a:pt x="1712546" y="304014"/>
                    <a:pt x="1701426" y="304014"/>
                  </a:cubicBezTo>
                  <a:lnTo>
                    <a:pt x="20135" y="304014"/>
                  </a:lnTo>
                  <a:cubicBezTo>
                    <a:pt x="9015" y="304014"/>
                    <a:pt x="0" y="295000"/>
                    <a:pt x="0" y="283879"/>
                  </a:cubicBezTo>
                  <a:lnTo>
                    <a:pt x="0" y="20135"/>
                  </a:lnTo>
                  <a:cubicBezTo>
                    <a:pt x="0" y="9015"/>
                    <a:pt x="9015" y="0"/>
                    <a:pt x="20135" y="0"/>
                  </a:cubicBezTo>
                  <a:close/>
                </a:path>
              </a:pathLst>
            </a:custGeom>
            <a:solidFill>
              <a:srgbClr val="122359"/>
            </a:solidFill>
          </p:spPr>
          <p:txBody>
            <a:bodyPr/>
            <a:lstStyle/>
            <a:p>
              <a:endParaRPr lang="en-GB" sz="3200"/>
            </a:p>
          </p:txBody>
        </p:sp>
        <p:sp>
          <p:nvSpPr>
            <p:cNvPr id="7" name="TextBox 7"/>
            <p:cNvSpPr txBox="1"/>
            <p:nvPr/>
          </p:nvSpPr>
          <p:spPr>
            <a:xfrm>
              <a:off x="0" y="-38100"/>
              <a:ext cx="1721561" cy="342114"/>
            </a:xfrm>
            <a:prstGeom prst="rect">
              <a:avLst/>
            </a:prstGeom>
          </p:spPr>
          <p:txBody>
            <a:bodyPr lIns="50800" tIns="50800" rIns="50800" bIns="50800" rtlCol="0" anchor="ctr"/>
            <a:lstStyle/>
            <a:p>
              <a:pPr algn="ctr">
                <a:lnSpc>
                  <a:spcPts val="2520"/>
                </a:lnSpc>
              </a:pPr>
              <a:endParaRPr sz="3200"/>
            </a:p>
          </p:txBody>
        </p:sp>
      </p:grpSp>
      <p:grpSp>
        <p:nvGrpSpPr>
          <p:cNvPr id="11" name="Group 11"/>
          <p:cNvGrpSpPr/>
          <p:nvPr/>
        </p:nvGrpSpPr>
        <p:grpSpPr>
          <a:xfrm>
            <a:off x="5791200" y="2552700"/>
            <a:ext cx="6072282" cy="1505402"/>
            <a:chOff x="0" y="0"/>
            <a:chExt cx="1599284" cy="396484"/>
          </a:xfrm>
        </p:grpSpPr>
        <p:sp>
          <p:nvSpPr>
            <p:cNvPr id="12" name="Freeform 12"/>
            <p:cNvSpPr/>
            <p:nvPr/>
          </p:nvSpPr>
          <p:spPr>
            <a:xfrm>
              <a:off x="0" y="0"/>
              <a:ext cx="1599284" cy="396484"/>
            </a:xfrm>
            <a:custGeom>
              <a:avLst/>
              <a:gdLst/>
              <a:ahLst/>
              <a:cxnLst/>
              <a:rect l="l" t="t" r="r" b="b"/>
              <a:pathLst>
                <a:path w="1599284" h="396484">
                  <a:moveTo>
                    <a:pt x="24224" y="0"/>
                  </a:moveTo>
                  <a:lnTo>
                    <a:pt x="1575060" y="0"/>
                  </a:lnTo>
                  <a:cubicBezTo>
                    <a:pt x="1581484" y="0"/>
                    <a:pt x="1587646" y="2552"/>
                    <a:pt x="1592189" y="7095"/>
                  </a:cubicBezTo>
                  <a:cubicBezTo>
                    <a:pt x="1596732" y="11638"/>
                    <a:pt x="1599284" y="17800"/>
                    <a:pt x="1599284" y="24224"/>
                  </a:cubicBezTo>
                  <a:lnTo>
                    <a:pt x="1599284" y="372260"/>
                  </a:lnTo>
                  <a:cubicBezTo>
                    <a:pt x="1599284" y="378685"/>
                    <a:pt x="1596732" y="384846"/>
                    <a:pt x="1592189" y="389389"/>
                  </a:cubicBezTo>
                  <a:cubicBezTo>
                    <a:pt x="1587646" y="393932"/>
                    <a:pt x="1581484" y="396484"/>
                    <a:pt x="1575060" y="396484"/>
                  </a:cubicBezTo>
                  <a:lnTo>
                    <a:pt x="24224" y="396484"/>
                  </a:lnTo>
                  <a:cubicBezTo>
                    <a:pt x="17800" y="396484"/>
                    <a:pt x="11638" y="393932"/>
                    <a:pt x="7095" y="389389"/>
                  </a:cubicBezTo>
                  <a:cubicBezTo>
                    <a:pt x="2552" y="384846"/>
                    <a:pt x="0" y="378685"/>
                    <a:pt x="0" y="372260"/>
                  </a:cubicBezTo>
                  <a:lnTo>
                    <a:pt x="0" y="24224"/>
                  </a:lnTo>
                  <a:cubicBezTo>
                    <a:pt x="0" y="17800"/>
                    <a:pt x="2552" y="11638"/>
                    <a:pt x="7095" y="7095"/>
                  </a:cubicBezTo>
                  <a:cubicBezTo>
                    <a:pt x="11638" y="2552"/>
                    <a:pt x="17800" y="0"/>
                    <a:pt x="24224" y="0"/>
                  </a:cubicBezTo>
                  <a:close/>
                </a:path>
              </a:pathLst>
            </a:custGeom>
            <a:solidFill>
              <a:srgbClr val="FFFFFF"/>
            </a:solidFill>
          </p:spPr>
          <p:txBody>
            <a:bodyPr/>
            <a:lstStyle/>
            <a:p>
              <a:endParaRPr lang="en-GB" sz="3200"/>
            </a:p>
          </p:txBody>
        </p:sp>
        <p:sp>
          <p:nvSpPr>
            <p:cNvPr id="13" name="TextBox 13"/>
            <p:cNvSpPr txBox="1"/>
            <p:nvPr/>
          </p:nvSpPr>
          <p:spPr>
            <a:xfrm>
              <a:off x="0" y="-38100"/>
              <a:ext cx="1599284" cy="434584"/>
            </a:xfrm>
            <a:prstGeom prst="rect">
              <a:avLst/>
            </a:prstGeom>
          </p:spPr>
          <p:txBody>
            <a:bodyPr lIns="50800" tIns="50800" rIns="50800" bIns="50800" rtlCol="0" anchor="ctr"/>
            <a:lstStyle/>
            <a:p>
              <a:pPr algn="ctr">
                <a:lnSpc>
                  <a:spcPts val="2520"/>
                </a:lnSpc>
              </a:pPr>
              <a:endParaRPr sz="3200"/>
            </a:p>
          </p:txBody>
        </p:sp>
      </p:grpSp>
      <p:sp>
        <p:nvSpPr>
          <p:cNvPr id="17" name="Freeform 17"/>
          <p:cNvSpPr/>
          <p:nvPr/>
        </p:nvSpPr>
        <p:spPr>
          <a:xfrm>
            <a:off x="5791200" y="5483171"/>
            <a:ext cx="6072282" cy="1203416"/>
          </a:xfrm>
          <a:custGeom>
            <a:avLst/>
            <a:gdLst/>
            <a:ahLst/>
            <a:cxnLst/>
            <a:rect l="l" t="t" r="r" b="b"/>
            <a:pathLst>
              <a:path w="6072282" h="1203416">
                <a:moveTo>
                  <a:pt x="0" y="0"/>
                </a:moveTo>
                <a:lnTo>
                  <a:pt x="6072282" y="0"/>
                </a:lnTo>
                <a:lnTo>
                  <a:pt x="6072282" y="1203416"/>
                </a:lnTo>
                <a:lnTo>
                  <a:pt x="0" y="1203416"/>
                </a:lnTo>
                <a:lnTo>
                  <a:pt x="0" y="0"/>
                </a:lnTo>
                <a:close/>
              </a:path>
            </a:pathLst>
          </a:custGeom>
          <a:blipFill>
            <a:blip r:embed="rId2"/>
            <a:stretch>
              <a:fillRect/>
            </a:stretch>
          </a:blipFill>
        </p:spPr>
        <p:txBody>
          <a:bodyPr/>
          <a:lstStyle/>
          <a:p>
            <a:endParaRPr lang="en-GB" sz="3200"/>
          </a:p>
        </p:txBody>
      </p:sp>
      <p:grpSp>
        <p:nvGrpSpPr>
          <p:cNvPr id="19" name="Group 19"/>
          <p:cNvGrpSpPr/>
          <p:nvPr/>
        </p:nvGrpSpPr>
        <p:grpSpPr>
          <a:xfrm>
            <a:off x="5559065" y="5143500"/>
            <a:ext cx="6536552" cy="1154304"/>
            <a:chOff x="0" y="0"/>
            <a:chExt cx="1721561" cy="304014"/>
          </a:xfrm>
        </p:grpSpPr>
        <p:sp>
          <p:nvSpPr>
            <p:cNvPr id="20" name="Freeform 20"/>
            <p:cNvSpPr/>
            <p:nvPr/>
          </p:nvSpPr>
          <p:spPr>
            <a:xfrm>
              <a:off x="0" y="0"/>
              <a:ext cx="1721561" cy="304014"/>
            </a:xfrm>
            <a:custGeom>
              <a:avLst/>
              <a:gdLst/>
              <a:ahLst/>
              <a:cxnLst/>
              <a:rect l="l" t="t" r="r" b="b"/>
              <a:pathLst>
                <a:path w="1721561" h="304014">
                  <a:moveTo>
                    <a:pt x="20135" y="0"/>
                  </a:moveTo>
                  <a:lnTo>
                    <a:pt x="1701426" y="0"/>
                  </a:lnTo>
                  <a:cubicBezTo>
                    <a:pt x="1712546" y="0"/>
                    <a:pt x="1721561" y="9015"/>
                    <a:pt x="1721561" y="20135"/>
                  </a:cubicBezTo>
                  <a:lnTo>
                    <a:pt x="1721561" y="283879"/>
                  </a:lnTo>
                  <a:cubicBezTo>
                    <a:pt x="1721561" y="295000"/>
                    <a:pt x="1712546" y="304014"/>
                    <a:pt x="1701426" y="304014"/>
                  </a:cubicBezTo>
                  <a:lnTo>
                    <a:pt x="20135" y="304014"/>
                  </a:lnTo>
                  <a:cubicBezTo>
                    <a:pt x="9015" y="304014"/>
                    <a:pt x="0" y="295000"/>
                    <a:pt x="0" y="283879"/>
                  </a:cubicBezTo>
                  <a:lnTo>
                    <a:pt x="0" y="20135"/>
                  </a:lnTo>
                  <a:cubicBezTo>
                    <a:pt x="0" y="9015"/>
                    <a:pt x="9015" y="0"/>
                    <a:pt x="20135" y="0"/>
                  </a:cubicBezTo>
                  <a:close/>
                </a:path>
              </a:pathLst>
            </a:custGeom>
            <a:solidFill>
              <a:srgbClr val="BEC8D9"/>
            </a:solidFill>
          </p:spPr>
          <p:txBody>
            <a:bodyPr/>
            <a:lstStyle/>
            <a:p>
              <a:endParaRPr lang="en-GB" sz="3200"/>
            </a:p>
          </p:txBody>
        </p:sp>
        <p:sp>
          <p:nvSpPr>
            <p:cNvPr id="21" name="TextBox 21"/>
            <p:cNvSpPr txBox="1"/>
            <p:nvPr/>
          </p:nvSpPr>
          <p:spPr>
            <a:xfrm>
              <a:off x="0" y="-38100"/>
              <a:ext cx="1721561" cy="342114"/>
            </a:xfrm>
            <a:prstGeom prst="rect">
              <a:avLst/>
            </a:prstGeom>
          </p:spPr>
          <p:txBody>
            <a:bodyPr lIns="50800" tIns="50800" rIns="50800" bIns="50800" rtlCol="0" anchor="ctr"/>
            <a:lstStyle/>
            <a:p>
              <a:pPr algn="ctr">
                <a:lnSpc>
                  <a:spcPts val="2520"/>
                </a:lnSpc>
              </a:pPr>
              <a:endParaRPr sz="3200"/>
            </a:p>
          </p:txBody>
        </p:sp>
      </p:grpSp>
      <p:grpSp>
        <p:nvGrpSpPr>
          <p:cNvPr id="22" name="Group 22"/>
          <p:cNvGrpSpPr/>
          <p:nvPr/>
        </p:nvGrpSpPr>
        <p:grpSpPr>
          <a:xfrm>
            <a:off x="5791200" y="4967951"/>
            <a:ext cx="6072282" cy="1505402"/>
            <a:chOff x="0" y="0"/>
            <a:chExt cx="1599284" cy="396484"/>
          </a:xfrm>
        </p:grpSpPr>
        <p:sp>
          <p:nvSpPr>
            <p:cNvPr id="23" name="Freeform 23"/>
            <p:cNvSpPr/>
            <p:nvPr/>
          </p:nvSpPr>
          <p:spPr>
            <a:xfrm>
              <a:off x="0" y="0"/>
              <a:ext cx="1599284" cy="396484"/>
            </a:xfrm>
            <a:custGeom>
              <a:avLst/>
              <a:gdLst/>
              <a:ahLst/>
              <a:cxnLst/>
              <a:rect l="l" t="t" r="r" b="b"/>
              <a:pathLst>
                <a:path w="1599284" h="396484">
                  <a:moveTo>
                    <a:pt x="24224" y="0"/>
                  </a:moveTo>
                  <a:lnTo>
                    <a:pt x="1575060" y="0"/>
                  </a:lnTo>
                  <a:cubicBezTo>
                    <a:pt x="1581484" y="0"/>
                    <a:pt x="1587646" y="2552"/>
                    <a:pt x="1592189" y="7095"/>
                  </a:cubicBezTo>
                  <a:cubicBezTo>
                    <a:pt x="1596732" y="11638"/>
                    <a:pt x="1599284" y="17800"/>
                    <a:pt x="1599284" y="24224"/>
                  </a:cubicBezTo>
                  <a:lnTo>
                    <a:pt x="1599284" y="372260"/>
                  </a:lnTo>
                  <a:cubicBezTo>
                    <a:pt x="1599284" y="378685"/>
                    <a:pt x="1596732" y="384846"/>
                    <a:pt x="1592189" y="389389"/>
                  </a:cubicBezTo>
                  <a:cubicBezTo>
                    <a:pt x="1587646" y="393932"/>
                    <a:pt x="1581484" y="396484"/>
                    <a:pt x="1575060" y="396484"/>
                  </a:cubicBezTo>
                  <a:lnTo>
                    <a:pt x="24224" y="396484"/>
                  </a:lnTo>
                  <a:cubicBezTo>
                    <a:pt x="17800" y="396484"/>
                    <a:pt x="11638" y="393932"/>
                    <a:pt x="7095" y="389389"/>
                  </a:cubicBezTo>
                  <a:cubicBezTo>
                    <a:pt x="2552" y="384846"/>
                    <a:pt x="0" y="378685"/>
                    <a:pt x="0" y="372260"/>
                  </a:cubicBezTo>
                  <a:lnTo>
                    <a:pt x="0" y="24224"/>
                  </a:lnTo>
                  <a:cubicBezTo>
                    <a:pt x="0" y="17800"/>
                    <a:pt x="2552" y="11638"/>
                    <a:pt x="7095" y="7095"/>
                  </a:cubicBezTo>
                  <a:cubicBezTo>
                    <a:pt x="11638" y="2552"/>
                    <a:pt x="17800" y="0"/>
                    <a:pt x="24224" y="0"/>
                  </a:cubicBezTo>
                  <a:close/>
                </a:path>
              </a:pathLst>
            </a:custGeom>
            <a:solidFill>
              <a:srgbClr val="FFFFFF"/>
            </a:solidFill>
          </p:spPr>
          <p:txBody>
            <a:bodyPr/>
            <a:lstStyle/>
            <a:p>
              <a:endParaRPr lang="en-GB" sz="3200"/>
            </a:p>
          </p:txBody>
        </p:sp>
        <p:sp>
          <p:nvSpPr>
            <p:cNvPr id="24" name="TextBox 24"/>
            <p:cNvSpPr txBox="1"/>
            <p:nvPr/>
          </p:nvSpPr>
          <p:spPr>
            <a:xfrm>
              <a:off x="0" y="-38100"/>
              <a:ext cx="1599284" cy="434584"/>
            </a:xfrm>
            <a:prstGeom prst="rect">
              <a:avLst/>
            </a:prstGeom>
          </p:spPr>
          <p:txBody>
            <a:bodyPr lIns="50800" tIns="50800" rIns="50800" bIns="50800" rtlCol="0" anchor="ctr"/>
            <a:lstStyle/>
            <a:p>
              <a:pPr algn="ctr">
                <a:lnSpc>
                  <a:spcPts val="2520"/>
                </a:lnSpc>
              </a:pPr>
              <a:endParaRPr sz="3200"/>
            </a:p>
          </p:txBody>
        </p:sp>
      </p:grpSp>
      <p:sp>
        <p:nvSpPr>
          <p:cNvPr id="35" name="TextBox 35"/>
          <p:cNvSpPr txBox="1"/>
          <p:nvPr/>
        </p:nvSpPr>
        <p:spPr>
          <a:xfrm>
            <a:off x="7315200" y="1207369"/>
            <a:ext cx="7591456" cy="619400"/>
          </a:xfrm>
          <a:prstGeom prst="rect">
            <a:avLst/>
          </a:prstGeom>
        </p:spPr>
        <p:txBody>
          <a:bodyPr lIns="0" tIns="0" rIns="0" bIns="0" rtlCol="0" anchor="t">
            <a:spAutoFit/>
          </a:bodyPr>
          <a:lstStyle/>
          <a:p>
            <a:pPr algn="l">
              <a:lnSpc>
                <a:spcPts val="5040"/>
              </a:lnSpc>
              <a:spcBef>
                <a:spcPct val="0"/>
              </a:spcBef>
            </a:pPr>
            <a:r>
              <a:rPr lang="en-US" sz="3600" b="1" dirty="0">
                <a:solidFill>
                  <a:srgbClr val="112F8D"/>
                </a:solidFill>
                <a:latin typeface="TT Fors Bold"/>
                <a:ea typeface="TT Fors Bold"/>
                <a:cs typeface="TT Fors Bold"/>
                <a:sym typeface="TT Fors Bold"/>
              </a:rPr>
              <a:t>Introduction</a:t>
            </a:r>
          </a:p>
        </p:txBody>
      </p:sp>
      <p:sp>
        <p:nvSpPr>
          <p:cNvPr id="41" name="TextBox 41"/>
          <p:cNvSpPr txBox="1"/>
          <p:nvPr/>
        </p:nvSpPr>
        <p:spPr>
          <a:xfrm>
            <a:off x="6280666" y="3149341"/>
            <a:ext cx="5248889" cy="738664"/>
          </a:xfrm>
          <a:prstGeom prst="rect">
            <a:avLst/>
          </a:prstGeom>
        </p:spPr>
        <p:txBody>
          <a:bodyPr lIns="0" tIns="0" rIns="0" bIns="0" rtlCol="0" anchor="t">
            <a:spAutoFit/>
          </a:bodyPr>
          <a:lstStyle/>
          <a:p>
            <a:pPr algn="ctr"/>
            <a:r>
              <a:rPr lang="en-GB" sz="2400" dirty="0">
                <a:solidFill>
                  <a:srgbClr val="000000"/>
                </a:solidFill>
                <a:latin typeface="TT Fors"/>
              </a:rPr>
              <a:t>A life-threatening disease where early detection improves survival.</a:t>
            </a:r>
          </a:p>
        </p:txBody>
      </p:sp>
      <p:sp>
        <p:nvSpPr>
          <p:cNvPr id="43" name="TextBox 43"/>
          <p:cNvSpPr txBox="1"/>
          <p:nvPr/>
        </p:nvSpPr>
        <p:spPr>
          <a:xfrm>
            <a:off x="6280666" y="2778526"/>
            <a:ext cx="5248889" cy="348172"/>
          </a:xfrm>
          <a:prstGeom prst="rect">
            <a:avLst/>
          </a:prstGeom>
        </p:spPr>
        <p:txBody>
          <a:bodyPr lIns="0" tIns="0" rIns="0" bIns="0" rtlCol="0" anchor="t">
            <a:spAutoFit/>
          </a:bodyPr>
          <a:lstStyle/>
          <a:p>
            <a:pPr algn="ctr">
              <a:lnSpc>
                <a:spcPts val="2519"/>
              </a:lnSpc>
              <a:spcBef>
                <a:spcPct val="0"/>
              </a:spcBef>
            </a:pPr>
            <a:r>
              <a:rPr lang="en-US" sz="2800" b="1" dirty="0">
                <a:solidFill>
                  <a:srgbClr val="000000"/>
                </a:solidFill>
                <a:latin typeface="TT Fors Bold"/>
                <a:ea typeface="TT Fors Bold"/>
                <a:cs typeface="TT Fors Bold"/>
                <a:sym typeface="TT Fors Bold"/>
              </a:rPr>
              <a:t>Skin Care</a:t>
            </a:r>
          </a:p>
        </p:txBody>
      </p:sp>
      <p:sp>
        <p:nvSpPr>
          <p:cNvPr id="45" name="TextBox 45"/>
          <p:cNvSpPr txBox="1"/>
          <p:nvPr/>
        </p:nvSpPr>
        <p:spPr>
          <a:xfrm>
            <a:off x="6280666" y="5564592"/>
            <a:ext cx="5248889" cy="738664"/>
          </a:xfrm>
          <a:prstGeom prst="rect">
            <a:avLst/>
          </a:prstGeom>
        </p:spPr>
        <p:txBody>
          <a:bodyPr lIns="0" tIns="0" rIns="0" bIns="0" rtlCol="0" anchor="t">
            <a:spAutoFit/>
          </a:bodyPr>
          <a:lstStyle/>
          <a:p>
            <a:pPr algn="ctr"/>
            <a:r>
              <a:rPr lang="en-GB" sz="2400" dirty="0">
                <a:solidFill>
                  <a:srgbClr val="000000"/>
                </a:solidFill>
                <a:latin typeface="TT Fors"/>
              </a:rPr>
              <a:t>This project uses SQL to analyse patterns in patient and lesion data.</a:t>
            </a:r>
          </a:p>
        </p:txBody>
      </p:sp>
      <p:sp>
        <p:nvSpPr>
          <p:cNvPr id="46" name="TextBox 46"/>
          <p:cNvSpPr txBox="1"/>
          <p:nvPr/>
        </p:nvSpPr>
        <p:spPr>
          <a:xfrm>
            <a:off x="6280666" y="5193777"/>
            <a:ext cx="5248889" cy="348172"/>
          </a:xfrm>
          <a:prstGeom prst="rect">
            <a:avLst/>
          </a:prstGeom>
        </p:spPr>
        <p:txBody>
          <a:bodyPr lIns="0" tIns="0" rIns="0" bIns="0" rtlCol="0" anchor="t">
            <a:spAutoFit/>
          </a:bodyPr>
          <a:lstStyle/>
          <a:p>
            <a:pPr algn="ctr">
              <a:lnSpc>
                <a:spcPts val="2519"/>
              </a:lnSpc>
              <a:spcBef>
                <a:spcPct val="0"/>
              </a:spcBef>
            </a:pPr>
            <a:r>
              <a:rPr lang="en-US" sz="2800" b="1" dirty="0">
                <a:solidFill>
                  <a:srgbClr val="000000"/>
                </a:solidFill>
                <a:latin typeface="TT Fors Bold"/>
                <a:ea typeface="TT Fors Bold"/>
                <a:cs typeface="TT Fors Bold"/>
                <a:sym typeface="TT Fors Bold"/>
              </a:rPr>
              <a:t>Analysis</a:t>
            </a:r>
          </a:p>
        </p:txBody>
      </p:sp>
      <p:sp>
        <p:nvSpPr>
          <p:cNvPr id="2" name="Oval 1">
            <a:extLst>
              <a:ext uri="{FF2B5EF4-FFF2-40B4-BE49-F238E27FC236}">
                <a16:creationId xmlns:a16="http://schemas.microsoft.com/office/drawing/2014/main" id="{0BC61047-E44B-4E06-8E31-DA49D01EC424}"/>
              </a:ext>
            </a:extLst>
          </p:cNvPr>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87BD7F1E-D4DF-34A5-F7EC-F67CDA2BD5A5}"/>
              </a:ext>
            </a:extLst>
          </p:cNvPr>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grpSp>
        <p:nvGrpSpPr>
          <p:cNvPr id="3" name="Group 3"/>
          <p:cNvGrpSpPr/>
          <p:nvPr/>
        </p:nvGrpSpPr>
        <p:grpSpPr>
          <a:xfrm>
            <a:off x="3024922" y="5286223"/>
            <a:ext cx="12327026" cy="2448077"/>
            <a:chOff x="0" y="0"/>
            <a:chExt cx="4058280" cy="1016040"/>
          </a:xfrm>
        </p:grpSpPr>
        <p:sp>
          <p:nvSpPr>
            <p:cNvPr id="4" name="Freeform 4"/>
            <p:cNvSpPr/>
            <p:nvPr/>
          </p:nvSpPr>
          <p:spPr>
            <a:xfrm>
              <a:off x="0" y="0"/>
              <a:ext cx="4058281" cy="1016040"/>
            </a:xfrm>
            <a:custGeom>
              <a:avLst/>
              <a:gdLst/>
              <a:ahLst/>
              <a:cxnLst/>
              <a:rect l="l" t="t" r="r" b="b"/>
              <a:pathLst>
                <a:path w="4058281" h="1016040">
                  <a:moveTo>
                    <a:pt x="16580" y="0"/>
                  </a:moveTo>
                  <a:lnTo>
                    <a:pt x="4041700" y="0"/>
                  </a:lnTo>
                  <a:cubicBezTo>
                    <a:pt x="4050857" y="0"/>
                    <a:pt x="4058281" y="7423"/>
                    <a:pt x="4058281" y="16580"/>
                  </a:cubicBezTo>
                  <a:lnTo>
                    <a:pt x="4058281" y="999460"/>
                  </a:lnTo>
                  <a:cubicBezTo>
                    <a:pt x="4058281" y="1008617"/>
                    <a:pt x="4050857" y="1016040"/>
                    <a:pt x="4041700" y="1016040"/>
                  </a:cubicBezTo>
                  <a:lnTo>
                    <a:pt x="16580" y="1016040"/>
                  </a:lnTo>
                  <a:cubicBezTo>
                    <a:pt x="7423" y="1016040"/>
                    <a:pt x="0" y="1008617"/>
                    <a:pt x="0" y="999460"/>
                  </a:cubicBezTo>
                  <a:lnTo>
                    <a:pt x="0" y="16580"/>
                  </a:lnTo>
                  <a:cubicBezTo>
                    <a:pt x="0" y="7423"/>
                    <a:pt x="7423" y="0"/>
                    <a:pt x="16580" y="0"/>
                  </a:cubicBezTo>
                  <a:close/>
                </a:path>
              </a:pathLst>
            </a:custGeom>
            <a:solidFill>
              <a:srgbClr val="FFFFFF"/>
            </a:solidFill>
          </p:spPr>
          <p:txBody>
            <a:bodyPr/>
            <a:lstStyle/>
            <a:p>
              <a:endParaRPr lang="en-GB"/>
            </a:p>
          </p:txBody>
        </p:sp>
        <p:sp>
          <p:nvSpPr>
            <p:cNvPr id="5" name="TextBox 5"/>
            <p:cNvSpPr txBox="1"/>
            <p:nvPr/>
          </p:nvSpPr>
          <p:spPr>
            <a:xfrm>
              <a:off x="0" y="-38100"/>
              <a:ext cx="4058280" cy="1054140"/>
            </a:xfrm>
            <a:prstGeom prst="rect">
              <a:avLst/>
            </a:prstGeom>
          </p:spPr>
          <p:txBody>
            <a:bodyPr lIns="50800" tIns="50800" rIns="50800" bIns="50800" rtlCol="0" anchor="ctr"/>
            <a:lstStyle/>
            <a:p>
              <a:pPr algn="ctr">
                <a:lnSpc>
                  <a:spcPts val="2520"/>
                </a:lnSpc>
              </a:pPr>
              <a:endParaRPr/>
            </a:p>
          </p:txBody>
        </p:sp>
      </p:grpSp>
      <p:grpSp>
        <p:nvGrpSpPr>
          <p:cNvPr id="6" name="Group 6"/>
          <p:cNvGrpSpPr/>
          <p:nvPr/>
        </p:nvGrpSpPr>
        <p:grpSpPr>
          <a:xfrm>
            <a:off x="3024922" y="4715846"/>
            <a:ext cx="3081757" cy="303677"/>
            <a:chOff x="0" y="0"/>
            <a:chExt cx="811656" cy="79981"/>
          </a:xfrm>
        </p:grpSpPr>
        <p:sp>
          <p:nvSpPr>
            <p:cNvPr id="7" name="Freeform 7"/>
            <p:cNvSpPr/>
            <p:nvPr/>
          </p:nvSpPr>
          <p:spPr>
            <a:xfrm>
              <a:off x="0" y="0"/>
              <a:ext cx="811656" cy="79981"/>
            </a:xfrm>
            <a:custGeom>
              <a:avLst/>
              <a:gdLst/>
              <a:ahLst/>
              <a:cxnLst/>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a:srgbClr val="122359"/>
            </a:solidFill>
          </p:spPr>
          <p:txBody>
            <a:bodyPr/>
            <a:lstStyle/>
            <a:p>
              <a:endParaRPr lang="en-GB"/>
            </a:p>
          </p:txBody>
        </p:sp>
        <p:sp>
          <p:nvSpPr>
            <p:cNvPr id="8" name="TextBox 8"/>
            <p:cNvSpPr txBox="1"/>
            <p:nvPr/>
          </p:nvSpPr>
          <p:spPr>
            <a:xfrm>
              <a:off x="0" y="-38100"/>
              <a:ext cx="811656" cy="118081"/>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9" name="Group 9"/>
          <p:cNvGrpSpPr/>
          <p:nvPr/>
        </p:nvGrpSpPr>
        <p:grpSpPr>
          <a:xfrm>
            <a:off x="6106679" y="4715846"/>
            <a:ext cx="3081757" cy="303677"/>
            <a:chOff x="0" y="0"/>
            <a:chExt cx="811656" cy="79981"/>
          </a:xfrm>
        </p:grpSpPr>
        <p:sp>
          <p:nvSpPr>
            <p:cNvPr id="10" name="Freeform 10"/>
            <p:cNvSpPr/>
            <p:nvPr/>
          </p:nvSpPr>
          <p:spPr>
            <a:xfrm>
              <a:off x="0" y="0"/>
              <a:ext cx="811656" cy="79981"/>
            </a:xfrm>
            <a:custGeom>
              <a:avLst/>
              <a:gdLst/>
              <a:ahLst/>
              <a:cxnLst/>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a:srgbClr val="3D6298"/>
            </a:solidFill>
          </p:spPr>
          <p:txBody>
            <a:bodyPr/>
            <a:lstStyle/>
            <a:p>
              <a:endParaRPr lang="en-GB"/>
            </a:p>
          </p:txBody>
        </p:sp>
        <p:sp>
          <p:nvSpPr>
            <p:cNvPr id="11" name="TextBox 11"/>
            <p:cNvSpPr txBox="1"/>
            <p:nvPr/>
          </p:nvSpPr>
          <p:spPr>
            <a:xfrm>
              <a:off x="0" y="-38100"/>
              <a:ext cx="811656" cy="118081"/>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2" name="Group 12"/>
          <p:cNvGrpSpPr/>
          <p:nvPr/>
        </p:nvGrpSpPr>
        <p:grpSpPr>
          <a:xfrm>
            <a:off x="9188436" y="4715846"/>
            <a:ext cx="3081757" cy="303677"/>
            <a:chOff x="0" y="0"/>
            <a:chExt cx="811656" cy="79981"/>
          </a:xfrm>
        </p:grpSpPr>
        <p:sp>
          <p:nvSpPr>
            <p:cNvPr id="13" name="Freeform 13"/>
            <p:cNvSpPr/>
            <p:nvPr/>
          </p:nvSpPr>
          <p:spPr>
            <a:xfrm>
              <a:off x="0" y="0"/>
              <a:ext cx="811656" cy="79981"/>
            </a:xfrm>
            <a:custGeom>
              <a:avLst/>
              <a:gdLst/>
              <a:ahLst/>
              <a:cxnLst/>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a:srgbClr val="BEC8DA"/>
            </a:solidFill>
          </p:spPr>
          <p:txBody>
            <a:bodyPr/>
            <a:lstStyle/>
            <a:p>
              <a:endParaRPr lang="en-GB"/>
            </a:p>
          </p:txBody>
        </p:sp>
        <p:sp>
          <p:nvSpPr>
            <p:cNvPr id="14" name="TextBox 14"/>
            <p:cNvSpPr txBox="1"/>
            <p:nvPr/>
          </p:nvSpPr>
          <p:spPr>
            <a:xfrm>
              <a:off x="0" y="-38100"/>
              <a:ext cx="811656" cy="118081"/>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5" name="Group 15"/>
          <p:cNvGrpSpPr/>
          <p:nvPr/>
        </p:nvGrpSpPr>
        <p:grpSpPr>
          <a:xfrm>
            <a:off x="12270192" y="4715846"/>
            <a:ext cx="3081757" cy="303677"/>
            <a:chOff x="0" y="0"/>
            <a:chExt cx="811656" cy="79981"/>
          </a:xfrm>
        </p:grpSpPr>
        <p:sp>
          <p:nvSpPr>
            <p:cNvPr id="16" name="Freeform 16"/>
            <p:cNvSpPr/>
            <p:nvPr/>
          </p:nvSpPr>
          <p:spPr>
            <a:xfrm>
              <a:off x="0" y="0"/>
              <a:ext cx="811656" cy="79981"/>
            </a:xfrm>
            <a:custGeom>
              <a:avLst/>
              <a:gdLst/>
              <a:ahLst/>
              <a:cxnLst/>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a:srgbClr val="F68D55"/>
            </a:solidFill>
          </p:spPr>
          <p:txBody>
            <a:bodyPr/>
            <a:lstStyle/>
            <a:p>
              <a:endParaRPr lang="en-GB"/>
            </a:p>
          </p:txBody>
        </p:sp>
        <p:sp>
          <p:nvSpPr>
            <p:cNvPr id="17" name="TextBox 17"/>
            <p:cNvSpPr txBox="1"/>
            <p:nvPr/>
          </p:nvSpPr>
          <p:spPr>
            <a:xfrm>
              <a:off x="0" y="-38100"/>
              <a:ext cx="811656" cy="118081"/>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21" name="Group 21"/>
          <p:cNvGrpSpPr/>
          <p:nvPr/>
        </p:nvGrpSpPr>
        <p:grpSpPr>
          <a:xfrm>
            <a:off x="5880239" y="4641245"/>
            <a:ext cx="452880" cy="45288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04775" cap="sq">
              <a:solidFill>
                <a:srgbClr val="122359"/>
              </a:solidFill>
              <a:prstDash val="solid"/>
              <a:miter/>
            </a:ln>
          </p:spPr>
          <p:txBody>
            <a:bodyPr/>
            <a:lstStyle/>
            <a:p>
              <a:endParaRPr lang="en-GB"/>
            </a:p>
          </p:txBody>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8961996" y="4641245"/>
            <a:ext cx="452880" cy="452880"/>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04775" cap="sq">
              <a:solidFill>
                <a:srgbClr val="3D6298"/>
              </a:solidFill>
              <a:prstDash val="solid"/>
              <a:miter/>
            </a:ln>
          </p:spPr>
          <p:txBody>
            <a:bodyPr/>
            <a:lstStyle/>
            <a:p>
              <a:endParaRPr lang="en-GB"/>
            </a:p>
          </p:txBody>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grpSp>
        <p:nvGrpSpPr>
          <p:cNvPr id="27" name="Group 27"/>
          <p:cNvGrpSpPr/>
          <p:nvPr/>
        </p:nvGrpSpPr>
        <p:grpSpPr>
          <a:xfrm>
            <a:off x="12043752" y="4641245"/>
            <a:ext cx="452880" cy="452880"/>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04775" cap="sq">
              <a:solidFill>
                <a:srgbClr val="BEC8DA"/>
              </a:solidFill>
              <a:prstDash val="solid"/>
              <a:miter/>
            </a:ln>
          </p:spPr>
          <p:txBody>
            <a:bodyPr/>
            <a:lstStyle/>
            <a:p>
              <a:endParaRPr lang="en-GB"/>
            </a:p>
          </p:txBody>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grpSp>
        <p:nvGrpSpPr>
          <p:cNvPr id="30" name="Group 30"/>
          <p:cNvGrpSpPr/>
          <p:nvPr/>
        </p:nvGrpSpPr>
        <p:grpSpPr>
          <a:xfrm>
            <a:off x="14859000" y="4641245"/>
            <a:ext cx="452880" cy="452880"/>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04775" cap="sq">
              <a:solidFill>
                <a:srgbClr val="F68D55"/>
              </a:solidFill>
              <a:prstDash val="solid"/>
              <a:miter/>
            </a:ln>
          </p:spPr>
          <p:txBody>
            <a:bodyPr/>
            <a:lstStyle/>
            <a:p>
              <a:endParaRPr lang="en-GB"/>
            </a:p>
          </p:txBody>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dirty="0"/>
            </a:p>
          </p:txBody>
        </p:sp>
      </p:grpSp>
      <p:sp>
        <p:nvSpPr>
          <p:cNvPr id="36" name="Freeform 36"/>
          <p:cNvSpPr/>
          <p:nvPr/>
        </p:nvSpPr>
        <p:spPr>
          <a:xfrm>
            <a:off x="3638406" y="2476500"/>
            <a:ext cx="1799028" cy="2020434"/>
          </a:xfrm>
          <a:custGeom>
            <a:avLst/>
            <a:gdLst/>
            <a:ahLst/>
            <a:cxnLst/>
            <a:rect l="l" t="t" r="r" b="b"/>
            <a:pathLst>
              <a:path w="1799028" h="2020434">
                <a:moveTo>
                  <a:pt x="0" y="0"/>
                </a:moveTo>
                <a:lnTo>
                  <a:pt x="1799029" y="0"/>
                </a:lnTo>
                <a:lnTo>
                  <a:pt x="1799029" y="2020434"/>
                </a:lnTo>
                <a:lnTo>
                  <a:pt x="0" y="20204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7" name="Freeform 37"/>
          <p:cNvSpPr/>
          <p:nvPr/>
        </p:nvSpPr>
        <p:spPr>
          <a:xfrm>
            <a:off x="6748043" y="2476500"/>
            <a:ext cx="1799028" cy="2020434"/>
          </a:xfrm>
          <a:custGeom>
            <a:avLst/>
            <a:gdLst/>
            <a:ahLst/>
            <a:cxnLst/>
            <a:rect l="l" t="t" r="r" b="b"/>
            <a:pathLst>
              <a:path w="1799028" h="2020434">
                <a:moveTo>
                  <a:pt x="0" y="0"/>
                </a:moveTo>
                <a:lnTo>
                  <a:pt x="1799028" y="0"/>
                </a:lnTo>
                <a:lnTo>
                  <a:pt x="1799028" y="2020434"/>
                </a:lnTo>
                <a:lnTo>
                  <a:pt x="0" y="20204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8" name="Freeform 38"/>
          <p:cNvSpPr/>
          <p:nvPr/>
        </p:nvSpPr>
        <p:spPr>
          <a:xfrm>
            <a:off x="9829800" y="2476500"/>
            <a:ext cx="1799028" cy="2020434"/>
          </a:xfrm>
          <a:custGeom>
            <a:avLst/>
            <a:gdLst/>
            <a:ahLst/>
            <a:cxnLst/>
            <a:rect l="l" t="t" r="r" b="b"/>
            <a:pathLst>
              <a:path w="1799028" h="2020434">
                <a:moveTo>
                  <a:pt x="0" y="0"/>
                </a:moveTo>
                <a:lnTo>
                  <a:pt x="1799028" y="0"/>
                </a:lnTo>
                <a:lnTo>
                  <a:pt x="1799028" y="2020434"/>
                </a:lnTo>
                <a:lnTo>
                  <a:pt x="0" y="20204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39" name="Freeform 39"/>
          <p:cNvSpPr/>
          <p:nvPr/>
        </p:nvSpPr>
        <p:spPr>
          <a:xfrm>
            <a:off x="12911557" y="2476500"/>
            <a:ext cx="1799028" cy="2020434"/>
          </a:xfrm>
          <a:custGeom>
            <a:avLst/>
            <a:gdLst/>
            <a:ahLst/>
            <a:cxnLst/>
            <a:rect l="l" t="t" r="r" b="b"/>
            <a:pathLst>
              <a:path w="1799028" h="2020434">
                <a:moveTo>
                  <a:pt x="0" y="0"/>
                </a:moveTo>
                <a:lnTo>
                  <a:pt x="1799028" y="0"/>
                </a:lnTo>
                <a:lnTo>
                  <a:pt x="1799028" y="2020434"/>
                </a:lnTo>
                <a:lnTo>
                  <a:pt x="0" y="20204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41" name="AutoShape 41"/>
          <p:cNvSpPr/>
          <p:nvPr/>
        </p:nvSpPr>
        <p:spPr>
          <a:xfrm>
            <a:off x="6106679" y="5715000"/>
            <a:ext cx="0" cy="3018643"/>
          </a:xfrm>
          <a:prstGeom prst="line">
            <a:avLst/>
          </a:prstGeom>
          <a:ln w="38100" cap="flat">
            <a:solidFill>
              <a:srgbClr val="E9ECF4"/>
            </a:solidFill>
            <a:prstDash val="solid"/>
            <a:headEnd type="none" w="sm" len="sm"/>
            <a:tailEnd type="none" w="sm" len="sm"/>
          </a:ln>
        </p:spPr>
        <p:txBody>
          <a:bodyPr/>
          <a:lstStyle/>
          <a:p>
            <a:endParaRPr lang="en-GB"/>
          </a:p>
        </p:txBody>
      </p:sp>
      <p:sp>
        <p:nvSpPr>
          <p:cNvPr id="42" name="AutoShape 42"/>
          <p:cNvSpPr/>
          <p:nvPr/>
        </p:nvSpPr>
        <p:spPr>
          <a:xfrm>
            <a:off x="9188436" y="5715000"/>
            <a:ext cx="0" cy="3018643"/>
          </a:xfrm>
          <a:prstGeom prst="line">
            <a:avLst/>
          </a:prstGeom>
          <a:ln w="38100" cap="flat">
            <a:solidFill>
              <a:srgbClr val="E9ECF4"/>
            </a:solidFill>
            <a:prstDash val="solid"/>
            <a:headEnd type="none" w="sm" len="sm"/>
            <a:tailEnd type="none" w="sm" len="sm"/>
          </a:ln>
        </p:spPr>
        <p:txBody>
          <a:bodyPr/>
          <a:lstStyle/>
          <a:p>
            <a:endParaRPr lang="en-GB"/>
          </a:p>
        </p:txBody>
      </p:sp>
      <p:sp>
        <p:nvSpPr>
          <p:cNvPr id="43" name="AutoShape 43"/>
          <p:cNvSpPr/>
          <p:nvPr/>
        </p:nvSpPr>
        <p:spPr>
          <a:xfrm>
            <a:off x="12270192" y="5715000"/>
            <a:ext cx="0" cy="3018643"/>
          </a:xfrm>
          <a:prstGeom prst="line">
            <a:avLst/>
          </a:prstGeom>
          <a:ln w="38100" cap="flat">
            <a:solidFill>
              <a:srgbClr val="E9ECF4"/>
            </a:solidFill>
            <a:prstDash val="solid"/>
            <a:headEnd type="none" w="sm" len="sm"/>
            <a:tailEnd type="none" w="sm" len="sm"/>
          </a:ln>
        </p:spPr>
        <p:txBody>
          <a:bodyPr/>
          <a:lstStyle/>
          <a:p>
            <a:endParaRPr lang="en-GB"/>
          </a:p>
        </p:txBody>
      </p:sp>
      <p:sp>
        <p:nvSpPr>
          <p:cNvPr id="44" name="AutoShape 44"/>
          <p:cNvSpPr/>
          <p:nvPr/>
        </p:nvSpPr>
        <p:spPr>
          <a:xfrm>
            <a:off x="15351949" y="5715000"/>
            <a:ext cx="0" cy="3018643"/>
          </a:xfrm>
          <a:prstGeom prst="line">
            <a:avLst/>
          </a:prstGeom>
          <a:ln w="38100" cap="flat">
            <a:solidFill>
              <a:srgbClr val="E9ECF4"/>
            </a:solidFill>
            <a:prstDash val="solid"/>
            <a:headEnd type="none" w="sm" len="sm"/>
            <a:tailEnd type="none" w="sm" len="sm"/>
          </a:ln>
        </p:spPr>
        <p:txBody>
          <a:bodyPr/>
          <a:lstStyle/>
          <a:p>
            <a:endParaRPr lang="en-GB"/>
          </a:p>
        </p:txBody>
      </p:sp>
      <p:sp>
        <p:nvSpPr>
          <p:cNvPr id="45" name="Freeform 45"/>
          <p:cNvSpPr/>
          <p:nvPr/>
        </p:nvSpPr>
        <p:spPr>
          <a:xfrm>
            <a:off x="4287445" y="3072880"/>
            <a:ext cx="556712" cy="556712"/>
          </a:xfrm>
          <a:custGeom>
            <a:avLst/>
            <a:gdLst/>
            <a:ahLst/>
            <a:cxnLst/>
            <a:rect l="l" t="t" r="r" b="b"/>
            <a:pathLst>
              <a:path w="556712" h="556712">
                <a:moveTo>
                  <a:pt x="0" y="0"/>
                </a:moveTo>
                <a:lnTo>
                  <a:pt x="556711" y="0"/>
                </a:lnTo>
                <a:lnTo>
                  <a:pt x="556711" y="556712"/>
                </a:lnTo>
                <a:lnTo>
                  <a:pt x="0" y="55671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46" name="Freeform 46"/>
          <p:cNvSpPr/>
          <p:nvPr/>
        </p:nvSpPr>
        <p:spPr>
          <a:xfrm>
            <a:off x="10389011" y="3010933"/>
            <a:ext cx="680606" cy="680606"/>
          </a:xfrm>
          <a:custGeom>
            <a:avLst/>
            <a:gdLst/>
            <a:ahLst/>
            <a:cxnLst/>
            <a:rect l="l" t="t" r="r" b="b"/>
            <a:pathLst>
              <a:path w="680606" h="680606">
                <a:moveTo>
                  <a:pt x="0" y="0"/>
                </a:moveTo>
                <a:lnTo>
                  <a:pt x="680606" y="0"/>
                </a:lnTo>
                <a:lnTo>
                  <a:pt x="680606" y="680606"/>
                </a:lnTo>
                <a:lnTo>
                  <a:pt x="0" y="68060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GB"/>
          </a:p>
        </p:txBody>
      </p:sp>
      <p:sp>
        <p:nvSpPr>
          <p:cNvPr id="47" name="Freeform 47"/>
          <p:cNvSpPr/>
          <p:nvPr/>
        </p:nvSpPr>
        <p:spPr>
          <a:xfrm>
            <a:off x="13491564" y="3020458"/>
            <a:ext cx="639013" cy="639013"/>
          </a:xfrm>
          <a:custGeom>
            <a:avLst/>
            <a:gdLst/>
            <a:ahLst/>
            <a:cxnLst/>
            <a:rect l="l" t="t" r="r" b="b"/>
            <a:pathLst>
              <a:path w="639013" h="639013">
                <a:moveTo>
                  <a:pt x="0" y="0"/>
                </a:moveTo>
                <a:lnTo>
                  <a:pt x="639013" y="0"/>
                </a:lnTo>
                <a:lnTo>
                  <a:pt x="639013" y="639013"/>
                </a:lnTo>
                <a:lnTo>
                  <a:pt x="0" y="63901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GB"/>
          </a:p>
        </p:txBody>
      </p:sp>
      <p:sp>
        <p:nvSpPr>
          <p:cNvPr id="49" name="Freeform 49"/>
          <p:cNvSpPr/>
          <p:nvPr/>
        </p:nvSpPr>
        <p:spPr>
          <a:xfrm>
            <a:off x="7307254" y="3010933"/>
            <a:ext cx="680606" cy="680606"/>
          </a:xfrm>
          <a:custGeom>
            <a:avLst/>
            <a:gdLst/>
            <a:ahLst/>
            <a:cxnLst/>
            <a:rect l="l" t="t" r="r" b="b"/>
            <a:pathLst>
              <a:path w="680606" h="680606">
                <a:moveTo>
                  <a:pt x="0" y="0"/>
                </a:moveTo>
                <a:lnTo>
                  <a:pt x="680606" y="0"/>
                </a:lnTo>
                <a:lnTo>
                  <a:pt x="680606" y="680606"/>
                </a:lnTo>
                <a:lnTo>
                  <a:pt x="0" y="68060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GB"/>
          </a:p>
        </p:txBody>
      </p:sp>
      <p:sp>
        <p:nvSpPr>
          <p:cNvPr id="50" name="TextBox 50"/>
          <p:cNvSpPr txBox="1"/>
          <p:nvPr/>
        </p:nvSpPr>
        <p:spPr>
          <a:xfrm>
            <a:off x="4053312" y="981075"/>
            <a:ext cx="10181376" cy="622935"/>
          </a:xfrm>
          <a:prstGeom prst="rect">
            <a:avLst/>
          </a:prstGeom>
        </p:spPr>
        <p:txBody>
          <a:bodyPr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Objectives</a:t>
            </a:r>
          </a:p>
        </p:txBody>
      </p:sp>
      <p:sp>
        <p:nvSpPr>
          <p:cNvPr id="54" name="TextBox 54"/>
          <p:cNvSpPr txBox="1"/>
          <p:nvPr/>
        </p:nvSpPr>
        <p:spPr>
          <a:xfrm>
            <a:off x="3437215" y="6362700"/>
            <a:ext cx="2201410" cy="950838"/>
          </a:xfrm>
          <a:prstGeom prst="rect">
            <a:avLst/>
          </a:prstGeom>
        </p:spPr>
        <p:txBody>
          <a:bodyPr lIns="0" tIns="0" rIns="0" bIns="0" rtlCol="0" anchor="t">
            <a:spAutoFit/>
          </a:bodyPr>
          <a:lstStyle/>
          <a:p>
            <a:pPr algn="ctr">
              <a:lnSpc>
                <a:spcPts val="2519"/>
              </a:lnSpc>
              <a:spcBef>
                <a:spcPct val="0"/>
              </a:spcBef>
            </a:pPr>
            <a:endParaRPr lang="en-US" sz="1799" b="1" dirty="0">
              <a:solidFill>
                <a:srgbClr val="000000"/>
              </a:solidFill>
              <a:latin typeface="TT Fors Bold"/>
              <a:ea typeface="TT Fors Bold"/>
              <a:cs typeface="TT Fors Bold"/>
              <a:sym typeface="TT Fors Bold"/>
            </a:endParaRPr>
          </a:p>
          <a:p>
            <a:pPr algn="ctr">
              <a:lnSpc>
                <a:spcPts val="2519"/>
              </a:lnSpc>
              <a:spcBef>
                <a:spcPct val="0"/>
              </a:spcBef>
            </a:pPr>
            <a:r>
              <a:rPr lang="en-GB" sz="1799" b="1" dirty="0">
                <a:solidFill>
                  <a:srgbClr val="000000"/>
                </a:solidFill>
                <a:latin typeface="TT Fors Bold"/>
              </a:rPr>
              <a:t>Identify risk factors</a:t>
            </a:r>
            <a:endParaRPr lang="en-US" sz="1799" b="1" dirty="0">
              <a:solidFill>
                <a:srgbClr val="000000"/>
              </a:solidFill>
              <a:latin typeface="TT Fors Bold"/>
              <a:sym typeface="TT Fors Bold"/>
            </a:endParaRPr>
          </a:p>
        </p:txBody>
      </p:sp>
      <p:sp>
        <p:nvSpPr>
          <p:cNvPr id="55" name="TextBox 55"/>
          <p:cNvSpPr txBox="1"/>
          <p:nvPr/>
        </p:nvSpPr>
        <p:spPr>
          <a:xfrm>
            <a:off x="6546852" y="6362700"/>
            <a:ext cx="2201410" cy="950838"/>
          </a:xfrm>
          <a:prstGeom prst="rect">
            <a:avLst/>
          </a:prstGeom>
        </p:spPr>
        <p:txBody>
          <a:bodyPr lIns="0" tIns="0" rIns="0" bIns="0" rtlCol="0" anchor="t">
            <a:spAutoFit/>
          </a:bodyPr>
          <a:lstStyle/>
          <a:p>
            <a:pPr algn="ctr">
              <a:lnSpc>
                <a:spcPts val="2519"/>
              </a:lnSpc>
              <a:spcBef>
                <a:spcPct val="0"/>
              </a:spcBef>
            </a:pPr>
            <a:endParaRPr lang="en-US" sz="1799" b="1" dirty="0">
              <a:solidFill>
                <a:srgbClr val="000000"/>
              </a:solidFill>
              <a:latin typeface="TT Fors Bold"/>
              <a:ea typeface="TT Fors Bold"/>
              <a:cs typeface="TT Fors Bold"/>
              <a:sym typeface="TT Fors Bold"/>
            </a:endParaRPr>
          </a:p>
          <a:p>
            <a:pPr algn="ctr">
              <a:lnSpc>
                <a:spcPts val="2519"/>
              </a:lnSpc>
              <a:spcBef>
                <a:spcPct val="0"/>
              </a:spcBef>
            </a:pPr>
            <a:r>
              <a:rPr lang="en-GB" sz="1799" b="1" dirty="0">
                <a:solidFill>
                  <a:srgbClr val="000000"/>
                </a:solidFill>
                <a:latin typeface="TT Fors Bold"/>
              </a:rPr>
              <a:t>Analyse lesion characteristics</a:t>
            </a:r>
            <a:endParaRPr lang="en-US" sz="1799" b="1" dirty="0">
              <a:solidFill>
                <a:srgbClr val="000000"/>
              </a:solidFill>
              <a:latin typeface="TT Fors Bold"/>
              <a:sym typeface="TT Fors Bold"/>
            </a:endParaRPr>
          </a:p>
        </p:txBody>
      </p:sp>
      <p:sp>
        <p:nvSpPr>
          <p:cNvPr id="57" name="TextBox 57"/>
          <p:cNvSpPr txBox="1"/>
          <p:nvPr/>
        </p:nvSpPr>
        <p:spPr>
          <a:xfrm>
            <a:off x="9628609" y="6362700"/>
            <a:ext cx="2201410" cy="950838"/>
          </a:xfrm>
          <a:prstGeom prst="rect">
            <a:avLst/>
          </a:prstGeom>
        </p:spPr>
        <p:txBody>
          <a:bodyPr lIns="0" tIns="0" rIns="0" bIns="0" rtlCol="0" anchor="t">
            <a:spAutoFit/>
          </a:bodyPr>
          <a:lstStyle/>
          <a:p>
            <a:pPr algn="ctr">
              <a:lnSpc>
                <a:spcPts val="2519"/>
              </a:lnSpc>
              <a:spcBef>
                <a:spcPct val="0"/>
              </a:spcBef>
            </a:pPr>
            <a:endParaRPr lang="en-US" sz="1799" b="1" dirty="0">
              <a:solidFill>
                <a:srgbClr val="000000"/>
              </a:solidFill>
              <a:latin typeface="TT Fors Bold"/>
              <a:ea typeface="TT Fors Bold"/>
              <a:cs typeface="TT Fors Bold"/>
              <a:sym typeface="TT Fors Bold"/>
            </a:endParaRPr>
          </a:p>
          <a:p>
            <a:pPr algn="ctr">
              <a:lnSpc>
                <a:spcPts val="2519"/>
              </a:lnSpc>
              <a:spcBef>
                <a:spcPct val="0"/>
              </a:spcBef>
            </a:pPr>
            <a:r>
              <a:rPr lang="en-GB" sz="1799" b="1" dirty="0">
                <a:solidFill>
                  <a:srgbClr val="000000"/>
                </a:solidFill>
                <a:latin typeface="TT Fors Bold"/>
              </a:rPr>
              <a:t>Support early detection</a:t>
            </a:r>
            <a:endParaRPr lang="en-US" sz="1799" b="1" dirty="0">
              <a:solidFill>
                <a:srgbClr val="000000"/>
              </a:solidFill>
              <a:latin typeface="TT Fors Bold"/>
              <a:sym typeface="TT Fors Bold"/>
            </a:endParaRPr>
          </a:p>
        </p:txBody>
      </p:sp>
      <p:sp>
        <p:nvSpPr>
          <p:cNvPr id="59" name="TextBox 59"/>
          <p:cNvSpPr txBox="1"/>
          <p:nvPr/>
        </p:nvSpPr>
        <p:spPr>
          <a:xfrm>
            <a:off x="12710366" y="6362700"/>
            <a:ext cx="2201410" cy="1271438"/>
          </a:xfrm>
          <a:prstGeom prst="rect">
            <a:avLst/>
          </a:prstGeom>
        </p:spPr>
        <p:txBody>
          <a:bodyPr lIns="0" tIns="0" rIns="0" bIns="0" rtlCol="0" anchor="t">
            <a:spAutoFit/>
          </a:bodyPr>
          <a:lstStyle/>
          <a:p>
            <a:pPr algn="ctr">
              <a:lnSpc>
                <a:spcPts val="2519"/>
              </a:lnSpc>
              <a:spcBef>
                <a:spcPct val="0"/>
              </a:spcBef>
            </a:pPr>
            <a:endParaRPr lang="en-US" sz="1799" b="1" dirty="0">
              <a:solidFill>
                <a:srgbClr val="000000"/>
              </a:solidFill>
              <a:latin typeface="TT Fors Bold"/>
              <a:ea typeface="TT Fors Bold"/>
              <a:cs typeface="TT Fors Bold"/>
              <a:sym typeface="TT Fors Bold"/>
            </a:endParaRPr>
          </a:p>
          <a:p>
            <a:pPr algn="ctr">
              <a:lnSpc>
                <a:spcPts val="2519"/>
              </a:lnSpc>
              <a:spcBef>
                <a:spcPct val="0"/>
              </a:spcBef>
            </a:pPr>
            <a:r>
              <a:rPr lang="en-GB" sz="1799" b="1" dirty="0">
                <a:solidFill>
                  <a:srgbClr val="000000"/>
                </a:solidFill>
                <a:latin typeface="TT Fors Bold"/>
              </a:rPr>
              <a:t>Generate data-driven insights</a:t>
            </a:r>
          </a:p>
          <a:p>
            <a:pPr algn="ctr">
              <a:lnSpc>
                <a:spcPts val="2519"/>
              </a:lnSpc>
              <a:spcBef>
                <a:spcPct val="0"/>
              </a:spcBef>
            </a:pPr>
            <a:endParaRPr lang="en-US" sz="1799" b="1" dirty="0">
              <a:solidFill>
                <a:srgbClr val="000000"/>
              </a:solidFill>
              <a:latin typeface="TT Fors Bold"/>
              <a:ea typeface="TT Fors Bold"/>
              <a:cs typeface="TT Fors Bold"/>
              <a:sym typeface="TT Fors Bold"/>
            </a:endParaRPr>
          </a:p>
        </p:txBody>
      </p:sp>
      <p:sp>
        <p:nvSpPr>
          <p:cNvPr id="62" name="TextBox 62"/>
          <p:cNvSpPr txBox="1"/>
          <p:nvPr/>
        </p:nvSpPr>
        <p:spPr>
          <a:xfrm>
            <a:off x="3804117" y="5799782"/>
            <a:ext cx="1467607" cy="574040"/>
          </a:xfrm>
          <a:prstGeom prst="rect">
            <a:avLst/>
          </a:prstGeom>
        </p:spPr>
        <p:txBody>
          <a:bodyPr lIns="0" tIns="0" rIns="0" bIns="0" rtlCol="0" anchor="t">
            <a:spAutoFit/>
          </a:bodyPr>
          <a:lstStyle/>
          <a:p>
            <a:pPr algn="ctr">
              <a:lnSpc>
                <a:spcPts val="4479"/>
              </a:lnSpc>
            </a:pPr>
            <a:r>
              <a:rPr lang="en-US" sz="3999" b="1" dirty="0">
                <a:solidFill>
                  <a:srgbClr val="112F8D"/>
                </a:solidFill>
                <a:latin typeface="TT Fors Bold"/>
                <a:ea typeface="TT Fors Bold"/>
                <a:cs typeface="TT Fors Bold"/>
                <a:sym typeface="TT Fors Bold"/>
              </a:rPr>
              <a:t>01</a:t>
            </a:r>
          </a:p>
        </p:txBody>
      </p:sp>
      <p:sp>
        <p:nvSpPr>
          <p:cNvPr id="63" name="TextBox 63"/>
          <p:cNvSpPr txBox="1"/>
          <p:nvPr/>
        </p:nvSpPr>
        <p:spPr>
          <a:xfrm>
            <a:off x="6913754" y="5799782"/>
            <a:ext cx="1467607" cy="574040"/>
          </a:xfrm>
          <a:prstGeom prst="rect">
            <a:avLst/>
          </a:prstGeom>
        </p:spPr>
        <p:txBody>
          <a:bodyPr lIns="0" tIns="0" rIns="0" bIns="0" rtlCol="0" anchor="t">
            <a:spAutoFit/>
          </a:bodyPr>
          <a:lstStyle/>
          <a:p>
            <a:pPr algn="ctr">
              <a:lnSpc>
                <a:spcPts val="4479"/>
              </a:lnSpc>
            </a:pPr>
            <a:r>
              <a:rPr lang="en-US" sz="3999" b="1">
                <a:solidFill>
                  <a:srgbClr val="3E6398"/>
                </a:solidFill>
                <a:latin typeface="TT Fors Bold"/>
                <a:ea typeface="TT Fors Bold"/>
                <a:cs typeface="TT Fors Bold"/>
                <a:sym typeface="TT Fors Bold"/>
              </a:rPr>
              <a:t>02</a:t>
            </a:r>
          </a:p>
        </p:txBody>
      </p:sp>
      <p:sp>
        <p:nvSpPr>
          <p:cNvPr id="64" name="TextBox 64"/>
          <p:cNvSpPr txBox="1"/>
          <p:nvPr/>
        </p:nvSpPr>
        <p:spPr>
          <a:xfrm>
            <a:off x="10023390" y="5799782"/>
            <a:ext cx="1467607" cy="574040"/>
          </a:xfrm>
          <a:prstGeom prst="rect">
            <a:avLst/>
          </a:prstGeom>
        </p:spPr>
        <p:txBody>
          <a:bodyPr lIns="0" tIns="0" rIns="0" bIns="0" rtlCol="0" anchor="t">
            <a:spAutoFit/>
          </a:bodyPr>
          <a:lstStyle/>
          <a:p>
            <a:pPr algn="ctr">
              <a:lnSpc>
                <a:spcPts val="4479"/>
              </a:lnSpc>
            </a:pPr>
            <a:r>
              <a:rPr lang="en-US" sz="3999" b="1">
                <a:solidFill>
                  <a:srgbClr val="BEC8DA"/>
                </a:solidFill>
                <a:latin typeface="TT Fors Bold"/>
                <a:ea typeface="TT Fors Bold"/>
                <a:cs typeface="TT Fors Bold"/>
                <a:sym typeface="TT Fors Bold"/>
              </a:rPr>
              <a:t>03</a:t>
            </a:r>
          </a:p>
        </p:txBody>
      </p:sp>
      <p:sp>
        <p:nvSpPr>
          <p:cNvPr id="65" name="TextBox 65"/>
          <p:cNvSpPr txBox="1"/>
          <p:nvPr/>
        </p:nvSpPr>
        <p:spPr>
          <a:xfrm>
            <a:off x="13133027" y="5799782"/>
            <a:ext cx="1467607" cy="574040"/>
          </a:xfrm>
          <a:prstGeom prst="rect">
            <a:avLst/>
          </a:prstGeom>
        </p:spPr>
        <p:txBody>
          <a:bodyPr lIns="0" tIns="0" rIns="0" bIns="0" rtlCol="0" anchor="t">
            <a:spAutoFit/>
          </a:bodyPr>
          <a:lstStyle/>
          <a:p>
            <a:pPr algn="ctr">
              <a:lnSpc>
                <a:spcPts val="4479"/>
              </a:lnSpc>
            </a:pPr>
            <a:r>
              <a:rPr lang="en-US" sz="3999" b="1">
                <a:solidFill>
                  <a:srgbClr val="F68D56"/>
                </a:solidFill>
                <a:latin typeface="TT Fors Bold"/>
                <a:ea typeface="TT Fors Bold"/>
                <a:cs typeface="TT Fors Bold"/>
                <a:sym typeface="TT Fors Bold"/>
              </a:rPr>
              <a:t>04</a:t>
            </a:r>
          </a:p>
        </p:txBody>
      </p:sp>
      <p:sp>
        <p:nvSpPr>
          <p:cNvPr id="2" name="Oval 1">
            <a:extLst>
              <a:ext uri="{FF2B5EF4-FFF2-40B4-BE49-F238E27FC236}">
                <a16:creationId xmlns:a16="http://schemas.microsoft.com/office/drawing/2014/main" id="{A4AF0546-3EB6-AFB8-9B81-B60BE01507DF}"/>
              </a:ext>
            </a:extLst>
          </p:cNvPr>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a:extLst>
              <a:ext uri="{FF2B5EF4-FFF2-40B4-BE49-F238E27FC236}">
                <a16:creationId xmlns:a16="http://schemas.microsoft.com/office/drawing/2014/main" id="{92E840EF-5FAB-DEF6-AB32-8AF8B11DB9BC}"/>
              </a:ext>
            </a:extLst>
          </p:cNvPr>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grpSp>
        <p:nvGrpSpPr>
          <p:cNvPr id="2" name="Group 2"/>
          <p:cNvGrpSpPr/>
          <p:nvPr/>
        </p:nvGrpSpPr>
        <p:grpSpPr>
          <a:xfrm rot="16200000">
            <a:off x="6296258" y="7664862"/>
            <a:ext cx="900339" cy="1292039"/>
            <a:chOff x="0" y="0"/>
            <a:chExt cx="1148238" cy="4659132"/>
          </a:xfrm>
        </p:grpSpPr>
        <p:sp>
          <p:nvSpPr>
            <p:cNvPr id="3" name="Freeform 3"/>
            <p:cNvSpPr/>
            <p:nvPr/>
          </p:nvSpPr>
          <p:spPr>
            <a:xfrm>
              <a:off x="0" y="0"/>
              <a:ext cx="1148238" cy="4659132"/>
            </a:xfrm>
            <a:custGeom>
              <a:avLst/>
              <a:gdLst/>
              <a:ahLst/>
              <a:cxnLst/>
              <a:rect l="l" t="t" r="r" b="b"/>
              <a:pathLst>
                <a:path w="1148238" h="4659132">
                  <a:moveTo>
                    <a:pt x="574119" y="4659132"/>
                  </a:moveTo>
                  <a:lnTo>
                    <a:pt x="0" y="4252732"/>
                  </a:lnTo>
                  <a:lnTo>
                    <a:pt x="203200" y="4252732"/>
                  </a:lnTo>
                  <a:lnTo>
                    <a:pt x="203200" y="0"/>
                  </a:lnTo>
                  <a:lnTo>
                    <a:pt x="945038" y="0"/>
                  </a:lnTo>
                  <a:lnTo>
                    <a:pt x="945038" y="4252732"/>
                  </a:lnTo>
                  <a:lnTo>
                    <a:pt x="1148238" y="4252732"/>
                  </a:lnTo>
                  <a:lnTo>
                    <a:pt x="574119" y="4659132"/>
                  </a:lnTo>
                  <a:close/>
                </a:path>
              </a:pathLst>
            </a:custGeom>
            <a:solidFill>
              <a:srgbClr val="E8DED6"/>
            </a:solidFill>
          </p:spPr>
          <p:txBody>
            <a:bodyPr/>
            <a:lstStyle/>
            <a:p>
              <a:endParaRPr lang="en-GB"/>
            </a:p>
          </p:txBody>
        </p:sp>
        <p:sp>
          <p:nvSpPr>
            <p:cNvPr id="4" name="TextBox 4"/>
            <p:cNvSpPr txBox="1"/>
            <p:nvPr/>
          </p:nvSpPr>
          <p:spPr>
            <a:xfrm>
              <a:off x="203200" y="-38100"/>
              <a:ext cx="741838" cy="4595632"/>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5" name="Group 5"/>
          <p:cNvGrpSpPr/>
          <p:nvPr/>
        </p:nvGrpSpPr>
        <p:grpSpPr>
          <a:xfrm rot="16200000">
            <a:off x="6265084" y="6604010"/>
            <a:ext cx="962688" cy="1292039"/>
            <a:chOff x="0" y="0"/>
            <a:chExt cx="1148238" cy="4136033"/>
          </a:xfrm>
        </p:grpSpPr>
        <p:sp>
          <p:nvSpPr>
            <p:cNvPr id="6" name="Freeform 6"/>
            <p:cNvSpPr/>
            <p:nvPr/>
          </p:nvSpPr>
          <p:spPr>
            <a:xfrm>
              <a:off x="0" y="0"/>
              <a:ext cx="1148238" cy="4136033"/>
            </a:xfrm>
            <a:custGeom>
              <a:avLst/>
              <a:gdLst/>
              <a:ahLst/>
              <a:cxnLst/>
              <a:rect l="l" t="t" r="r" b="b"/>
              <a:pathLst>
                <a:path w="1148238" h="4136033">
                  <a:moveTo>
                    <a:pt x="574119" y="4136033"/>
                  </a:moveTo>
                  <a:lnTo>
                    <a:pt x="0" y="3729633"/>
                  </a:lnTo>
                  <a:lnTo>
                    <a:pt x="203200" y="3729633"/>
                  </a:lnTo>
                  <a:lnTo>
                    <a:pt x="203200" y="0"/>
                  </a:lnTo>
                  <a:lnTo>
                    <a:pt x="945038" y="0"/>
                  </a:lnTo>
                  <a:lnTo>
                    <a:pt x="945038" y="3729633"/>
                  </a:lnTo>
                  <a:lnTo>
                    <a:pt x="1148238" y="3729633"/>
                  </a:lnTo>
                  <a:lnTo>
                    <a:pt x="574119" y="4136033"/>
                  </a:lnTo>
                  <a:close/>
                </a:path>
              </a:pathLst>
            </a:custGeom>
            <a:solidFill>
              <a:srgbClr val="F68D55"/>
            </a:solidFill>
          </p:spPr>
          <p:txBody>
            <a:bodyPr/>
            <a:lstStyle/>
            <a:p>
              <a:endParaRPr lang="en-GB"/>
            </a:p>
          </p:txBody>
        </p:sp>
        <p:sp>
          <p:nvSpPr>
            <p:cNvPr id="7" name="TextBox 7"/>
            <p:cNvSpPr txBox="1"/>
            <p:nvPr/>
          </p:nvSpPr>
          <p:spPr>
            <a:xfrm>
              <a:off x="203200" y="-38100"/>
              <a:ext cx="741838" cy="4072533"/>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8" name="Group 8"/>
          <p:cNvGrpSpPr/>
          <p:nvPr/>
        </p:nvGrpSpPr>
        <p:grpSpPr>
          <a:xfrm rot="16200000">
            <a:off x="6299214" y="5414785"/>
            <a:ext cx="894429" cy="1292039"/>
            <a:chOff x="0" y="0"/>
            <a:chExt cx="1148238" cy="3612934"/>
          </a:xfrm>
        </p:grpSpPr>
        <p:sp>
          <p:nvSpPr>
            <p:cNvPr id="9" name="Freeform 9"/>
            <p:cNvSpPr/>
            <p:nvPr/>
          </p:nvSpPr>
          <p:spPr>
            <a:xfrm>
              <a:off x="0" y="0"/>
              <a:ext cx="1148238" cy="3612935"/>
            </a:xfrm>
            <a:custGeom>
              <a:avLst/>
              <a:gdLst/>
              <a:ahLst/>
              <a:cxnLst/>
              <a:rect l="l" t="t" r="r" b="b"/>
              <a:pathLst>
                <a:path w="1148238" h="3612935">
                  <a:moveTo>
                    <a:pt x="574119" y="3612935"/>
                  </a:moveTo>
                  <a:lnTo>
                    <a:pt x="0" y="3206534"/>
                  </a:lnTo>
                  <a:lnTo>
                    <a:pt x="203200" y="3206534"/>
                  </a:lnTo>
                  <a:lnTo>
                    <a:pt x="203200" y="0"/>
                  </a:lnTo>
                  <a:lnTo>
                    <a:pt x="945038" y="0"/>
                  </a:lnTo>
                  <a:lnTo>
                    <a:pt x="945038" y="3206534"/>
                  </a:lnTo>
                  <a:lnTo>
                    <a:pt x="1148238" y="3206534"/>
                  </a:lnTo>
                  <a:lnTo>
                    <a:pt x="574119" y="3612935"/>
                  </a:lnTo>
                  <a:close/>
                </a:path>
              </a:pathLst>
            </a:custGeom>
            <a:solidFill>
              <a:srgbClr val="BEC8DA"/>
            </a:solidFill>
          </p:spPr>
          <p:txBody>
            <a:bodyPr/>
            <a:lstStyle/>
            <a:p>
              <a:endParaRPr lang="en-GB"/>
            </a:p>
          </p:txBody>
        </p:sp>
        <p:sp>
          <p:nvSpPr>
            <p:cNvPr id="10" name="TextBox 10"/>
            <p:cNvSpPr txBox="1"/>
            <p:nvPr/>
          </p:nvSpPr>
          <p:spPr>
            <a:xfrm>
              <a:off x="203200" y="-38100"/>
              <a:ext cx="741838" cy="3549434"/>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rot="16200000">
            <a:off x="6255531" y="4242808"/>
            <a:ext cx="975072" cy="1292038"/>
            <a:chOff x="0" y="0"/>
            <a:chExt cx="1148238" cy="3089836"/>
          </a:xfrm>
        </p:grpSpPr>
        <p:sp>
          <p:nvSpPr>
            <p:cNvPr id="12" name="Freeform 12"/>
            <p:cNvSpPr/>
            <p:nvPr/>
          </p:nvSpPr>
          <p:spPr>
            <a:xfrm>
              <a:off x="0" y="0"/>
              <a:ext cx="1148238" cy="3089836"/>
            </a:xfrm>
            <a:custGeom>
              <a:avLst/>
              <a:gdLst/>
              <a:ahLst/>
              <a:cxnLst/>
              <a:rect l="l" t="t" r="r" b="b"/>
              <a:pathLst>
                <a:path w="1148238" h="3089836">
                  <a:moveTo>
                    <a:pt x="574119" y="3089836"/>
                  </a:moveTo>
                  <a:lnTo>
                    <a:pt x="0" y="2683436"/>
                  </a:lnTo>
                  <a:lnTo>
                    <a:pt x="203200" y="2683436"/>
                  </a:lnTo>
                  <a:lnTo>
                    <a:pt x="203200" y="0"/>
                  </a:lnTo>
                  <a:lnTo>
                    <a:pt x="945038" y="0"/>
                  </a:lnTo>
                  <a:lnTo>
                    <a:pt x="945038" y="2683436"/>
                  </a:lnTo>
                  <a:lnTo>
                    <a:pt x="1148238" y="2683436"/>
                  </a:lnTo>
                  <a:lnTo>
                    <a:pt x="574119" y="3089836"/>
                  </a:lnTo>
                  <a:close/>
                </a:path>
              </a:pathLst>
            </a:custGeom>
            <a:solidFill>
              <a:srgbClr val="3C6198"/>
            </a:solidFill>
          </p:spPr>
          <p:txBody>
            <a:bodyPr/>
            <a:lstStyle/>
            <a:p>
              <a:endParaRPr lang="en-GB"/>
            </a:p>
          </p:txBody>
        </p:sp>
        <p:sp>
          <p:nvSpPr>
            <p:cNvPr id="13" name="TextBox 13"/>
            <p:cNvSpPr txBox="1"/>
            <p:nvPr/>
          </p:nvSpPr>
          <p:spPr>
            <a:xfrm>
              <a:off x="203200" y="-38100"/>
              <a:ext cx="741838" cy="3026336"/>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4" name="Group 14"/>
          <p:cNvGrpSpPr/>
          <p:nvPr/>
        </p:nvGrpSpPr>
        <p:grpSpPr>
          <a:xfrm rot="16200000">
            <a:off x="6271747" y="2955068"/>
            <a:ext cx="1057958" cy="1287122"/>
            <a:chOff x="0" y="0"/>
            <a:chExt cx="1148238" cy="2566737"/>
          </a:xfrm>
        </p:grpSpPr>
        <p:sp>
          <p:nvSpPr>
            <p:cNvPr id="15" name="Freeform 15"/>
            <p:cNvSpPr/>
            <p:nvPr/>
          </p:nvSpPr>
          <p:spPr>
            <a:xfrm>
              <a:off x="0" y="0"/>
              <a:ext cx="1148238" cy="2566737"/>
            </a:xfrm>
            <a:custGeom>
              <a:avLst/>
              <a:gdLst/>
              <a:ahLst/>
              <a:cxnLst/>
              <a:rect l="l" t="t" r="r" b="b"/>
              <a:pathLst>
                <a:path w="1148238" h="2566737">
                  <a:moveTo>
                    <a:pt x="574119" y="2566737"/>
                  </a:moveTo>
                  <a:lnTo>
                    <a:pt x="0" y="2160337"/>
                  </a:lnTo>
                  <a:lnTo>
                    <a:pt x="203200" y="2160337"/>
                  </a:lnTo>
                  <a:lnTo>
                    <a:pt x="203200" y="0"/>
                  </a:lnTo>
                  <a:lnTo>
                    <a:pt x="945038" y="0"/>
                  </a:lnTo>
                  <a:lnTo>
                    <a:pt x="945038" y="2160337"/>
                  </a:lnTo>
                  <a:lnTo>
                    <a:pt x="1148238" y="2160337"/>
                  </a:lnTo>
                  <a:lnTo>
                    <a:pt x="574119" y="2566737"/>
                  </a:lnTo>
                  <a:close/>
                </a:path>
              </a:pathLst>
            </a:custGeom>
            <a:solidFill>
              <a:srgbClr val="122359"/>
            </a:solidFill>
          </p:spPr>
          <p:txBody>
            <a:bodyPr/>
            <a:lstStyle/>
            <a:p>
              <a:endParaRPr lang="en-GB"/>
            </a:p>
          </p:txBody>
        </p:sp>
        <p:sp>
          <p:nvSpPr>
            <p:cNvPr id="16" name="TextBox 16"/>
            <p:cNvSpPr txBox="1"/>
            <p:nvPr/>
          </p:nvSpPr>
          <p:spPr>
            <a:xfrm>
              <a:off x="203200" y="-38100"/>
              <a:ext cx="741838" cy="2503237"/>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32" name="TextBox 32"/>
          <p:cNvSpPr txBox="1"/>
          <p:nvPr/>
        </p:nvSpPr>
        <p:spPr>
          <a:xfrm>
            <a:off x="6546381" y="795016"/>
            <a:ext cx="6414747" cy="619400"/>
          </a:xfrm>
          <a:prstGeom prst="rect">
            <a:avLst/>
          </a:prstGeom>
        </p:spPr>
        <p:txBody>
          <a:bodyPr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Methodology</a:t>
            </a:r>
          </a:p>
        </p:txBody>
      </p:sp>
      <p:sp>
        <p:nvSpPr>
          <p:cNvPr id="35" name="TextBox 35"/>
          <p:cNvSpPr txBox="1"/>
          <p:nvPr/>
        </p:nvSpPr>
        <p:spPr>
          <a:xfrm>
            <a:off x="7692418" y="8208939"/>
            <a:ext cx="5295749" cy="363561"/>
          </a:xfrm>
          <a:prstGeom prst="rect">
            <a:avLst/>
          </a:prstGeom>
        </p:spPr>
        <p:txBody>
          <a:bodyPr lIns="0" tIns="0" rIns="0" bIns="0" rtlCol="0" anchor="t">
            <a:spAutoFit/>
          </a:bodyPr>
          <a:lstStyle/>
          <a:p>
            <a:pPr>
              <a:lnSpc>
                <a:spcPts val="2519"/>
              </a:lnSpc>
              <a:spcBef>
                <a:spcPct val="0"/>
              </a:spcBef>
            </a:pPr>
            <a:r>
              <a:rPr lang="en-US" sz="3200" dirty="0">
                <a:solidFill>
                  <a:srgbClr val="000000"/>
                </a:solidFill>
                <a:latin typeface="TT Fors" panose="020B0604020202020204" charset="0"/>
                <a:sym typeface="TT Fors Bold"/>
              </a:rPr>
              <a:t>Analysis</a:t>
            </a:r>
          </a:p>
        </p:txBody>
      </p:sp>
      <p:sp>
        <p:nvSpPr>
          <p:cNvPr id="37" name="TextBox 37"/>
          <p:cNvSpPr txBox="1"/>
          <p:nvPr/>
        </p:nvSpPr>
        <p:spPr>
          <a:xfrm>
            <a:off x="7772400" y="7061453"/>
            <a:ext cx="5295749" cy="363561"/>
          </a:xfrm>
          <a:prstGeom prst="rect">
            <a:avLst/>
          </a:prstGeom>
        </p:spPr>
        <p:txBody>
          <a:bodyPr lIns="0" tIns="0" rIns="0" bIns="0" rtlCol="0" anchor="t">
            <a:spAutoFit/>
          </a:bodyPr>
          <a:lstStyle/>
          <a:p>
            <a:pPr algn="l">
              <a:lnSpc>
                <a:spcPts val="2519"/>
              </a:lnSpc>
              <a:spcBef>
                <a:spcPct val="0"/>
              </a:spcBef>
            </a:pPr>
            <a:r>
              <a:rPr lang="en-US" sz="3200" dirty="0">
                <a:solidFill>
                  <a:srgbClr val="000000"/>
                </a:solidFill>
                <a:latin typeface="TT Fors" panose="020B0604020202020204" charset="0"/>
                <a:sym typeface="TT Fors Bold"/>
              </a:rPr>
              <a:t>SQL Queries</a:t>
            </a:r>
          </a:p>
        </p:txBody>
      </p:sp>
      <p:sp>
        <p:nvSpPr>
          <p:cNvPr id="39" name="TextBox 39"/>
          <p:cNvSpPr txBox="1"/>
          <p:nvPr/>
        </p:nvSpPr>
        <p:spPr>
          <a:xfrm>
            <a:off x="7704708" y="5861022"/>
            <a:ext cx="5295749" cy="363561"/>
          </a:xfrm>
          <a:prstGeom prst="rect">
            <a:avLst/>
          </a:prstGeom>
        </p:spPr>
        <p:txBody>
          <a:bodyPr lIns="0" tIns="0" rIns="0" bIns="0" rtlCol="0" anchor="t">
            <a:spAutoFit/>
          </a:bodyPr>
          <a:lstStyle/>
          <a:p>
            <a:pPr algn="l">
              <a:lnSpc>
                <a:spcPts val="2519"/>
              </a:lnSpc>
              <a:spcBef>
                <a:spcPct val="0"/>
              </a:spcBef>
            </a:pPr>
            <a:r>
              <a:rPr lang="en-US" sz="3200" dirty="0">
                <a:solidFill>
                  <a:srgbClr val="000000"/>
                </a:solidFill>
                <a:latin typeface="TT Fors" panose="020B0604020202020204" charset="0"/>
                <a:sym typeface="TT Fors Bold"/>
              </a:rPr>
              <a:t>Table</a:t>
            </a:r>
            <a:r>
              <a:rPr lang="en-US" sz="1799" b="1" dirty="0">
                <a:solidFill>
                  <a:srgbClr val="000000"/>
                </a:solidFill>
                <a:latin typeface="TT Fors Bold"/>
                <a:ea typeface="TT Fors Bold"/>
                <a:cs typeface="TT Fors Bold"/>
                <a:sym typeface="TT Fors Bold"/>
              </a:rPr>
              <a:t> </a:t>
            </a:r>
            <a:r>
              <a:rPr lang="en-US" sz="3200" dirty="0">
                <a:solidFill>
                  <a:srgbClr val="000000"/>
                </a:solidFill>
                <a:latin typeface="TT Fors" panose="020B0604020202020204" charset="0"/>
                <a:sym typeface="TT Fors Bold"/>
              </a:rPr>
              <a:t>Joins</a:t>
            </a:r>
          </a:p>
        </p:txBody>
      </p:sp>
      <p:sp>
        <p:nvSpPr>
          <p:cNvPr id="41" name="TextBox 41"/>
          <p:cNvSpPr txBox="1"/>
          <p:nvPr/>
        </p:nvSpPr>
        <p:spPr>
          <a:xfrm>
            <a:off x="7702250" y="4772902"/>
            <a:ext cx="5295749" cy="306687"/>
          </a:xfrm>
          <a:prstGeom prst="rect">
            <a:avLst/>
          </a:prstGeom>
        </p:spPr>
        <p:txBody>
          <a:bodyPr wrap="square" lIns="0" tIns="0" rIns="0" bIns="0" rtlCol="0" anchor="t">
            <a:spAutoFit/>
          </a:bodyPr>
          <a:lstStyle>
            <a:defPPr>
              <a:defRPr lang="en-US"/>
            </a:defPPr>
            <a:lvl1pPr>
              <a:lnSpc>
                <a:spcPts val="2519"/>
              </a:lnSpc>
              <a:spcBef>
                <a:spcPct val="0"/>
              </a:spcBef>
              <a:defRPr sz="3200">
                <a:solidFill>
                  <a:srgbClr val="000000"/>
                </a:solidFill>
                <a:latin typeface="TT Fors" panose="020B0604020202020204" charset="0"/>
                <a:ea typeface="TT Fors Bold"/>
                <a:cs typeface="TT Fors Bold"/>
              </a:defRPr>
            </a:lvl1pPr>
          </a:lstStyle>
          <a:p>
            <a:r>
              <a:rPr lang="en-US" dirty="0">
                <a:sym typeface="TT Fors Bold"/>
              </a:rPr>
              <a:t>Data Import</a:t>
            </a:r>
          </a:p>
        </p:txBody>
      </p:sp>
      <p:sp>
        <p:nvSpPr>
          <p:cNvPr id="43" name="TextBox 43"/>
          <p:cNvSpPr txBox="1"/>
          <p:nvPr/>
        </p:nvSpPr>
        <p:spPr>
          <a:xfrm>
            <a:off x="7772400" y="3162300"/>
            <a:ext cx="6629400" cy="1004762"/>
          </a:xfrm>
          <a:prstGeom prst="rect">
            <a:avLst/>
          </a:prstGeom>
        </p:spPr>
        <p:txBody>
          <a:bodyPr wrap="square" lIns="0" tIns="0" rIns="0" bIns="0" rtlCol="0" anchor="t">
            <a:spAutoFit/>
          </a:bodyPr>
          <a:lstStyle/>
          <a:p>
            <a:pPr algn="l">
              <a:lnSpc>
                <a:spcPts val="2519"/>
              </a:lnSpc>
              <a:spcBef>
                <a:spcPct val="0"/>
              </a:spcBef>
            </a:pPr>
            <a:endParaRPr lang="en-US" sz="3200" dirty="0">
              <a:solidFill>
                <a:srgbClr val="000000"/>
              </a:solidFill>
              <a:latin typeface="TT Fors" panose="020B0604020202020204" charset="0"/>
              <a:ea typeface="TT Fors Bold"/>
              <a:cs typeface="TT Fors Bold"/>
              <a:sym typeface="TT Fors Bold"/>
            </a:endParaRPr>
          </a:p>
          <a:p>
            <a:pPr>
              <a:lnSpc>
                <a:spcPts val="2519"/>
              </a:lnSpc>
              <a:spcBef>
                <a:spcPct val="0"/>
              </a:spcBef>
            </a:pPr>
            <a:r>
              <a:rPr lang="en-GB" sz="3200" dirty="0">
                <a:solidFill>
                  <a:srgbClr val="000000"/>
                </a:solidFill>
                <a:latin typeface="TT Fors" panose="020B0604020202020204" charset="0"/>
              </a:rPr>
              <a:t>Database creation (PostgreSQL)</a:t>
            </a:r>
          </a:p>
          <a:p>
            <a:pPr algn="l">
              <a:lnSpc>
                <a:spcPts val="2519"/>
              </a:lnSpc>
              <a:spcBef>
                <a:spcPct val="0"/>
              </a:spcBef>
            </a:pPr>
            <a:endParaRPr lang="en-US" sz="3200" dirty="0">
              <a:solidFill>
                <a:srgbClr val="000000"/>
              </a:solidFill>
              <a:latin typeface="TT Fors" panose="020B0604020202020204" charset="0"/>
              <a:ea typeface="TT Fors Bold"/>
              <a:cs typeface="TT Fors Bold"/>
              <a:sym typeface="TT Fors Bold"/>
            </a:endParaRPr>
          </a:p>
        </p:txBody>
      </p:sp>
      <p:sp>
        <p:nvSpPr>
          <p:cNvPr id="44" name="TextBox 44"/>
          <p:cNvSpPr txBox="1"/>
          <p:nvPr/>
        </p:nvSpPr>
        <p:spPr>
          <a:xfrm>
            <a:off x="6377463" y="8102850"/>
            <a:ext cx="938785" cy="419282"/>
          </a:xfrm>
          <a:prstGeom prst="rect">
            <a:avLst/>
          </a:prstGeom>
        </p:spPr>
        <p:txBody>
          <a:bodyPr lIns="0" tIns="0" rIns="0" bIns="0" rtlCol="0" anchor="t">
            <a:spAutoFit/>
          </a:bodyPr>
          <a:lstStyle/>
          <a:p>
            <a:pPr algn="ctr">
              <a:lnSpc>
                <a:spcPts val="3359"/>
              </a:lnSpc>
              <a:spcBef>
                <a:spcPct val="0"/>
              </a:spcBef>
            </a:pPr>
            <a:r>
              <a:rPr lang="en-US" sz="2399" b="1" dirty="0">
                <a:solidFill>
                  <a:schemeClr val="bg1"/>
                </a:solidFill>
                <a:latin typeface="TT Fors Bold"/>
                <a:ea typeface="TT Fors Bold"/>
                <a:cs typeface="TT Fors Bold"/>
                <a:sym typeface="TT Fors Bold"/>
              </a:rPr>
              <a:t>05</a:t>
            </a:r>
          </a:p>
        </p:txBody>
      </p:sp>
      <p:sp>
        <p:nvSpPr>
          <p:cNvPr id="45" name="TextBox 45"/>
          <p:cNvSpPr txBox="1"/>
          <p:nvPr/>
        </p:nvSpPr>
        <p:spPr>
          <a:xfrm>
            <a:off x="6301263" y="7017037"/>
            <a:ext cx="938785" cy="419282"/>
          </a:xfrm>
          <a:prstGeom prst="rect">
            <a:avLst/>
          </a:prstGeom>
        </p:spPr>
        <p:txBody>
          <a:bodyPr lIns="0" tIns="0" rIns="0" bIns="0" rtlCol="0" anchor="t">
            <a:spAutoFit/>
          </a:bodyPr>
          <a:lstStyle/>
          <a:p>
            <a:pPr algn="ctr">
              <a:lnSpc>
                <a:spcPts val="3359"/>
              </a:lnSpc>
              <a:spcBef>
                <a:spcPct val="0"/>
              </a:spcBef>
            </a:pPr>
            <a:r>
              <a:rPr lang="en-US" sz="2399" b="1" dirty="0">
                <a:solidFill>
                  <a:schemeClr val="bg1"/>
                </a:solidFill>
                <a:latin typeface="TT Fors Bold"/>
                <a:ea typeface="TT Fors Bold"/>
                <a:cs typeface="TT Fors Bold"/>
                <a:sym typeface="TT Fors Bold"/>
              </a:rPr>
              <a:t>04</a:t>
            </a:r>
          </a:p>
        </p:txBody>
      </p:sp>
      <p:sp>
        <p:nvSpPr>
          <p:cNvPr id="46" name="TextBox 46"/>
          <p:cNvSpPr txBox="1"/>
          <p:nvPr/>
        </p:nvSpPr>
        <p:spPr>
          <a:xfrm>
            <a:off x="6186442" y="5861022"/>
            <a:ext cx="938785" cy="419282"/>
          </a:xfrm>
          <a:prstGeom prst="rect">
            <a:avLst/>
          </a:prstGeom>
        </p:spPr>
        <p:txBody>
          <a:bodyPr lIns="0" tIns="0" rIns="0" bIns="0" rtlCol="0" anchor="t">
            <a:spAutoFit/>
          </a:bodyPr>
          <a:lstStyle/>
          <a:p>
            <a:pPr algn="ctr">
              <a:lnSpc>
                <a:spcPts val="3359"/>
              </a:lnSpc>
              <a:spcBef>
                <a:spcPct val="0"/>
              </a:spcBef>
            </a:pPr>
            <a:r>
              <a:rPr lang="en-US" sz="2399" b="1" dirty="0">
                <a:solidFill>
                  <a:schemeClr val="bg1"/>
                </a:solidFill>
                <a:latin typeface="TT Fors Bold"/>
                <a:ea typeface="TT Fors Bold"/>
                <a:cs typeface="TT Fors Bold"/>
                <a:sym typeface="TT Fors Bold"/>
              </a:rPr>
              <a:t>03</a:t>
            </a:r>
          </a:p>
        </p:txBody>
      </p:sp>
      <p:sp>
        <p:nvSpPr>
          <p:cNvPr id="47" name="TextBox 47"/>
          <p:cNvSpPr txBox="1"/>
          <p:nvPr/>
        </p:nvSpPr>
        <p:spPr>
          <a:xfrm>
            <a:off x="6229277" y="4699105"/>
            <a:ext cx="938785" cy="396278"/>
          </a:xfrm>
          <a:prstGeom prst="rect">
            <a:avLst/>
          </a:prstGeom>
        </p:spPr>
        <p:txBody>
          <a:bodyPr lIns="0" tIns="0" rIns="0" bIns="0" rtlCol="0" anchor="t">
            <a:spAutoFit/>
          </a:bodyPr>
          <a:lstStyle/>
          <a:p>
            <a:pPr algn="ctr">
              <a:lnSpc>
                <a:spcPts val="3359"/>
              </a:lnSpc>
              <a:spcBef>
                <a:spcPct val="0"/>
              </a:spcBef>
            </a:pPr>
            <a:r>
              <a:rPr lang="en-US" sz="2399" b="1" dirty="0">
                <a:solidFill>
                  <a:srgbClr val="FFFFFF"/>
                </a:solidFill>
                <a:latin typeface="TT Fors Bold"/>
                <a:ea typeface="TT Fors Bold"/>
                <a:cs typeface="TT Fors Bold"/>
                <a:sym typeface="TT Fors Bold"/>
              </a:rPr>
              <a:t>02</a:t>
            </a:r>
          </a:p>
        </p:txBody>
      </p:sp>
      <p:sp>
        <p:nvSpPr>
          <p:cNvPr id="48" name="TextBox 48"/>
          <p:cNvSpPr txBox="1"/>
          <p:nvPr/>
        </p:nvSpPr>
        <p:spPr>
          <a:xfrm>
            <a:off x="6331333" y="3439580"/>
            <a:ext cx="938785" cy="396278"/>
          </a:xfrm>
          <a:prstGeom prst="rect">
            <a:avLst/>
          </a:prstGeom>
        </p:spPr>
        <p:txBody>
          <a:bodyPr lIns="0" tIns="0" rIns="0" bIns="0" rtlCol="0" anchor="t">
            <a:spAutoFit/>
          </a:bodyPr>
          <a:lstStyle/>
          <a:p>
            <a:pPr algn="ctr">
              <a:lnSpc>
                <a:spcPts val="3359"/>
              </a:lnSpc>
              <a:spcBef>
                <a:spcPct val="0"/>
              </a:spcBef>
            </a:pPr>
            <a:r>
              <a:rPr lang="en-US" sz="2399" b="1" dirty="0">
                <a:solidFill>
                  <a:srgbClr val="FFFFFF"/>
                </a:solidFill>
                <a:latin typeface="TT Fors Bold"/>
                <a:ea typeface="TT Fors Bold"/>
                <a:cs typeface="TT Fors Bold"/>
                <a:sym typeface="TT Fors Bold"/>
              </a:rPr>
              <a:t>01</a:t>
            </a:r>
          </a:p>
        </p:txBody>
      </p:sp>
      <p:sp>
        <p:nvSpPr>
          <p:cNvPr id="17" name="Oval 16">
            <a:extLst>
              <a:ext uri="{FF2B5EF4-FFF2-40B4-BE49-F238E27FC236}">
                <a16:creationId xmlns:a16="http://schemas.microsoft.com/office/drawing/2014/main" id="{EA6C312A-0DE8-640D-D630-893931BC3DC5}"/>
              </a:ext>
            </a:extLst>
          </p:cNvPr>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a:extLst>
              <a:ext uri="{FF2B5EF4-FFF2-40B4-BE49-F238E27FC236}">
                <a16:creationId xmlns:a16="http://schemas.microsoft.com/office/drawing/2014/main" id="{2365DFD4-3BE2-04E0-CE98-2CF70EDE989A}"/>
              </a:ext>
            </a:extLst>
          </p:cNvPr>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21" name="Freeform 21"/>
          <p:cNvSpPr/>
          <p:nvPr/>
        </p:nvSpPr>
        <p:spPr>
          <a:xfrm>
            <a:off x="7010400" y="4267740"/>
            <a:ext cx="4462381"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grpSp>
        <p:nvGrpSpPr>
          <p:cNvPr id="27" name="Group 27"/>
          <p:cNvGrpSpPr/>
          <p:nvPr/>
        </p:nvGrpSpPr>
        <p:grpSpPr>
          <a:xfrm>
            <a:off x="3657600" y="3390900"/>
            <a:ext cx="11811000" cy="4800600"/>
            <a:chOff x="0" y="0"/>
            <a:chExt cx="1174449" cy="451556"/>
          </a:xfrm>
        </p:grpSpPr>
        <p:sp>
          <p:nvSpPr>
            <p:cNvPr id="28" name="Freeform 28"/>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29" name="TextBox 29"/>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sp>
        <p:nvSpPr>
          <p:cNvPr id="36" name="TextBox 36"/>
          <p:cNvSpPr txBox="1"/>
          <p:nvPr/>
        </p:nvSpPr>
        <p:spPr>
          <a:xfrm>
            <a:off x="4053312" y="1689466"/>
            <a:ext cx="10181376" cy="622935"/>
          </a:xfrm>
          <a:prstGeom prst="rect">
            <a:avLst/>
          </a:prstGeom>
        </p:spPr>
        <p:txBody>
          <a:bodyPr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Statement Problem</a:t>
            </a:r>
          </a:p>
        </p:txBody>
      </p:sp>
      <p:sp>
        <p:nvSpPr>
          <p:cNvPr id="39" name="TextBox 39"/>
          <p:cNvSpPr txBox="1"/>
          <p:nvPr/>
        </p:nvSpPr>
        <p:spPr>
          <a:xfrm>
            <a:off x="4191000" y="3556067"/>
            <a:ext cx="10843989" cy="4385816"/>
          </a:xfrm>
          <a:prstGeom prst="rect">
            <a:avLst/>
          </a:prstGeom>
        </p:spPr>
        <p:txBody>
          <a:bodyPr wrap="square" lIns="0" tIns="0" rIns="0" bIns="0" rtlCol="0" anchor="t">
            <a:spAutoFit/>
          </a:bodyPr>
          <a:lstStyle>
            <a:defPPr>
              <a:defRPr lang="en-US"/>
            </a:defPPr>
            <a:lvl1pPr>
              <a:lnSpc>
                <a:spcPct val="150000"/>
              </a:lnSpc>
              <a:defRPr sz="1600"/>
            </a:lvl1pPr>
          </a:lstStyle>
          <a:p>
            <a:pPr algn="just"/>
            <a:r>
              <a:rPr lang="en-US" sz="2400" dirty="0">
                <a:latin typeface="TT Fors" panose="020B0604020202020204" charset="0"/>
              </a:rPr>
              <a:t>Skin cancer detection is often delayed due to misdiagnosis, lack of access to dermatologists, and limited understanding of  environmental risk factors. With 1,089 instances of skin lesions in our dataset, we aim to uncover key patterns that link demographics, environmental exposure, and lesion characteristics to different types of skin cancer.</a:t>
            </a:r>
          </a:p>
          <a:p>
            <a:pPr algn="just"/>
            <a:r>
              <a:rPr lang="en-US" sz="2400" dirty="0">
                <a:latin typeface="TT Fors" panose="020B0604020202020204" charset="0"/>
              </a:rPr>
              <a:t>This project  seeks to enhance early-stage diagnosis and machine learning-based decision support by structuring the data for SQL queries, analysis, and model training.</a:t>
            </a:r>
          </a:p>
        </p:txBody>
      </p:sp>
      <p:grpSp>
        <p:nvGrpSpPr>
          <p:cNvPr id="61" name="Group 61"/>
          <p:cNvGrpSpPr/>
          <p:nvPr/>
        </p:nvGrpSpPr>
        <p:grpSpPr>
          <a:xfrm>
            <a:off x="190550" y="5557949"/>
            <a:ext cx="3527510" cy="1708050"/>
            <a:chOff x="-12896355" y="0"/>
            <a:chExt cx="13709155" cy="6638088"/>
          </a:xfrm>
        </p:grpSpPr>
        <p:sp>
          <p:nvSpPr>
            <p:cNvPr id="62" name="Freeform 6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8D54"/>
            </a:solidFill>
          </p:spPr>
          <p:txBody>
            <a:bodyPr/>
            <a:lstStyle/>
            <a:p>
              <a:endParaRPr lang="en-GB"/>
            </a:p>
          </p:txBody>
        </p:sp>
        <p:sp>
          <p:nvSpPr>
            <p:cNvPr id="63" name="TextBox 63"/>
            <p:cNvSpPr txBox="1"/>
            <p:nvPr/>
          </p:nvSpPr>
          <p:spPr>
            <a:xfrm>
              <a:off x="-12896355" y="5930064"/>
              <a:ext cx="660400" cy="708024"/>
            </a:xfrm>
            <a:prstGeom prst="rect">
              <a:avLst/>
            </a:prstGeom>
          </p:spPr>
          <p:txBody>
            <a:bodyPr lIns="50800" tIns="50800" rIns="50800" bIns="50800" rtlCol="0" anchor="ctr"/>
            <a:lstStyle/>
            <a:p>
              <a:pPr marL="0" lvl="0" indent="0" algn="ctr">
                <a:lnSpc>
                  <a:spcPts val="3779"/>
                </a:lnSpc>
                <a:spcBef>
                  <a:spcPct val="0"/>
                </a:spcBef>
              </a:pPr>
              <a:endParaRPr dirty="0"/>
            </a:p>
          </p:txBody>
        </p:sp>
      </p:grpSp>
      <p:sp>
        <p:nvSpPr>
          <p:cNvPr id="2" name="Oval 1">
            <a:extLst>
              <a:ext uri="{FF2B5EF4-FFF2-40B4-BE49-F238E27FC236}">
                <a16:creationId xmlns:a16="http://schemas.microsoft.com/office/drawing/2014/main" id="{47D2F3CC-F413-4D9C-CFF7-44667E17D8C9}"/>
              </a:ext>
            </a:extLst>
          </p:cNvPr>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A0080B90-A267-294E-C941-DAA7276281F8}"/>
              </a:ext>
            </a:extLst>
          </p:cNvPr>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95A06BCD-7CCF-1697-5E11-880BC8B3E50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71D56D6-A973-0C7E-D1EC-6AF0C858D136}"/>
              </a:ext>
            </a:extLst>
          </p:cNvPr>
          <p:cNvGrpSpPr/>
          <p:nvPr/>
        </p:nvGrpSpPr>
        <p:grpSpPr>
          <a:xfrm>
            <a:off x="1118029" y="2062213"/>
            <a:ext cx="1238171" cy="1238171"/>
            <a:chOff x="0" y="0"/>
            <a:chExt cx="812800" cy="812800"/>
          </a:xfrm>
        </p:grpSpPr>
        <p:sp>
          <p:nvSpPr>
            <p:cNvPr id="3" name="Freeform 3">
              <a:extLst>
                <a:ext uri="{FF2B5EF4-FFF2-40B4-BE49-F238E27FC236}">
                  <a16:creationId xmlns:a16="http://schemas.microsoft.com/office/drawing/2014/main" id="{1DECBFCC-3A84-B49F-27AE-D5E57163FB8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359"/>
            </a:solidFill>
          </p:spPr>
          <p:txBody>
            <a:bodyPr/>
            <a:lstStyle/>
            <a:p>
              <a:endParaRPr lang="en-GB"/>
            </a:p>
          </p:txBody>
        </p:sp>
        <p:sp>
          <p:nvSpPr>
            <p:cNvPr id="4" name="TextBox 4">
              <a:extLst>
                <a:ext uri="{FF2B5EF4-FFF2-40B4-BE49-F238E27FC236}">
                  <a16:creationId xmlns:a16="http://schemas.microsoft.com/office/drawing/2014/main" id="{CD9CBA5E-3B00-EF34-2CDC-C89E76A766DA}"/>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dirty="0">
                  <a:solidFill>
                    <a:srgbClr val="FFFFFF"/>
                  </a:solidFill>
                  <a:latin typeface="TT Fors Bold"/>
                  <a:ea typeface="TT Fors Bold"/>
                  <a:cs typeface="TT Fors Bold"/>
                  <a:sym typeface="TT Fors Bold"/>
                </a:rPr>
                <a:t>01</a:t>
              </a:r>
            </a:p>
          </p:txBody>
        </p:sp>
      </p:grpSp>
      <p:grpSp>
        <p:nvGrpSpPr>
          <p:cNvPr id="5" name="Group 5">
            <a:extLst>
              <a:ext uri="{FF2B5EF4-FFF2-40B4-BE49-F238E27FC236}">
                <a16:creationId xmlns:a16="http://schemas.microsoft.com/office/drawing/2014/main" id="{FB99ABB7-39AE-8969-F08B-D8566D6E6FC9}"/>
              </a:ext>
            </a:extLst>
          </p:cNvPr>
          <p:cNvGrpSpPr/>
          <p:nvPr/>
        </p:nvGrpSpPr>
        <p:grpSpPr>
          <a:xfrm>
            <a:off x="6874912" y="2748112"/>
            <a:ext cx="1238171" cy="1238171"/>
            <a:chOff x="0" y="0"/>
            <a:chExt cx="812800" cy="812800"/>
          </a:xfrm>
        </p:grpSpPr>
        <p:sp>
          <p:nvSpPr>
            <p:cNvPr id="6" name="Freeform 6">
              <a:extLst>
                <a:ext uri="{FF2B5EF4-FFF2-40B4-BE49-F238E27FC236}">
                  <a16:creationId xmlns:a16="http://schemas.microsoft.com/office/drawing/2014/main" id="{0340AC8C-01E1-2D57-D0B2-F7F5C1841AA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8D54"/>
            </a:solidFill>
          </p:spPr>
          <p:txBody>
            <a:bodyPr/>
            <a:lstStyle/>
            <a:p>
              <a:endParaRPr lang="en-GB"/>
            </a:p>
          </p:txBody>
        </p:sp>
        <p:sp>
          <p:nvSpPr>
            <p:cNvPr id="7" name="TextBox 7">
              <a:extLst>
                <a:ext uri="{FF2B5EF4-FFF2-40B4-BE49-F238E27FC236}">
                  <a16:creationId xmlns:a16="http://schemas.microsoft.com/office/drawing/2014/main" id="{BF59BBD7-029F-41D0-E99D-E22869A1E75E}"/>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u="none" strike="noStrike" dirty="0">
                  <a:solidFill>
                    <a:srgbClr val="122359"/>
                  </a:solidFill>
                  <a:latin typeface="TT Fors Bold"/>
                  <a:ea typeface="TT Fors Bold"/>
                  <a:cs typeface="TT Fors Bold"/>
                  <a:sym typeface="TT Fors Bold"/>
                </a:rPr>
                <a:t>01</a:t>
              </a:r>
            </a:p>
          </p:txBody>
        </p:sp>
      </p:grpSp>
      <p:grpSp>
        <p:nvGrpSpPr>
          <p:cNvPr id="8" name="Group 8">
            <a:extLst>
              <a:ext uri="{FF2B5EF4-FFF2-40B4-BE49-F238E27FC236}">
                <a16:creationId xmlns:a16="http://schemas.microsoft.com/office/drawing/2014/main" id="{19E6BB64-0EFD-9F5D-8E5D-6598B4FC74E3}"/>
              </a:ext>
            </a:extLst>
          </p:cNvPr>
          <p:cNvGrpSpPr/>
          <p:nvPr/>
        </p:nvGrpSpPr>
        <p:grpSpPr>
          <a:xfrm>
            <a:off x="1118029" y="4274875"/>
            <a:ext cx="1238171" cy="1238171"/>
            <a:chOff x="0" y="0"/>
            <a:chExt cx="812800" cy="812800"/>
          </a:xfrm>
        </p:grpSpPr>
        <p:sp>
          <p:nvSpPr>
            <p:cNvPr id="9" name="Freeform 9">
              <a:extLst>
                <a:ext uri="{FF2B5EF4-FFF2-40B4-BE49-F238E27FC236}">
                  <a16:creationId xmlns:a16="http://schemas.microsoft.com/office/drawing/2014/main" id="{D325DE37-9F54-5177-274B-B007DFC4E8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6198"/>
            </a:solidFill>
          </p:spPr>
          <p:txBody>
            <a:bodyPr/>
            <a:lstStyle/>
            <a:p>
              <a:endParaRPr lang="en-GB"/>
            </a:p>
          </p:txBody>
        </p:sp>
        <p:sp>
          <p:nvSpPr>
            <p:cNvPr id="10" name="TextBox 10">
              <a:extLst>
                <a:ext uri="{FF2B5EF4-FFF2-40B4-BE49-F238E27FC236}">
                  <a16:creationId xmlns:a16="http://schemas.microsoft.com/office/drawing/2014/main" id="{1C21C717-88DA-E5DA-80FF-FD9149973497}"/>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a:solidFill>
                    <a:srgbClr val="FFFFFF"/>
                  </a:solidFill>
                  <a:latin typeface="TT Fors Bold"/>
                  <a:ea typeface="TT Fors Bold"/>
                  <a:cs typeface="TT Fors Bold"/>
                  <a:sym typeface="TT Fors Bold"/>
                </a:rPr>
                <a:t>02</a:t>
              </a:r>
            </a:p>
          </p:txBody>
        </p:sp>
      </p:grpSp>
      <p:grpSp>
        <p:nvGrpSpPr>
          <p:cNvPr id="11" name="Group 11">
            <a:extLst>
              <a:ext uri="{FF2B5EF4-FFF2-40B4-BE49-F238E27FC236}">
                <a16:creationId xmlns:a16="http://schemas.microsoft.com/office/drawing/2014/main" id="{2FFBEFF3-44F9-793F-9B45-EED38CD366F9}"/>
              </a:ext>
            </a:extLst>
          </p:cNvPr>
          <p:cNvGrpSpPr/>
          <p:nvPr/>
        </p:nvGrpSpPr>
        <p:grpSpPr>
          <a:xfrm>
            <a:off x="6874912" y="4960774"/>
            <a:ext cx="1238171" cy="1238171"/>
            <a:chOff x="0" y="0"/>
            <a:chExt cx="812800" cy="812800"/>
          </a:xfrm>
        </p:grpSpPr>
        <p:sp>
          <p:nvSpPr>
            <p:cNvPr id="12" name="Freeform 12">
              <a:extLst>
                <a:ext uri="{FF2B5EF4-FFF2-40B4-BE49-F238E27FC236}">
                  <a16:creationId xmlns:a16="http://schemas.microsoft.com/office/drawing/2014/main" id="{AB07C414-6AB5-88A1-2EE5-911206F0AD5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7DED6"/>
            </a:solidFill>
          </p:spPr>
          <p:txBody>
            <a:bodyPr/>
            <a:lstStyle/>
            <a:p>
              <a:endParaRPr lang="en-GB"/>
            </a:p>
          </p:txBody>
        </p:sp>
        <p:sp>
          <p:nvSpPr>
            <p:cNvPr id="13" name="TextBox 13">
              <a:extLst>
                <a:ext uri="{FF2B5EF4-FFF2-40B4-BE49-F238E27FC236}">
                  <a16:creationId xmlns:a16="http://schemas.microsoft.com/office/drawing/2014/main" id="{947DA942-99A0-A50B-0017-65A112A1245B}"/>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u="none" strike="noStrike" dirty="0">
                  <a:solidFill>
                    <a:srgbClr val="122359"/>
                  </a:solidFill>
                  <a:latin typeface="TT Fors Bold"/>
                  <a:ea typeface="TT Fors Bold"/>
                  <a:cs typeface="TT Fors Bold"/>
                  <a:sym typeface="TT Fors Bold"/>
                </a:rPr>
                <a:t>02</a:t>
              </a:r>
            </a:p>
          </p:txBody>
        </p:sp>
      </p:grpSp>
      <p:grpSp>
        <p:nvGrpSpPr>
          <p:cNvPr id="14" name="Group 14">
            <a:extLst>
              <a:ext uri="{FF2B5EF4-FFF2-40B4-BE49-F238E27FC236}">
                <a16:creationId xmlns:a16="http://schemas.microsoft.com/office/drawing/2014/main" id="{F0DC9386-27AE-35F4-0C51-60A201B7556A}"/>
              </a:ext>
            </a:extLst>
          </p:cNvPr>
          <p:cNvGrpSpPr/>
          <p:nvPr/>
        </p:nvGrpSpPr>
        <p:grpSpPr>
          <a:xfrm>
            <a:off x="1134618" y="6492561"/>
            <a:ext cx="1238171" cy="1238171"/>
            <a:chOff x="0" y="0"/>
            <a:chExt cx="812800" cy="812800"/>
          </a:xfrm>
        </p:grpSpPr>
        <p:sp>
          <p:nvSpPr>
            <p:cNvPr id="15" name="Freeform 15">
              <a:extLst>
                <a:ext uri="{FF2B5EF4-FFF2-40B4-BE49-F238E27FC236}">
                  <a16:creationId xmlns:a16="http://schemas.microsoft.com/office/drawing/2014/main" id="{C23C0266-CF3D-70C4-7B71-C63A678DE8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EC8D9"/>
            </a:solidFill>
          </p:spPr>
          <p:txBody>
            <a:bodyPr/>
            <a:lstStyle/>
            <a:p>
              <a:endParaRPr lang="en-GB"/>
            </a:p>
          </p:txBody>
        </p:sp>
        <p:sp>
          <p:nvSpPr>
            <p:cNvPr id="16" name="TextBox 16">
              <a:extLst>
                <a:ext uri="{FF2B5EF4-FFF2-40B4-BE49-F238E27FC236}">
                  <a16:creationId xmlns:a16="http://schemas.microsoft.com/office/drawing/2014/main" id="{E9BCBF78-5AD5-3DC8-10EC-9C8C3D170B72}"/>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a:solidFill>
                    <a:srgbClr val="122359"/>
                  </a:solidFill>
                  <a:latin typeface="TT Fors Bold"/>
                  <a:ea typeface="TT Fors Bold"/>
                  <a:cs typeface="TT Fors Bold"/>
                  <a:sym typeface="TT Fors Bold"/>
                </a:rPr>
                <a:t>03</a:t>
              </a:r>
            </a:p>
          </p:txBody>
        </p:sp>
      </p:grpSp>
      <p:grpSp>
        <p:nvGrpSpPr>
          <p:cNvPr id="17" name="Group 17">
            <a:extLst>
              <a:ext uri="{FF2B5EF4-FFF2-40B4-BE49-F238E27FC236}">
                <a16:creationId xmlns:a16="http://schemas.microsoft.com/office/drawing/2014/main" id="{582A43BD-29D2-05D1-AEA3-D12698DF6126}"/>
              </a:ext>
            </a:extLst>
          </p:cNvPr>
          <p:cNvGrpSpPr/>
          <p:nvPr/>
        </p:nvGrpSpPr>
        <p:grpSpPr>
          <a:xfrm>
            <a:off x="6891501" y="7178460"/>
            <a:ext cx="1238171" cy="1238171"/>
            <a:chOff x="0" y="0"/>
            <a:chExt cx="812800" cy="812800"/>
          </a:xfrm>
        </p:grpSpPr>
        <p:sp>
          <p:nvSpPr>
            <p:cNvPr id="18" name="Freeform 18">
              <a:extLst>
                <a:ext uri="{FF2B5EF4-FFF2-40B4-BE49-F238E27FC236}">
                  <a16:creationId xmlns:a16="http://schemas.microsoft.com/office/drawing/2014/main" id="{3D36B917-982D-2D8A-26B8-DA2D80E3546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F6EF"/>
            </a:solidFill>
          </p:spPr>
          <p:txBody>
            <a:bodyPr/>
            <a:lstStyle/>
            <a:p>
              <a:endParaRPr lang="en-GB"/>
            </a:p>
          </p:txBody>
        </p:sp>
        <p:sp>
          <p:nvSpPr>
            <p:cNvPr id="19" name="TextBox 19">
              <a:extLst>
                <a:ext uri="{FF2B5EF4-FFF2-40B4-BE49-F238E27FC236}">
                  <a16:creationId xmlns:a16="http://schemas.microsoft.com/office/drawing/2014/main" id="{026B1AAD-CAA5-07E8-C7CF-FFB70EFEB6BD}"/>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u="none" strike="noStrike" dirty="0">
                  <a:solidFill>
                    <a:srgbClr val="122359"/>
                  </a:solidFill>
                  <a:latin typeface="TT Fors Bold"/>
                  <a:ea typeface="TT Fors Bold"/>
                  <a:cs typeface="TT Fors Bold"/>
                  <a:sym typeface="TT Fors Bold"/>
                </a:rPr>
                <a:t>03</a:t>
              </a:r>
            </a:p>
          </p:txBody>
        </p:sp>
      </p:grpSp>
      <p:sp>
        <p:nvSpPr>
          <p:cNvPr id="20" name="Freeform 20">
            <a:extLst>
              <a:ext uri="{FF2B5EF4-FFF2-40B4-BE49-F238E27FC236}">
                <a16:creationId xmlns:a16="http://schemas.microsoft.com/office/drawing/2014/main" id="{04BC59B3-AD23-072A-828F-C64B4495462F}"/>
              </a:ext>
            </a:extLst>
          </p:cNvPr>
          <p:cNvSpPr/>
          <p:nvPr/>
        </p:nvSpPr>
        <p:spPr>
          <a:xfrm>
            <a:off x="2535958" y="2943660"/>
            <a:ext cx="2471763"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21" name="Freeform 21">
            <a:extLst>
              <a:ext uri="{FF2B5EF4-FFF2-40B4-BE49-F238E27FC236}">
                <a16:creationId xmlns:a16="http://schemas.microsoft.com/office/drawing/2014/main" id="{86858DFB-F283-80D8-D6A1-B8A96685C44D}"/>
              </a:ext>
            </a:extLst>
          </p:cNvPr>
          <p:cNvSpPr/>
          <p:nvPr/>
        </p:nvSpPr>
        <p:spPr>
          <a:xfrm>
            <a:off x="8314033" y="3607429"/>
            <a:ext cx="2622875"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22" name="Freeform 22">
            <a:extLst>
              <a:ext uri="{FF2B5EF4-FFF2-40B4-BE49-F238E27FC236}">
                <a16:creationId xmlns:a16="http://schemas.microsoft.com/office/drawing/2014/main" id="{05B1F726-CAAF-F8EB-7C89-AE4D3EC92190}"/>
              </a:ext>
            </a:extLst>
          </p:cNvPr>
          <p:cNvSpPr/>
          <p:nvPr/>
        </p:nvSpPr>
        <p:spPr>
          <a:xfrm>
            <a:off x="2535959" y="5161346"/>
            <a:ext cx="2219576"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23" name="Freeform 23">
            <a:extLst>
              <a:ext uri="{FF2B5EF4-FFF2-40B4-BE49-F238E27FC236}">
                <a16:creationId xmlns:a16="http://schemas.microsoft.com/office/drawing/2014/main" id="{D7CDFE01-7BDD-1994-B39E-80033D2F20C8}"/>
              </a:ext>
            </a:extLst>
          </p:cNvPr>
          <p:cNvSpPr/>
          <p:nvPr/>
        </p:nvSpPr>
        <p:spPr>
          <a:xfrm>
            <a:off x="8314034" y="5825115"/>
            <a:ext cx="2156858"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grpSp>
        <p:nvGrpSpPr>
          <p:cNvPr id="24" name="Group 24">
            <a:extLst>
              <a:ext uri="{FF2B5EF4-FFF2-40B4-BE49-F238E27FC236}">
                <a16:creationId xmlns:a16="http://schemas.microsoft.com/office/drawing/2014/main" id="{152954B9-0B27-F846-5D9F-5B523686E80A}"/>
              </a:ext>
            </a:extLst>
          </p:cNvPr>
          <p:cNvGrpSpPr/>
          <p:nvPr/>
        </p:nvGrpSpPr>
        <p:grpSpPr>
          <a:xfrm>
            <a:off x="2539105" y="1894957"/>
            <a:ext cx="2514810" cy="1714500"/>
            <a:chOff x="0" y="0"/>
            <a:chExt cx="1174449" cy="451556"/>
          </a:xfrm>
        </p:grpSpPr>
        <p:sp>
          <p:nvSpPr>
            <p:cNvPr id="25" name="Freeform 25">
              <a:extLst>
                <a:ext uri="{FF2B5EF4-FFF2-40B4-BE49-F238E27FC236}">
                  <a16:creationId xmlns:a16="http://schemas.microsoft.com/office/drawing/2014/main" id="{51413E7D-9D42-ADF8-F77F-D85CF81E416E}"/>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26" name="TextBox 26">
              <a:extLst>
                <a:ext uri="{FF2B5EF4-FFF2-40B4-BE49-F238E27FC236}">
                  <a16:creationId xmlns:a16="http://schemas.microsoft.com/office/drawing/2014/main" id="{CA2DEE59-ACB1-88F5-1260-FCEB5A956785}"/>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grpSp>
        <p:nvGrpSpPr>
          <p:cNvPr id="27" name="Group 27">
            <a:extLst>
              <a:ext uri="{FF2B5EF4-FFF2-40B4-BE49-F238E27FC236}">
                <a16:creationId xmlns:a16="http://schemas.microsoft.com/office/drawing/2014/main" id="{0671EA34-9345-7B4D-E4FD-13E4CDC06933}"/>
              </a:ext>
            </a:extLst>
          </p:cNvPr>
          <p:cNvGrpSpPr/>
          <p:nvPr/>
        </p:nvGrpSpPr>
        <p:grpSpPr>
          <a:xfrm>
            <a:off x="8317179" y="2558726"/>
            <a:ext cx="2622874" cy="1714500"/>
            <a:chOff x="0" y="0"/>
            <a:chExt cx="1174449" cy="451556"/>
          </a:xfrm>
        </p:grpSpPr>
        <p:sp>
          <p:nvSpPr>
            <p:cNvPr id="28" name="Freeform 28">
              <a:extLst>
                <a:ext uri="{FF2B5EF4-FFF2-40B4-BE49-F238E27FC236}">
                  <a16:creationId xmlns:a16="http://schemas.microsoft.com/office/drawing/2014/main" id="{D594AEDE-B512-E99F-D0E0-015789CA5D20}"/>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dirty="0"/>
            </a:p>
          </p:txBody>
        </p:sp>
        <p:sp>
          <p:nvSpPr>
            <p:cNvPr id="29" name="TextBox 29">
              <a:extLst>
                <a:ext uri="{FF2B5EF4-FFF2-40B4-BE49-F238E27FC236}">
                  <a16:creationId xmlns:a16="http://schemas.microsoft.com/office/drawing/2014/main" id="{54C4F760-0A5B-0A92-099B-4607988529DC}"/>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grpSp>
        <p:nvGrpSpPr>
          <p:cNvPr id="30" name="Group 30">
            <a:extLst>
              <a:ext uri="{FF2B5EF4-FFF2-40B4-BE49-F238E27FC236}">
                <a16:creationId xmlns:a16="http://schemas.microsoft.com/office/drawing/2014/main" id="{F526797C-E2DB-3BC2-A409-6A640C6B9426}"/>
              </a:ext>
            </a:extLst>
          </p:cNvPr>
          <p:cNvGrpSpPr/>
          <p:nvPr/>
        </p:nvGrpSpPr>
        <p:grpSpPr>
          <a:xfrm>
            <a:off x="2539104" y="4112643"/>
            <a:ext cx="2514811" cy="1714500"/>
            <a:chOff x="0" y="0"/>
            <a:chExt cx="1174449" cy="451556"/>
          </a:xfrm>
        </p:grpSpPr>
        <p:sp>
          <p:nvSpPr>
            <p:cNvPr id="31" name="Freeform 31">
              <a:extLst>
                <a:ext uri="{FF2B5EF4-FFF2-40B4-BE49-F238E27FC236}">
                  <a16:creationId xmlns:a16="http://schemas.microsoft.com/office/drawing/2014/main" id="{1604C842-9C3D-A1C8-3AEA-E4057A21B857}"/>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32" name="TextBox 32">
              <a:extLst>
                <a:ext uri="{FF2B5EF4-FFF2-40B4-BE49-F238E27FC236}">
                  <a16:creationId xmlns:a16="http://schemas.microsoft.com/office/drawing/2014/main" id="{6C99A18A-4DAA-355C-31CD-30A1AC108238}"/>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grpSp>
        <p:nvGrpSpPr>
          <p:cNvPr id="33" name="Group 33">
            <a:extLst>
              <a:ext uri="{FF2B5EF4-FFF2-40B4-BE49-F238E27FC236}">
                <a16:creationId xmlns:a16="http://schemas.microsoft.com/office/drawing/2014/main" id="{4F1CE774-2DBC-A8F8-0653-9DEA09802C8D}"/>
              </a:ext>
            </a:extLst>
          </p:cNvPr>
          <p:cNvGrpSpPr/>
          <p:nvPr/>
        </p:nvGrpSpPr>
        <p:grpSpPr>
          <a:xfrm>
            <a:off x="8317179" y="4776412"/>
            <a:ext cx="2619730" cy="1714500"/>
            <a:chOff x="0" y="0"/>
            <a:chExt cx="1174449" cy="451556"/>
          </a:xfrm>
        </p:grpSpPr>
        <p:sp>
          <p:nvSpPr>
            <p:cNvPr id="34" name="Freeform 34">
              <a:extLst>
                <a:ext uri="{FF2B5EF4-FFF2-40B4-BE49-F238E27FC236}">
                  <a16:creationId xmlns:a16="http://schemas.microsoft.com/office/drawing/2014/main" id="{0496B610-5B4D-4331-5A09-D471F3B8B7F0}"/>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35" name="TextBox 35">
              <a:extLst>
                <a:ext uri="{FF2B5EF4-FFF2-40B4-BE49-F238E27FC236}">
                  <a16:creationId xmlns:a16="http://schemas.microsoft.com/office/drawing/2014/main" id="{418A84B9-71F0-B1FD-82AC-3C92ECFE1640}"/>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sp>
        <p:nvSpPr>
          <p:cNvPr id="36" name="TextBox 36">
            <a:extLst>
              <a:ext uri="{FF2B5EF4-FFF2-40B4-BE49-F238E27FC236}">
                <a16:creationId xmlns:a16="http://schemas.microsoft.com/office/drawing/2014/main" id="{C5CA334B-49B6-5161-7350-714CA14B57D8}"/>
              </a:ext>
            </a:extLst>
          </p:cNvPr>
          <p:cNvSpPr txBox="1"/>
          <p:nvPr/>
        </p:nvSpPr>
        <p:spPr>
          <a:xfrm>
            <a:off x="3939468" y="170991"/>
            <a:ext cx="10181376" cy="622935"/>
          </a:xfrm>
          <a:prstGeom prst="rect">
            <a:avLst/>
          </a:prstGeom>
        </p:spPr>
        <p:txBody>
          <a:bodyPr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Questions Answered</a:t>
            </a:r>
          </a:p>
        </p:txBody>
      </p:sp>
      <p:sp>
        <p:nvSpPr>
          <p:cNvPr id="37" name="TextBox 37">
            <a:extLst>
              <a:ext uri="{FF2B5EF4-FFF2-40B4-BE49-F238E27FC236}">
                <a16:creationId xmlns:a16="http://schemas.microsoft.com/office/drawing/2014/main" id="{CA78C948-4839-CE4E-3DAE-AB4D65279373}"/>
              </a:ext>
            </a:extLst>
          </p:cNvPr>
          <p:cNvSpPr txBox="1"/>
          <p:nvPr/>
        </p:nvSpPr>
        <p:spPr>
          <a:xfrm>
            <a:off x="3939468" y="779232"/>
            <a:ext cx="10181376" cy="356235"/>
          </a:xfrm>
          <a:prstGeom prst="rect">
            <a:avLst/>
          </a:prstGeom>
        </p:spPr>
        <p:txBody>
          <a:bodyPr lIns="0" tIns="0" rIns="0" bIns="0" rtlCol="0" anchor="t">
            <a:spAutoFit/>
          </a:bodyPr>
          <a:lstStyle/>
          <a:p>
            <a:pPr algn="ctr">
              <a:lnSpc>
                <a:spcPts val="2940"/>
              </a:lnSpc>
              <a:spcBef>
                <a:spcPct val="0"/>
              </a:spcBef>
            </a:pPr>
            <a:r>
              <a:rPr lang="en-US" sz="2100" dirty="0">
                <a:latin typeface="TT Fors"/>
                <a:ea typeface="TT Fors"/>
                <a:cs typeface="TT Fors"/>
                <a:sym typeface="TT Fors"/>
              </a:rPr>
              <a:t>The questions answered were divided into three categories:</a:t>
            </a:r>
          </a:p>
        </p:txBody>
      </p:sp>
      <p:sp>
        <p:nvSpPr>
          <p:cNvPr id="38" name="TextBox 38">
            <a:extLst>
              <a:ext uri="{FF2B5EF4-FFF2-40B4-BE49-F238E27FC236}">
                <a16:creationId xmlns:a16="http://schemas.microsoft.com/office/drawing/2014/main" id="{67402ECA-FAD1-C769-D588-00DFCA955623}"/>
              </a:ext>
            </a:extLst>
          </p:cNvPr>
          <p:cNvSpPr txBox="1"/>
          <p:nvPr/>
        </p:nvSpPr>
        <p:spPr>
          <a:xfrm>
            <a:off x="2807305" y="2339321"/>
            <a:ext cx="1929067" cy="1119474"/>
          </a:xfrm>
          <a:prstGeom prst="rect">
            <a:avLst/>
          </a:prstGeom>
        </p:spPr>
        <p:txBody>
          <a:bodyPr wrap="square" lIns="0" tIns="0" rIns="0" bIns="0" rtlCol="0" anchor="t">
            <a:spAutoFit/>
          </a:bodyPr>
          <a:lstStyle/>
          <a:p>
            <a:pPr>
              <a:lnSpc>
                <a:spcPts val="2239"/>
              </a:lnSpc>
              <a:spcBef>
                <a:spcPct val="0"/>
              </a:spcBef>
            </a:pPr>
            <a:r>
              <a:rPr lang="en-GB" sz="1599" dirty="0">
                <a:solidFill>
                  <a:srgbClr val="000000"/>
                </a:solidFill>
                <a:latin typeface="TT Fors"/>
                <a:ea typeface="TT Fors"/>
                <a:cs typeface="TT Fors"/>
                <a:sym typeface="TT Fors"/>
              </a:rPr>
              <a:t>What is the age distribution of patients with skin cancer?</a:t>
            </a:r>
            <a:endParaRPr lang="en-US" sz="1599" dirty="0">
              <a:solidFill>
                <a:srgbClr val="000000"/>
              </a:solidFill>
              <a:latin typeface="TT Fors"/>
              <a:ea typeface="TT Fors"/>
              <a:cs typeface="TT Fors"/>
              <a:sym typeface="TT Fors"/>
            </a:endParaRPr>
          </a:p>
        </p:txBody>
      </p:sp>
      <p:sp>
        <p:nvSpPr>
          <p:cNvPr id="40" name="TextBox 40">
            <a:extLst>
              <a:ext uri="{FF2B5EF4-FFF2-40B4-BE49-F238E27FC236}">
                <a16:creationId xmlns:a16="http://schemas.microsoft.com/office/drawing/2014/main" id="{717EAA75-3369-38BF-74DB-BB118480FFEF}"/>
              </a:ext>
            </a:extLst>
          </p:cNvPr>
          <p:cNvSpPr txBox="1"/>
          <p:nvPr/>
        </p:nvSpPr>
        <p:spPr>
          <a:xfrm>
            <a:off x="2874411" y="4549121"/>
            <a:ext cx="1515778" cy="1119474"/>
          </a:xfrm>
          <a:prstGeom prst="rect">
            <a:avLst/>
          </a:prstGeom>
        </p:spPr>
        <p:txBody>
          <a:bodyPr wrap="square" lIns="0" tIns="0" rIns="0" bIns="0" rtlCol="0" anchor="t">
            <a:spAutoFit/>
          </a:bodyPr>
          <a:lstStyle/>
          <a:p>
            <a:pPr>
              <a:lnSpc>
                <a:spcPts val="2239"/>
              </a:lnSpc>
              <a:spcBef>
                <a:spcPct val="0"/>
              </a:spcBef>
            </a:pPr>
            <a:r>
              <a:rPr lang="en-GB" sz="1599" dirty="0">
                <a:solidFill>
                  <a:srgbClr val="000000"/>
                </a:solidFill>
                <a:latin typeface="TT Fors"/>
                <a:ea typeface="TT Fors"/>
                <a:cs typeface="TT Fors"/>
                <a:sym typeface="TT Fors"/>
              </a:rPr>
              <a:t>Which gender has more diagnosed skin cancer cases?</a:t>
            </a:r>
            <a:endParaRPr lang="en-US" sz="1599" dirty="0">
              <a:solidFill>
                <a:srgbClr val="000000"/>
              </a:solidFill>
              <a:latin typeface="TT Fors"/>
              <a:ea typeface="TT Fors"/>
              <a:cs typeface="TT Fors"/>
              <a:sym typeface="TT Fors"/>
            </a:endParaRPr>
          </a:p>
        </p:txBody>
      </p:sp>
      <p:sp>
        <p:nvSpPr>
          <p:cNvPr id="41" name="TextBox 41">
            <a:extLst>
              <a:ext uri="{FF2B5EF4-FFF2-40B4-BE49-F238E27FC236}">
                <a16:creationId xmlns:a16="http://schemas.microsoft.com/office/drawing/2014/main" id="{BD48D4DD-037B-BD71-570D-F2455D362BC6}"/>
              </a:ext>
            </a:extLst>
          </p:cNvPr>
          <p:cNvSpPr txBox="1"/>
          <p:nvPr/>
        </p:nvSpPr>
        <p:spPr>
          <a:xfrm>
            <a:off x="8559500" y="5205032"/>
            <a:ext cx="2182211" cy="1119474"/>
          </a:xfrm>
          <a:prstGeom prst="rect">
            <a:avLst/>
          </a:prstGeom>
        </p:spPr>
        <p:txBody>
          <a:bodyPr wrap="square" lIns="0" tIns="0" rIns="0" bIns="0" rtlCol="0" anchor="t">
            <a:spAutoFit/>
          </a:bodyPr>
          <a:lstStyle/>
          <a:p>
            <a:pPr>
              <a:lnSpc>
                <a:spcPts val="2239"/>
              </a:lnSpc>
              <a:spcBef>
                <a:spcPct val="0"/>
              </a:spcBef>
            </a:pPr>
            <a:r>
              <a:rPr lang="en-GB" sz="1599" dirty="0">
                <a:solidFill>
                  <a:srgbClr val="000000"/>
                </a:solidFill>
                <a:latin typeface="TT Fors"/>
                <a:ea typeface="TT Fors"/>
                <a:cs typeface="TT Fors"/>
                <a:sym typeface="TT Fors"/>
              </a:rPr>
              <a:t>Does access to piped water or sewage system affect diagnosis rates?</a:t>
            </a:r>
            <a:endParaRPr lang="en-US" sz="1599" dirty="0">
              <a:solidFill>
                <a:srgbClr val="000000"/>
              </a:solidFill>
              <a:latin typeface="TT Fors"/>
              <a:ea typeface="TT Fors"/>
              <a:cs typeface="TT Fors"/>
              <a:sym typeface="TT Fors"/>
            </a:endParaRPr>
          </a:p>
        </p:txBody>
      </p:sp>
      <p:sp>
        <p:nvSpPr>
          <p:cNvPr id="42" name="TextBox 42">
            <a:extLst>
              <a:ext uri="{FF2B5EF4-FFF2-40B4-BE49-F238E27FC236}">
                <a16:creationId xmlns:a16="http://schemas.microsoft.com/office/drawing/2014/main" id="{C3DC481F-C127-9920-5666-CB2147E5C390}"/>
              </a:ext>
            </a:extLst>
          </p:cNvPr>
          <p:cNvSpPr txBox="1"/>
          <p:nvPr/>
        </p:nvSpPr>
        <p:spPr>
          <a:xfrm>
            <a:off x="2819400" y="2015919"/>
            <a:ext cx="4083805" cy="306705"/>
          </a:xfrm>
          <a:prstGeom prst="rect">
            <a:avLst/>
          </a:prstGeom>
        </p:spPr>
        <p:txBody>
          <a:bodyPr lIns="0" tIns="0" rIns="0" bIns="0" rtlCol="0" anchor="t">
            <a:spAutoFit/>
          </a:bodyPr>
          <a:lstStyle/>
          <a:p>
            <a:pPr algn="l">
              <a:lnSpc>
                <a:spcPts val="2519"/>
              </a:lnSpc>
              <a:spcBef>
                <a:spcPct val="0"/>
              </a:spcBef>
            </a:pPr>
            <a:r>
              <a:rPr lang="en-US" sz="1799" b="1" dirty="0">
                <a:solidFill>
                  <a:srgbClr val="000000"/>
                </a:solidFill>
                <a:latin typeface="TT Fors Bold"/>
                <a:ea typeface="TT Fors Bold"/>
                <a:cs typeface="TT Fors Bold"/>
                <a:sym typeface="TT Fors Bold"/>
              </a:rPr>
              <a:t>Age</a:t>
            </a:r>
          </a:p>
        </p:txBody>
      </p:sp>
      <p:sp>
        <p:nvSpPr>
          <p:cNvPr id="44" name="TextBox 44">
            <a:extLst>
              <a:ext uri="{FF2B5EF4-FFF2-40B4-BE49-F238E27FC236}">
                <a16:creationId xmlns:a16="http://schemas.microsoft.com/office/drawing/2014/main" id="{30B1DB1D-288B-CB50-443D-4EF4EB73D84C}"/>
              </a:ext>
            </a:extLst>
          </p:cNvPr>
          <p:cNvSpPr txBox="1"/>
          <p:nvPr/>
        </p:nvSpPr>
        <p:spPr>
          <a:xfrm>
            <a:off x="2862772" y="4259849"/>
            <a:ext cx="4083805" cy="306705"/>
          </a:xfrm>
          <a:prstGeom prst="rect">
            <a:avLst/>
          </a:prstGeom>
        </p:spPr>
        <p:txBody>
          <a:bodyPr lIns="0" tIns="0" rIns="0" bIns="0" rtlCol="0" anchor="t">
            <a:spAutoFit/>
          </a:bodyPr>
          <a:lstStyle/>
          <a:p>
            <a:pPr algn="l">
              <a:lnSpc>
                <a:spcPts val="2519"/>
              </a:lnSpc>
              <a:spcBef>
                <a:spcPct val="0"/>
              </a:spcBef>
            </a:pPr>
            <a:r>
              <a:rPr lang="en-US" sz="1799" b="1" dirty="0">
                <a:solidFill>
                  <a:srgbClr val="000000"/>
                </a:solidFill>
                <a:latin typeface="TT Fors Bold"/>
                <a:ea typeface="TT Fors Bold"/>
                <a:cs typeface="TT Fors Bold"/>
                <a:sym typeface="TT Fors Bold"/>
              </a:rPr>
              <a:t>Gender</a:t>
            </a:r>
          </a:p>
        </p:txBody>
      </p:sp>
      <p:sp>
        <p:nvSpPr>
          <p:cNvPr id="45" name="TextBox 45">
            <a:extLst>
              <a:ext uri="{FF2B5EF4-FFF2-40B4-BE49-F238E27FC236}">
                <a16:creationId xmlns:a16="http://schemas.microsoft.com/office/drawing/2014/main" id="{40DBF61C-1C3C-D7A3-3880-08421E7D6EF9}"/>
              </a:ext>
            </a:extLst>
          </p:cNvPr>
          <p:cNvSpPr txBox="1"/>
          <p:nvPr/>
        </p:nvSpPr>
        <p:spPr>
          <a:xfrm>
            <a:off x="8573748" y="4858340"/>
            <a:ext cx="4713633" cy="309637"/>
          </a:xfrm>
          <a:prstGeom prst="rect">
            <a:avLst/>
          </a:prstGeom>
        </p:spPr>
        <p:txBody>
          <a:bodyPr wrap="square" lIns="0" tIns="0" rIns="0" bIns="0" rtlCol="0" anchor="t">
            <a:spAutoFit/>
          </a:bodyPr>
          <a:lstStyle/>
          <a:p>
            <a:pPr>
              <a:lnSpc>
                <a:spcPts val="2519"/>
              </a:lnSpc>
              <a:spcBef>
                <a:spcPct val="0"/>
              </a:spcBef>
            </a:pPr>
            <a:r>
              <a:rPr lang="en-GB" sz="1799" b="1" dirty="0">
                <a:solidFill>
                  <a:srgbClr val="000000"/>
                </a:solidFill>
                <a:latin typeface="TT Fors Bold"/>
                <a:ea typeface="TT Fors Bold"/>
                <a:cs typeface="TT Fors Bold"/>
                <a:sym typeface="TT Fors Bold"/>
              </a:rPr>
              <a:t>Facilities</a:t>
            </a:r>
            <a:endParaRPr lang="en-US" sz="1799" b="1" dirty="0">
              <a:solidFill>
                <a:srgbClr val="000000"/>
              </a:solidFill>
              <a:latin typeface="TT Fors Bold"/>
              <a:sym typeface="TT Fors Bold"/>
            </a:endParaRPr>
          </a:p>
        </p:txBody>
      </p:sp>
      <p:sp>
        <p:nvSpPr>
          <p:cNvPr id="46" name="Freeform 46">
            <a:extLst>
              <a:ext uri="{FF2B5EF4-FFF2-40B4-BE49-F238E27FC236}">
                <a16:creationId xmlns:a16="http://schemas.microsoft.com/office/drawing/2014/main" id="{1E37F136-4884-0348-F73F-1E82E04C11FF}"/>
              </a:ext>
            </a:extLst>
          </p:cNvPr>
          <p:cNvSpPr/>
          <p:nvPr/>
        </p:nvSpPr>
        <p:spPr>
          <a:xfrm>
            <a:off x="2535959" y="7379032"/>
            <a:ext cx="2200414"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47" name="Freeform 47">
            <a:extLst>
              <a:ext uri="{FF2B5EF4-FFF2-40B4-BE49-F238E27FC236}">
                <a16:creationId xmlns:a16="http://schemas.microsoft.com/office/drawing/2014/main" id="{4872BFCA-8543-0360-E7BB-538A3DD7A91F}"/>
              </a:ext>
            </a:extLst>
          </p:cNvPr>
          <p:cNvSpPr/>
          <p:nvPr/>
        </p:nvSpPr>
        <p:spPr>
          <a:xfrm>
            <a:off x="8314033" y="8042801"/>
            <a:ext cx="2434175"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grpSp>
        <p:nvGrpSpPr>
          <p:cNvPr id="48" name="Group 48">
            <a:extLst>
              <a:ext uri="{FF2B5EF4-FFF2-40B4-BE49-F238E27FC236}">
                <a16:creationId xmlns:a16="http://schemas.microsoft.com/office/drawing/2014/main" id="{703FB6BF-9A70-60F7-BFF1-CA40B73B0379}"/>
              </a:ext>
            </a:extLst>
          </p:cNvPr>
          <p:cNvGrpSpPr/>
          <p:nvPr/>
        </p:nvGrpSpPr>
        <p:grpSpPr>
          <a:xfrm>
            <a:off x="2539104" y="6330329"/>
            <a:ext cx="2514811" cy="1714500"/>
            <a:chOff x="0" y="0"/>
            <a:chExt cx="1174449" cy="451556"/>
          </a:xfrm>
        </p:grpSpPr>
        <p:sp>
          <p:nvSpPr>
            <p:cNvPr id="49" name="Freeform 49">
              <a:extLst>
                <a:ext uri="{FF2B5EF4-FFF2-40B4-BE49-F238E27FC236}">
                  <a16:creationId xmlns:a16="http://schemas.microsoft.com/office/drawing/2014/main" id="{8CFA78D7-97A3-594E-4804-30B569A129F3}"/>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50" name="TextBox 50">
              <a:extLst>
                <a:ext uri="{FF2B5EF4-FFF2-40B4-BE49-F238E27FC236}">
                  <a16:creationId xmlns:a16="http://schemas.microsoft.com/office/drawing/2014/main" id="{68D39C7F-69D3-7A54-4607-D7C983F5D422}"/>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grpSp>
        <p:nvGrpSpPr>
          <p:cNvPr id="51" name="Group 51">
            <a:extLst>
              <a:ext uri="{FF2B5EF4-FFF2-40B4-BE49-F238E27FC236}">
                <a16:creationId xmlns:a16="http://schemas.microsoft.com/office/drawing/2014/main" id="{12D3CCAD-88F2-10E0-6A02-5CAAF94134FE}"/>
              </a:ext>
            </a:extLst>
          </p:cNvPr>
          <p:cNvGrpSpPr/>
          <p:nvPr/>
        </p:nvGrpSpPr>
        <p:grpSpPr>
          <a:xfrm>
            <a:off x="8317179" y="6994098"/>
            <a:ext cx="2619730" cy="1714500"/>
            <a:chOff x="0" y="0"/>
            <a:chExt cx="1174449" cy="451556"/>
          </a:xfrm>
        </p:grpSpPr>
        <p:sp>
          <p:nvSpPr>
            <p:cNvPr id="52" name="Freeform 52">
              <a:extLst>
                <a:ext uri="{FF2B5EF4-FFF2-40B4-BE49-F238E27FC236}">
                  <a16:creationId xmlns:a16="http://schemas.microsoft.com/office/drawing/2014/main" id="{4B791B29-A57E-88BB-99FC-5EEFDD144415}"/>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53" name="TextBox 53">
              <a:extLst>
                <a:ext uri="{FF2B5EF4-FFF2-40B4-BE49-F238E27FC236}">
                  <a16:creationId xmlns:a16="http://schemas.microsoft.com/office/drawing/2014/main" id="{C419FBEA-A558-111A-EA6E-7395759A0A32}"/>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sp>
        <p:nvSpPr>
          <p:cNvPr id="54" name="TextBox 54">
            <a:extLst>
              <a:ext uri="{FF2B5EF4-FFF2-40B4-BE49-F238E27FC236}">
                <a16:creationId xmlns:a16="http://schemas.microsoft.com/office/drawing/2014/main" id="{D308D719-2B60-68F2-80F8-491EC3D8B22D}"/>
              </a:ext>
            </a:extLst>
          </p:cNvPr>
          <p:cNvSpPr txBox="1"/>
          <p:nvPr/>
        </p:nvSpPr>
        <p:spPr>
          <a:xfrm>
            <a:off x="2780502" y="6876817"/>
            <a:ext cx="1945656" cy="837345"/>
          </a:xfrm>
          <a:prstGeom prst="rect">
            <a:avLst/>
          </a:prstGeom>
        </p:spPr>
        <p:txBody>
          <a:bodyPr wrap="square" lIns="0" tIns="0" rIns="0" bIns="0" rtlCol="0" anchor="t">
            <a:spAutoFit/>
          </a:bodyPr>
          <a:lstStyle/>
          <a:p>
            <a:pPr>
              <a:lnSpc>
                <a:spcPts val="2239"/>
              </a:lnSpc>
              <a:spcBef>
                <a:spcPct val="0"/>
              </a:spcBef>
            </a:pPr>
            <a:r>
              <a:rPr lang="en-GB" sz="1599" dirty="0">
                <a:solidFill>
                  <a:srgbClr val="000000"/>
                </a:solidFill>
                <a:latin typeface="TT Fors"/>
                <a:ea typeface="TT Fors"/>
                <a:cs typeface="TT Fors"/>
                <a:sym typeface="TT Fors"/>
              </a:rPr>
              <a:t>Does family history</a:t>
            </a:r>
          </a:p>
          <a:p>
            <a:pPr>
              <a:lnSpc>
                <a:spcPts val="2239"/>
              </a:lnSpc>
              <a:spcBef>
                <a:spcPct val="0"/>
              </a:spcBef>
            </a:pPr>
            <a:r>
              <a:rPr lang="en-GB" sz="1599" dirty="0">
                <a:solidFill>
                  <a:srgbClr val="000000"/>
                </a:solidFill>
                <a:latin typeface="TT Fors"/>
                <a:ea typeface="TT Fors"/>
                <a:cs typeface="TT Fors"/>
                <a:sym typeface="TT Fors"/>
              </a:rPr>
              <a:t> of cancer increase risk?</a:t>
            </a:r>
            <a:endParaRPr lang="en-US" sz="1599" dirty="0">
              <a:solidFill>
                <a:srgbClr val="000000"/>
              </a:solidFill>
              <a:latin typeface="TT Fors"/>
              <a:ea typeface="TT Fors"/>
              <a:cs typeface="TT Fors"/>
              <a:sym typeface="TT Fors"/>
            </a:endParaRPr>
          </a:p>
        </p:txBody>
      </p:sp>
      <p:sp>
        <p:nvSpPr>
          <p:cNvPr id="55" name="TextBox 55">
            <a:extLst>
              <a:ext uri="{FF2B5EF4-FFF2-40B4-BE49-F238E27FC236}">
                <a16:creationId xmlns:a16="http://schemas.microsoft.com/office/drawing/2014/main" id="{3B668DC2-C1A1-CD86-3751-6EF30CAB8218}"/>
              </a:ext>
            </a:extLst>
          </p:cNvPr>
          <p:cNvSpPr txBox="1"/>
          <p:nvPr/>
        </p:nvSpPr>
        <p:spPr>
          <a:xfrm>
            <a:off x="8591212" y="7497395"/>
            <a:ext cx="2055599" cy="1119474"/>
          </a:xfrm>
          <a:prstGeom prst="rect">
            <a:avLst/>
          </a:prstGeom>
        </p:spPr>
        <p:txBody>
          <a:bodyPr wrap="square" lIns="0" tIns="0" rIns="0" bIns="0" rtlCol="0" anchor="t">
            <a:spAutoFit/>
          </a:bodyPr>
          <a:lstStyle/>
          <a:p>
            <a:pPr>
              <a:lnSpc>
                <a:spcPts val="2239"/>
              </a:lnSpc>
              <a:spcBef>
                <a:spcPct val="0"/>
              </a:spcBef>
            </a:pPr>
            <a:r>
              <a:rPr lang="en-GB" sz="1599" dirty="0">
                <a:solidFill>
                  <a:srgbClr val="000000"/>
                </a:solidFill>
                <a:latin typeface="TT Fors"/>
                <a:ea typeface="TT Fors"/>
                <a:cs typeface="TT Fors"/>
                <a:sym typeface="TT Fors"/>
              </a:rPr>
              <a:t>Is there a relationship between alcohol/smoking and cancer?</a:t>
            </a:r>
            <a:endParaRPr lang="en-US" sz="1599" dirty="0">
              <a:solidFill>
                <a:srgbClr val="000000"/>
              </a:solidFill>
              <a:latin typeface="TT Fors"/>
              <a:ea typeface="TT Fors"/>
              <a:cs typeface="TT Fors"/>
              <a:sym typeface="TT Fors"/>
            </a:endParaRPr>
          </a:p>
        </p:txBody>
      </p:sp>
      <p:sp>
        <p:nvSpPr>
          <p:cNvPr id="56" name="TextBox 56">
            <a:extLst>
              <a:ext uri="{FF2B5EF4-FFF2-40B4-BE49-F238E27FC236}">
                <a16:creationId xmlns:a16="http://schemas.microsoft.com/office/drawing/2014/main" id="{6A3D2360-AFB7-BB2A-F1A8-60FC2A1AC4EE}"/>
              </a:ext>
            </a:extLst>
          </p:cNvPr>
          <p:cNvSpPr txBox="1"/>
          <p:nvPr/>
        </p:nvSpPr>
        <p:spPr>
          <a:xfrm>
            <a:off x="2789420" y="6504152"/>
            <a:ext cx="4083805" cy="306705"/>
          </a:xfrm>
          <a:prstGeom prst="rect">
            <a:avLst/>
          </a:prstGeom>
        </p:spPr>
        <p:txBody>
          <a:bodyPr lIns="0" tIns="0" rIns="0" bIns="0" rtlCol="0" anchor="t">
            <a:spAutoFit/>
          </a:bodyPr>
          <a:lstStyle/>
          <a:p>
            <a:pPr algn="l">
              <a:lnSpc>
                <a:spcPts val="2519"/>
              </a:lnSpc>
              <a:spcBef>
                <a:spcPct val="0"/>
              </a:spcBef>
            </a:pPr>
            <a:r>
              <a:rPr lang="en-US" sz="1799" b="1" dirty="0">
                <a:solidFill>
                  <a:srgbClr val="000000"/>
                </a:solidFill>
                <a:latin typeface="TT Fors Bold"/>
                <a:ea typeface="TT Fors Bold"/>
                <a:cs typeface="TT Fors Bold"/>
                <a:sym typeface="TT Fors Bold"/>
              </a:rPr>
              <a:t>Family History</a:t>
            </a:r>
          </a:p>
        </p:txBody>
      </p:sp>
      <p:sp>
        <p:nvSpPr>
          <p:cNvPr id="57" name="TextBox 57">
            <a:extLst>
              <a:ext uri="{FF2B5EF4-FFF2-40B4-BE49-F238E27FC236}">
                <a16:creationId xmlns:a16="http://schemas.microsoft.com/office/drawing/2014/main" id="{9479F9A6-0DA8-A832-DB30-93EE400E18F6}"/>
              </a:ext>
            </a:extLst>
          </p:cNvPr>
          <p:cNvSpPr txBox="1"/>
          <p:nvPr/>
        </p:nvSpPr>
        <p:spPr>
          <a:xfrm>
            <a:off x="8559500" y="7144824"/>
            <a:ext cx="4083805" cy="309637"/>
          </a:xfrm>
          <a:prstGeom prst="rect">
            <a:avLst/>
          </a:prstGeom>
        </p:spPr>
        <p:txBody>
          <a:bodyPr lIns="0" tIns="0" rIns="0" bIns="0" rtlCol="0" anchor="t">
            <a:spAutoFit/>
          </a:bodyPr>
          <a:lstStyle/>
          <a:p>
            <a:pPr>
              <a:lnSpc>
                <a:spcPts val="2519"/>
              </a:lnSpc>
              <a:spcBef>
                <a:spcPct val="0"/>
              </a:spcBef>
            </a:pPr>
            <a:r>
              <a:rPr lang="en-GB" sz="1799" b="1" dirty="0">
                <a:solidFill>
                  <a:srgbClr val="000000"/>
                </a:solidFill>
                <a:latin typeface="TT Fors Bold"/>
                <a:sym typeface="TT Fors"/>
              </a:rPr>
              <a:t>Lifestyle Impact</a:t>
            </a:r>
            <a:endParaRPr lang="en-US" sz="1799" b="1" dirty="0">
              <a:solidFill>
                <a:srgbClr val="000000"/>
              </a:solidFill>
              <a:latin typeface="TT Fors Bold"/>
              <a:ea typeface="TT Fors Bold"/>
              <a:cs typeface="TT Fors Bold"/>
              <a:sym typeface="TT Fors Bold"/>
            </a:endParaRPr>
          </a:p>
        </p:txBody>
      </p:sp>
      <p:sp>
        <p:nvSpPr>
          <p:cNvPr id="103" name="Freeform 20">
            <a:extLst>
              <a:ext uri="{FF2B5EF4-FFF2-40B4-BE49-F238E27FC236}">
                <a16:creationId xmlns:a16="http://schemas.microsoft.com/office/drawing/2014/main" id="{AFE352C9-54E2-EDA5-B9BB-8A4889F0DD93}"/>
              </a:ext>
            </a:extLst>
          </p:cNvPr>
          <p:cNvSpPr/>
          <p:nvPr/>
        </p:nvSpPr>
        <p:spPr>
          <a:xfrm>
            <a:off x="14236403" y="4658507"/>
            <a:ext cx="2471763"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104" name="Freeform 22">
            <a:extLst>
              <a:ext uri="{FF2B5EF4-FFF2-40B4-BE49-F238E27FC236}">
                <a16:creationId xmlns:a16="http://schemas.microsoft.com/office/drawing/2014/main" id="{0D8E7770-E2B2-9B6D-F65B-8E84B8BD9A49}"/>
              </a:ext>
            </a:extLst>
          </p:cNvPr>
          <p:cNvSpPr/>
          <p:nvPr/>
        </p:nvSpPr>
        <p:spPr>
          <a:xfrm>
            <a:off x="14379507" y="5761787"/>
            <a:ext cx="2219576"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grpSp>
        <p:nvGrpSpPr>
          <p:cNvPr id="105" name="Group 24">
            <a:extLst>
              <a:ext uri="{FF2B5EF4-FFF2-40B4-BE49-F238E27FC236}">
                <a16:creationId xmlns:a16="http://schemas.microsoft.com/office/drawing/2014/main" id="{27C046B3-D9E3-C6E1-43A1-736F4C589DE6}"/>
              </a:ext>
            </a:extLst>
          </p:cNvPr>
          <p:cNvGrpSpPr/>
          <p:nvPr/>
        </p:nvGrpSpPr>
        <p:grpSpPr>
          <a:xfrm>
            <a:off x="14239550" y="3609804"/>
            <a:ext cx="2514810" cy="1714500"/>
            <a:chOff x="0" y="0"/>
            <a:chExt cx="1174449" cy="451556"/>
          </a:xfrm>
        </p:grpSpPr>
        <p:sp>
          <p:nvSpPr>
            <p:cNvPr id="106" name="Freeform 25">
              <a:extLst>
                <a:ext uri="{FF2B5EF4-FFF2-40B4-BE49-F238E27FC236}">
                  <a16:creationId xmlns:a16="http://schemas.microsoft.com/office/drawing/2014/main" id="{BB2C8D50-4763-899D-D908-7A787A8FB1F8}"/>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107" name="TextBox 26">
              <a:extLst>
                <a:ext uri="{FF2B5EF4-FFF2-40B4-BE49-F238E27FC236}">
                  <a16:creationId xmlns:a16="http://schemas.microsoft.com/office/drawing/2014/main" id="{8C195319-0512-15BB-B906-928CAB2508BC}"/>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grpSp>
        <p:nvGrpSpPr>
          <p:cNvPr id="108" name="Group 30">
            <a:extLst>
              <a:ext uri="{FF2B5EF4-FFF2-40B4-BE49-F238E27FC236}">
                <a16:creationId xmlns:a16="http://schemas.microsoft.com/office/drawing/2014/main" id="{40CEEE5F-7A58-DF6D-85EE-9EEAB5C8BF1F}"/>
              </a:ext>
            </a:extLst>
          </p:cNvPr>
          <p:cNvGrpSpPr/>
          <p:nvPr/>
        </p:nvGrpSpPr>
        <p:grpSpPr>
          <a:xfrm>
            <a:off x="14268060" y="5852228"/>
            <a:ext cx="2514811" cy="1714500"/>
            <a:chOff x="0" y="0"/>
            <a:chExt cx="1174449" cy="451556"/>
          </a:xfrm>
        </p:grpSpPr>
        <p:sp>
          <p:nvSpPr>
            <p:cNvPr id="109" name="Freeform 31">
              <a:extLst>
                <a:ext uri="{FF2B5EF4-FFF2-40B4-BE49-F238E27FC236}">
                  <a16:creationId xmlns:a16="http://schemas.microsoft.com/office/drawing/2014/main" id="{37DB9A0E-48E1-66E2-66DF-D9B24B1855AB}"/>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110" name="TextBox 32">
              <a:extLst>
                <a:ext uri="{FF2B5EF4-FFF2-40B4-BE49-F238E27FC236}">
                  <a16:creationId xmlns:a16="http://schemas.microsoft.com/office/drawing/2014/main" id="{BB55C901-EEED-2E61-8B56-B9635E0A950F}"/>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sp>
        <p:nvSpPr>
          <p:cNvPr id="111" name="TextBox 38">
            <a:extLst>
              <a:ext uri="{FF2B5EF4-FFF2-40B4-BE49-F238E27FC236}">
                <a16:creationId xmlns:a16="http://schemas.microsoft.com/office/drawing/2014/main" id="{EA2E1525-BF2C-04AE-8902-0A93A1A50CB8}"/>
              </a:ext>
            </a:extLst>
          </p:cNvPr>
          <p:cNvSpPr txBox="1"/>
          <p:nvPr/>
        </p:nvSpPr>
        <p:spPr>
          <a:xfrm>
            <a:off x="14507750" y="4202802"/>
            <a:ext cx="1929067" cy="837345"/>
          </a:xfrm>
          <a:prstGeom prst="rect">
            <a:avLst/>
          </a:prstGeom>
        </p:spPr>
        <p:txBody>
          <a:bodyPr wrap="square" lIns="0" tIns="0" rIns="0" bIns="0" rtlCol="0" anchor="t">
            <a:spAutoFit/>
          </a:bodyPr>
          <a:lstStyle/>
          <a:p>
            <a:pPr>
              <a:lnSpc>
                <a:spcPts val="2239"/>
              </a:lnSpc>
              <a:spcBef>
                <a:spcPct val="0"/>
              </a:spcBef>
            </a:pPr>
            <a:r>
              <a:rPr lang="en-GB" sz="1599" dirty="0">
                <a:solidFill>
                  <a:srgbClr val="000000"/>
                </a:solidFill>
                <a:latin typeface="TT Fors"/>
                <a:ea typeface="TT Fors"/>
                <a:cs typeface="TT Fors"/>
                <a:sym typeface="TT Fors"/>
              </a:rPr>
              <a:t>What is the most common type of lesion (diagnostic)?</a:t>
            </a:r>
            <a:endParaRPr lang="en-US" sz="1599" dirty="0">
              <a:solidFill>
                <a:srgbClr val="000000"/>
              </a:solidFill>
              <a:latin typeface="TT Fors"/>
              <a:ea typeface="TT Fors"/>
              <a:cs typeface="TT Fors"/>
              <a:sym typeface="TT Fors"/>
            </a:endParaRPr>
          </a:p>
        </p:txBody>
      </p:sp>
      <p:sp>
        <p:nvSpPr>
          <p:cNvPr id="112" name="TextBox 40">
            <a:extLst>
              <a:ext uri="{FF2B5EF4-FFF2-40B4-BE49-F238E27FC236}">
                <a16:creationId xmlns:a16="http://schemas.microsoft.com/office/drawing/2014/main" id="{089CEE0F-D72B-7E5A-DC5B-5F565A185F4F}"/>
              </a:ext>
            </a:extLst>
          </p:cNvPr>
          <p:cNvSpPr txBox="1"/>
          <p:nvPr/>
        </p:nvSpPr>
        <p:spPr>
          <a:xfrm>
            <a:off x="14478873" y="6172511"/>
            <a:ext cx="2093187" cy="1230465"/>
          </a:xfrm>
          <a:prstGeom prst="rect">
            <a:avLst/>
          </a:prstGeom>
        </p:spPr>
        <p:txBody>
          <a:bodyPr wrap="square" lIns="0" tIns="0" rIns="0" bIns="0" rtlCol="0" anchor="t">
            <a:spAutoFit/>
          </a:bodyPr>
          <a:lstStyle/>
          <a:p>
            <a:r>
              <a:rPr lang="en-GB" sz="1599" dirty="0">
                <a:solidFill>
                  <a:srgbClr val="000000"/>
                </a:solidFill>
                <a:latin typeface="TT Fors"/>
              </a:rPr>
              <a:t>Are cancerous lesions larger in size?</a:t>
            </a:r>
          </a:p>
          <a:p>
            <a:r>
              <a:rPr lang="en-GB" sz="1599" dirty="0">
                <a:solidFill>
                  <a:srgbClr val="000000"/>
                </a:solidFill>
                <a:latin typeface="TT Fors"/>
              </a:rPr>
              <a:t>Compare diameter values—</a:t>
            </a:r>
          </a:p>
          <a:p>
            <a:r>
              <a:rPr lang="en-GB" sz="1599" dirty="0">
                <a:solidFill>
                  <a:srgbClr val="000000"/>
                </a:solidFill>
                <a:latin typeface="TT Fors"/>
              </a:rPr>
              <a:t>lesion size vs cancer</a:t>
            </a:r>
          </a:p>
        </p:txBody>
      </p:sp>
      <p:sp>
        <p:nvSpPr>
          <p:cNvPr id="178" name="TextBox 36">
            <a:extLst>
              <a:ext uri="{FF2B5EF4-FFF2-40B4-BE49-F238E27FC236}">
                <a16:creationId xmlns:a16="http://schemas.microsoft.com/office/drawing/2014/main" id="{4609ED89-E849-4ED3-7CC7-5A070C81D939}"/>
              </a:ext>
            </a:extLst>
          </p:cNvPr>
          <p:cNvSpPr txBox="1"/>
          <p:nvPr/>
        </p:nvSpPr>
        <p:spPr>
          <a:xfrm>
            <a:off x="-1342176" y="1156655"/>
            <a:ext cx="10181376" cy="557845"/>
          </a:xfrm>
          <a:prstGeom prst="rect">
            <a:avLst/>
          </a:prstGeom>
        </p:spPr>
        <p:txBody>
          <a:bodyPr lIns="0" tIns="0" rIns="0" bIns="0" rtlCol="0" anchor="t">
            <a:spAutoFit/>
          </a:bodyPr>
          <a:lstStyle/>
          <a:p>
            <a:pPr algn="ctr">
              <a:lnSpc>
                <a:spcPts val="5040"/>
              </a:lnSpc>
              <a:spcBef>
                <a:spcPct val="0"/>
              </a:spcBef>
            </a:pPr>
            <a:r>
              <a:rPr lang="en-US" sz="2000" b="1" dirty="0">
                <a:solidFill>
                  <a:srgbClr val="112F8D"/>
                </a:solidFill>
                <a:latin typeface="TT Fors Bold"/>
                <a:ea typeface="TT Fors Bold"/>
                <a:cs typeface="TT Fors Bold"/>
                <a:sym typeface="TT Fors Bold"/>
              </a:rPr>
              <a:t>Demographic Analysis</a:t>
            </a:r>
          </a:p>
        </p:txBody>
      </p:sp>
      <p:sp>
        <p:nvSpPr>
          <p:cNvPr id="141" name="TextBox 36">
            <a:extLst>
              <a:ext uri="{FF2B5EF4-FFF2-40B4-BE49-F238E27FC236}">
                <a16:creationId xmlns:a16="http://schemas.microsoft.com/office/drawing/2014/main" id="{3383FB59-4E95-0AF9-2F36-7B60178E1FDE}"/>
              </a:ext>
            </a:extLst>
          </p:cNvPr>
          <p:cNvSpPr txBox="1"/>
          <p:nvPr/>
        </p:nvSpPr>
        <p:spPr>
          <a:xfrm>
            <a:off x="4726158" y="1867182"/>
            <a:ext cx="10181376" cy="557845"/>
          </a:xfrm>
          <a:prstGeom prst="rect">
            <a:avLst/>
          </a:prstGeom>
        </p:spPr>
        <p:txBody>
          <a:bodyPr lIns="0" tIns="0" rIns="0" bIns="0" rtlCol="0" anchor="t">
            <a:spAutoFit/>
          </a:bodyPr>
          <a:lstStyle/>
          <a:p>
            <a:pPr algn="ctr">
              <a:lnSpc>
                <a:spcPts val="5040"/>
              </a:lnSpc>
              <a:spcBef>
                <a:spcPct val="0"/>
              </a:spcBef>
            </a:pPr>
            <a:r>
              <a:rPr lang="en-US" sz="2000" b="1" dirty="0">
                <a:solidFill>
                  <a:srgbClr val="112F8D"/>
                </a:solidFill>
                <a:latin typeface="TT Fors Bold"/>
                <a:ea typeface="TT Fors Bold"/>
                <a:cs typeface="TT Fors Bold"/>
                <a:sym typeface="TT Fors Bold"/>
              </a:rPr>
              <a:t>Environmental Risk Factors</a:t>
            </a:r>
          </a:p>
        </p:txBody>
      </p:sp>
      <p:grpSp>
        <p:nvGrpSpPr>
          <p:cNvPr id="142" name="Group 2">
            <a:extLst>
              <a:ext uri="{FF2B5EF4-FFF2-40B4-BE49-F238E27FC236}">
                <a16:creationId xmlns:a16="http://schemas.microsoft.com/office/drawing/2014/main" id="{9D46D9CC-946A-9DA6-6325-AB316762A2EC}"/>
              </a:ext>
            </a:extLst>
          </p:cNvPr>
          <p:cNvGrpSpPr/>
          <p:nvPr/>
        </p:nvGrpSpPr>
        <p:grpSpPr>
          <a:xfrm>
            <a:off x="1045611" y="8431179"/>
            <a:ext cx="1238171" cy="1238171"/>
            <a:chOff x="0" y="0"/>
            <a:chExt cx="812800" cy="812800"/>
          </a:xfrm>
        </p:grpSpPr>
        <p:sp>
          <p:nvSpPr>
            <p:cNvPr id="143" name="Freeform 3">
              <a:extLst>
                <a:ext uri="{FF2B5EF4-FFF2-40B4-BE49-F238E27FC236}">
                  <a16:creationId xmlns:a16="http://schemas.microsoft.com/office/drawing/2014/main" id="{B740D2F6-D7A8-C615-B541-679FE626FFE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359"/>
            </a:solidFill>
          </p:spPr>
          <p:txBody>
            <a:bodyPr/>
            <a:lstStyle/>
            <a:p>
              <a:endParaRPr lang="en-GB"/>
            </a:p>
          </p:txBody>
        </p:sp>
        <p:sp>
          <p:nvSpPr>
            <p:cNvPr id="144" name="TextBox 4">
              <a:extLst>
                <a:ext uri="{FF2B5EF4-FFF2-40B4-BE49-F238E27FC236}">
                  <a16:creationId xmlns:a16="http://schemas.microsoft.com/office/drawing/2014/main" id="{CD979A75-363C-9CCA-50B3-5BB326F1D0C1}"/>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dirty="0">
                  <a:solidFill>
                    <a:srgbClr val="FFFFFF"/>
                  </a:solidFill>
                  <a:latin typeface="TT Fors Bold"/>
                  <a:ea typeface="TT Fors Bold"/>
                  <a:cs typeface="TT Fors Bold"/>
                  <a:sym typeface="TT Fors Bold"/>
                </a:rPr>
                <a:t>04</a:t>
              </a:r>
            </a:p>
          </p:txBody>
        </p:sp>
      </p:grpSp>
      <p:grpSp>
        <p:nvGrpSpPr>
          <p:cNvPr id="145" name="Group 48">
            <a:extLst>
              <a:ext uri="{FF2B5EF4-FFF2-40B4-BE49-F238E27FC236}">
                <a16:creationId xmlns:a16="http://schemas.microsoft.com/office/drawing/2014/main" id="{B0A65EEC-5AB8-FA1A-07BA-44EBA0EF0276}"/>
              </a:ext>
            </a:extLst>
          </p:cNvPr>
          <p:cNvGrpSpPr/>
          <p:nvPr/>
        </p:nvGrpSpPr>
        <p:grpSpPr>
          <a:xfrm>
            <a:off x="2514432" y="8267767"/>
            <a:ext cx="2514811" cy="1714500"/>
            <a:chOff x="0" y="0"/>
            <a:chExt cx="1174449" cy="451556"/>
          </a:xfrm>
        </p:grpSpPr>
        <p:sp>
          <p:nvSpPr>
            <p:cNvPr id="146" name="Freeform 49">
              <a:extLst>
                <a:ext uri="{FF2B5EF4-FFF2-40B4-BE49-F238E27FC236}">
                  <a16:creationId xmlns:a16="http://schemas.microsoft.com/office/drawing/2014/main" id="{0B1659EA-0C3C-10B1-6F28-85819BC9274B}"/>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147" name="TextBox 50">
              <a:extLst>
                <a:ext uri="{FF2B5EF4-FFF2-40B4-BE49-F238E27FC236}">
                  <a16:creationId xmlns:a16="http://schemas.microsoft.com/office/drawing/2014/main" id="{48BF1B54-E3F2-7898-41B1-D07D73CBA7D4}"/>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sp>
        <p:nvSpPr>
          <p:cNvPr id="39" name="TextBox 39">
            <a:extLst>
              <a:ext uri="{FF2B5EF4-FFF2-40B4-BE49-F238E27FC236}">
                <a16:creationId xmlns:a16="http://schemas.microsoft.com/office/drawing/2014/main" id="{4043C59B-3DE1-AEB7-1436-092A61EFE493}"/>
              </a:ext>
            </a:extLst>
          </p:cNvPr>
          <p:cNvSpPr txBox="1"/>
          <p:nvPr/>
        </p:nvSpPr>
        <p:spPr>
          <a:xfrm>
            <a:off x="2590800" y="9022250"/>
            <a:ext cx="2405957" cy="837345"/>
          </a:xfrm>
          <a:prstGeom prst="rect">
            <a:avLst/>
          </a:prstGeom>
        </p:spPr>
        <p:txBody>
          <a:bodyPr wrap="square" lIns="0" tIns="0" rIns="0" bIns="0" rtlCol="0" anchor="t">
            <a:spAutoFit/>
          </a:bodyPr>
          <a:lstStyle/>
          <a:p>
            <a:pPr>
              <a:lnSpc>
                <a:spcPts val="2239"/>
              </a:lnSpc>
              <a:spcBef>
                <a:spcPct val="0"/>
              </a:spcBef>
            </a:pPr>
            <a:r>
              <a:rPr lang="en-GB" sz="1599" dirty="0">
                <a:solidFill>
                  <a:srgbClr val="000000"/>
                </a:solidFill>
                <a:latin typeface="TT Fors"/>
                <a:ea typeface="TT Fors"/>
                <a:cs typeface="TT Fors"/>
                <a:sym typeface="TT Fors"/>
              </a:rPr>
              <a:t>Do patients with previous skin cancer have higher recurrence?</a:t>
            </a:r>
            <a:endParaRPr lang="en-US" sz="1599" dirty="0">
              <a:solidFill>
                <a:srgbClr val="000000"/>
              </a:solidFill>
              <a:latin typeface="TT Fors"/>
              <a:ea typeface="TT Fors"/>
              <a:cs typeface="TT Fors"/>
              <a:sym typeface="TT Fors"/>
            </a:endParaRPr>
          </a:p>
        </p:txBody>
      </p:sp>
      <p:sp>
        <p:nvSpPr>
          <p:cNvPr id="43" name="TextBox 43">
            <a:extLst>
              <a:ext uri="{FF2B5EF4-FFF2-40B4-BE49-F238E27FC236}">
                <a16:creationId xmlns:a16="http://schemas.microsoft.com/office/drawing/2014/main" id="{39DB4A38-0AFF-31C5-E971-0F9AE87933BB}"/>
              </a:ext>
            </a:extLst>
          </p:cNvPr>
          <p:cNvSpPr txBox="1"/>
          <p:nvPr/>
        </p:nvSpPr>
        <p:spPr>
          <a:xfrm>
            <a:off x="2724860" y="8330151"/>
            <a:ext cx="4083805" cy="630237"/>
          </a:xfrm>
          <a:prstGeom prst="rect">
            <a:avLst/>
          </a:prstGeom>
        </p:spPr>
        <p:txBody>
          <a:bodyPr lIns="0" tIns="0" rIns="0" bIns="0" rtlCol="0" anchor="t">
            <a:spAutoFit/>
          </a:bodyPr>
          <a:lstStyle/>
          <a:p>
            <a:pPr algn="l">
              <a:lnSpc>
                <a:spcPts val="2519"/>
              </a:lnSpc>
              <a:spcBef>
                <a:spcPct val="0"/>
              </a:spcBef>
            </a:pPr>
            <a:r>
              <a:rPr lang="en-US" sz="1799" b="1" dirty="0">
                <a:solidFill>
                  <a:srgbClr val="000000"/>
                </a:solidFill>
                <a:latin typeface="TT Fors Bold"/>
                <a:ea typeface="TT Fors Bold"/>
                <a:cs typeface="TT Fors Bold"/>
                <a:sym typeface="TT Fors Bold"/>
              </a:rPr>
              <a:t>Cancer </a:t>
            </a:r>
          </a:p>
          <a:p>
            <a:pPr algn="l">
              <a:lnSpc>
                <a:spcPts val="2519"/>
              </a:lnSpc>
              <a:spcBef>
                <a:spcPct val="0"/>
              </a:spcBef>
            </a:pPr>
            <a:r>
              <a:rPr lang="en-US" sz="1799" b="1" dirty="0">
                <a:solidFill>
                  <a:srgbClr val="000000"/>
                </a:solidFill>
                <a:latin typeface="TT Fors Bold"/>
                <a:ea typeface="TT Fors Bold"/>
                <a:cs typeface="TT Fors Bold"/>
                <a:sym typeface="TT Fors Bold"/>
              </a:rPr>
              <a:t>Reoccurrence</a:t>
            </a:r>
          </a:p>
        </p:txBody>
      </p:sp>
      <p:sp>
        <p:nvSpPr>
          <p:cNvPr id="149" name="TextBox 148">
            <a:extLst>
              <a:ext uri="{FF2B5EF4-FFF2-40B4-BE49-F238E27FC236}">
                <a16:creationId xmlns:a16="http://schemas.microsoft.com/office/drawing/2014/main" id="{ED8A1D1D-A988-1353-F988-44C5AC864C3F}"/>
              </a:ext>
            </a:extLst>
          </p:cNvPr>
          <p:cNvSpPr txBox="1"/>
          <p:nvPr/>
        </p:nvSpPr>
        <p:spPr>
          <a:xfrm>
            <a:off x="8479034" y="2932218"/>
            <a:ext cx="2219577" cy="1076705"/>
          </a:xfrm>
          <a:prstGeom prst="rect">
            <a:avLst/>
          </a:prstGeom>
          <a:noFill/>
        </p:spPr>
        <p:txBody>
          <a:bodyPr wrap="square">
            <a:spAutoFit/>
          </a:bodyPr>
          <a:lstStyle/>
          <a:p>
            <a:r>
              <a:rPr lang="en-GB" sz="1599" dirty="0">
                <a:solidFill>
                  <a:srgbClr val="000000"/>
                </a:solidFill>
                <a:latin typeface="TT Fors"/>
              </a:rPr>
              <a:t>Does pesticide exposure </a:t>
            </a:r>
          </a:p>
          <a:p>
            <a:r>
              <a:rPr lang="en-GB" sz="1599" dirty="0">
                <a:solidFill>
                  <a:srgbClr val="000000"/>
                </a:solidFill>
                <a:latin typeface="TT Fors"/>
              </a:rPr>
              <a:t>increase cancer likelihood?</a:t>
            </a:r>
          </a:p>
        </p:txBody>
      </p:sp>
      <p:sp>
        <p:nvSpPr>
          <p:cNvPr id="150" name="TextBox 42">
            <a:extLst>
              <a:ext uri="{FF2B5EF4-FFF2-40B4-BE49-F238E27FC236}">
                <a16:creationId xmlns:a16="http://schemas.microsoft.com/office/drawing/2014/main" id="{91F2E777-3070-E322-68BA-089036117731}"/>
              </a:ext>
            </a:extLst>
          </p:cNvPr>
          <p:cNvSpPr txBox="1"/>
          <p:nvPr/>
        </p:nvSpPr>
        <p:spPr>
          <a:xfrm>
            <a:off x="8532139" y="2598056"/>
            <a:ext cx="4083805" cy="306705"/>
          </a:xfrm>
          <a:prstGeom prst="rect">
            <a:avLst/>
          </a:prstGeom>
        </p:spPr>
        <p:txBody>
          <a:bodyPr lIns="0" tIns="0" rIns="0" bIns="0" rtlCol="0" anchor="t">
            <a:spAutoFit/>
          </a:bodyPr>
          <a:lstStyle/>
          <a:p>
            <a:pPr algn="l">
              <a:lnSpc>
                <a:spcPts val="2519"/>
              </a:lnSpc>
              <a:spcBef>
                <a:spcPct val="0"/>
              </a:spcBef>
            </a:pPr>
            <a:r>
              <a:rPr lang="en-US" sz="1799" b="1" dirty="0">
                <a:solidFill>
                  <a:srgbClr val="000000"/>
                </a:solidFill>
                <a:latin typeface="TT Fors Bold"/>
                <a:ea typeface="TT Fors Bold"/>
                <a:cs typeface="TT Fors Bold"/>
                <a:sym typeface="TT Fors Bold"/>
              </a:rPr>
              <a:t>Pesticide control</a:t>
            </a:r>
          </a:p>
        </p:txBody>
      </p:sp>
      <p:sp>
        <p:nvSpPr>
          <p:cNvPr id="153" name="TextBox 36">
            <a:extLst>
              <a:ext uri="{FF2B5EF4-FFF2-40B4-BE49-F238E27FC236}">
                <a16:creationId xmlns:a16="http://schemas.microsoft.com/office/drawing/2014/main" id="{ADE4AD53-D9C8-3042-6A1F-D35DC10CA7C8}"/>
              </a:ext>
            </a:extLst>
          </p:cNvPr>
          <p:cNvSpPr txBox="1"/>
          <p:nvPr/>
        </p:nvSpPr>
        <p:spPr>
          <a:xfrm>
            <a:off x="10316424" y="2887810"/>
            <a:ext cx="10181376" cy="1199046"/>
          </a:xfrm>
          <a:prstGeom prst="rect">
            <a:avLst/>
          </a:prstGeom>
        </p:spPr>
        <p:txBody>
          <a:bodyPr lIns="0" tIns="0" rIns="0" bIns="0" rtlCol="0" anchor="t">
            <a:spAutoFit/>
          </a:bodyPr>
          <a:lstStyle/>
          <a:p>
            <a:pPr algn="ctr">
              <a:lnSpc>
                <a:spcPts val="5040"/>
              </a:lnSpc>
              <a:spcBef>
                <a:spcPct val="0"/>
              </a:spcBef>
            </a:pPr>
            <a:r>
              <a:rPr lang="en-GB" sz="2000" b="1" dirty="0">
                <a:solidFill>
                  <a:srgbClr val="112F8D"/>
                </a:solidFill>
                <a:latin typeface="TT Fors Bold"/>
              </a:rPr>
              <a:t>Lesion Characteristics</a:t>
            </a:r>
          </a:p>
          <a:p>
            <a:pPr algn="ctr">
              <a:lnSpc>
                <a:spcPts val="5040"/>
              </a:lnSpc>
              <a:spcBef>
                <a:spcPct val="0"/>
              </a:spcBef>
            </a:pPr>
            <a:endParaRPr lang="en-US" sz="2000" b="1" dirty="0">
              <a:solidFill>
                <a:srgbClr val="112F8D"/>
              </a:solidFill>
              <a:latin typeface="TT Fors Bold"/>
              <a:ea typeface="TT Fors Bold"/>
              <a:cs typeface="TT Fors Bold"/>
              <a:sym typeface="TT Fors Bold"/>
            </a:endParaRPr>
          </a:p>
        </p:txBody>
      </p:sp>
      <p:sp>
        <p:nvSpPr>
          <p:cNvPr id="154" name="TextBox 42">
            <a:extLst>
              <a:ext uri="{FF2B5EF4-FFF2-40B4-BE49-F238E27FC236}">
                <a16:creationId xmlns:a16="http://schemas.microsoft.com/office/drawing/2014/main" id="{6C7DF357-7C96-AA3B-17A0-FDC4BA1FB853}"/>
              </a:ext>
            </a:extLst>
          </p:cNvPr>
          <p:cNvSpPr txBox="1"/>
          <p:nvPr/>
        </p:nvSpPr>
        <p:spPr>
          <a:xfrm>
            <a:off x="14443044" y="3793663"/>
            <a:ext cx="4083805" cy="306705"/>
          </a:xfrm>
          <a:prstGeom prst="rect">
            <a:avLst/>
          </a:prstGeom>
        </p:spPr>
        <p:txBody>
          <a:bodyPr lIns="0" tIns="0" rIns="0" bIns="0" rtlCol="0" anchor="t">
            <a:spAutoFit/>
          </a:bodyPr>
          <a:lstStyle/>
          <a:p>
            <a:pPr algn="l">
              <a:lnSpc>
                <a:spcPts val="2519"/>
              </a:lnSpc>
              <a:spcBef>
                <a:spcPct val="0"/>
              </a:spcBef>
            </a:pPr>
            <a:r>
              <a:rPr lang="en-US" sz="1799" b="1" dirty="0">
                <a:solidFill>
                  <a:srgbClr val="000000"/>
                </a:solidFill>
                <a:latin typeface="TT Fors Bold"/>
                <a:ea typeface="TT Fors Bold"/>
                <a:cs typeface="TT Fors Bold"/>
                <a:sym typeface="TT Fors Bold"/>
              </a:rPr>
              <a:t>Lesion Diagnostic</a:t>
            </a:r>
          </a:p>
        </p:txBody>
      </p:sp>
      <p:grpSp>
        <p:nvGrpSpPr>
          <p:cNvPr id="155" name="Group 8">
            <a:extLst>
              <a:ext uri="{FF2B5EF4-FFF2-40B4-BE49-F238E27FC236}">
                <a16:creationId xmlns:a16="http://schemas.microsoft.com/office/drawing/2014/main" id="{BAC91F18-BF08-BC87-54CD-676E471F9A4E}"/>
              </a:ext>
            </a:extLst>
          </p:cNvPr>
          <p:cNvGrpSpPr/>
          <p:nvPr/>
        </p:nvGrpSpPr>
        <p:grpSpPr>
          <a:xfrm>
            <a:off x="12882153" y="6128982"/>
            <a:ext cx="1238171" cy="1238171"/>
            <a:chOff x="0" y="0"/>
            <a:chExt cx="812800" cy="812800"/>
          </a:xfrm>
        </p:grpSpPr>
        <p:sp>
          <p:nvSpPr>
            <p:cNvPr id="156" name="Freeform 9">
              <a:extLst>
                <a:ext uri="{FF2B5EF4-FFF2-40B4-BE49-F238E27FC236}">
                  <a16:creationId xmlns:a16="http://schemas.microsoft.com/office/drawing/2014/main" id="{626D4BE0-2B55-77DD-40D0-DF60CF84EB2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6198"/>
            </a:solidFill>
          </p:spPr>
          <p:txBody>
            <a:bodyPr/>
            <a:lstStyle/>
            <a:p>
              <a:endParaRPr lang="en-GB"/>
            </a:p>
          </p:txBody>
        </p:sp>
        <p:sp>
          <p:nvSpPr>
            <p:cNvPr id="157" name="TextBox 10">
              <a:extLst>
                <a:ext uri="{FF2B5EF4-FFF2-40B4-BE49-F238E27FC236}">
                  <a16:creationId xmlns:a16="http://schemas.microsoft.com/office/drawing/2014/main" id="{92B4E484-DE9E-13BA-E122-D314E5FFED65}"/>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dirty="0">
                  <a:solidFill>
                    <a:srgbClr val="FFFFFF"/>
                  </a:solidFill>
                  <a:latin typeface="TT Fors Bold"/>
                  <a:ea typeface="TT Fors Bold"/>
                  <a:cs typeface="TT Fors Bold"/>
                  <a:sym typeface="TT Fors Bold"/>
                </a:rPr>
                <a:t>02</a:t>
              </a:r>
            </a:p>
          </p:txBody>
        </p:sp>
      </p:grpSp>
      <p:grpSp>
        <p:nvGrpSpPr>
          <p:cNvPr id="158" name="Group 2">
            <a:extLst>
              <a:ext uri="{FF2B5EF4-FFF2-40B4-BE49-F238E27FC236}">
                <a16:creationId xmlns:a16="http://schemas.microsoft.com/office/drawing/2014/main" id="{5EEB3ED2-A4E5-38B1-83CD-13F21DC78FAA}"/>
              </a:ext>
            </a:extLst>
          </p:cNvPr>
          <p:cNvGrpSpPr/>
          <p:nvPr/>
        </p:nvGrpSpPr>
        <p:grpSpPr>
          <a:xfrm>
            <a:off x="12882153" y="3885158"/>
            <a:ext cx="1238171" cy="1238171"/>
            <a:chOff x="0" y="0"/>
            <a:chExt cx="812800" cy="812800"/>
          </a:xfrm>
        </p:grpSpPr>
        <p:sp>
          <p:nvSpPr>
            <p:cNvPr id="159" name="Freeform 3">
              <a:extLst>
                <a:ext uri="{FF2B5EF4-FFF2-40B4-BE49-F238E27FC236}">
                  <a16:creationId xmlns:a16="http://schemas.microsoft.com/office/drawing/2014/main" id="{0F4E3272-75D4-F372-F539-DE77484524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359"/>
            </a:solidFill>
          </p:spPr>
          <p:txBody>
            <a:bodyPr/>
            <a:lstStyle/>
            <a:p>
              <a:endParaRPr lang="en-GB"/>
            </a:p>
          </p:txBody>
        </p:sp>
        <p:sp>
          <p:nvSpPr>
            <p:cNvPr id="160" name="TextBox 4">
              <a:extLst>
                <a:ext uri="{FF2B5EF4-FFF2-40B4-BE49-F238E27FC236}">
                  <a16:creationId xmlns:a16="http://schemas.microsoft.com/office/drawing/2014/main" id="{86488B4B-09DF-6ADC-098C-854385066124}"/>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dirty="0">
                  <a:solidFill>
                    <a:srgbClr val="FFFFFF"/>
                  </a:solidFill>
                  <a:latin typeface="TT Fors Bold"/>
                  <a:ea typeface="TT Fors Bold"/>
                  <a:cs typeface="TT Fors Bold"/>
                  <a:sym typeface="TT Fors Bold"/>
                </a:rPr>
                <a:t>01</a:t>
              </a:r>
            </a:p>
          </p:txBody>
        </p:sp>
      </p:grpSp>
      <p:sp>
        <p:nvSpPr>
          <p:cNvPr id="161" name="TextBox 42">
            <a:extLst>
              <a:ext uri="{FF2B5EF4-FFF2-40B4-BE49-F238E27FC236}">
                <a16:creationId xmlns:a16="http://schemas.microsoft.com/office/drawing/2014/main" id="{30BD6E7D-E93A-0FBA-E197-81EECF3A14C1}"/>
              </a:ext>
            </a:extLst>
          </p:cNvPr>
          <p:cNvSpPr txBox="1"/>
          <p:nvPr/>
        </p:nvSpPr>
        <p:spPr>
          <a:xfrm>
            <a:off x="14507750" y="5881720"/>
            <a:ext cx="4083805" cy="306705"/>
          </a:xfrm>
          <a:prstGeom prst="rect">
            <a:avLst/>
          </a:prstGeom>
        </p:spPr>
        <p:txBody>
          <a:bodyPr lIns="0" tIns="0" rIns="0" bIns="0" rtlCol="0" anchor="t">
            <a:spAutoFit/>
          </a:bodyPr>
          <a:lstStyle/>
          <a:p>
            <a:pPr algn="l">
              <a:lnSpc>
                <a:spcPts val="2519"/>
              </a:lnSpc>
              <a:spcBef>
                <a:spcPct val="0"/>
              </a:spcBef>
            </a:pPr>
            <a:r>
              <a:rPr lang="en-US" sz="1799" b="1" dirty="0">
                <a:solidFill>
                  <a:srgbClr val="000000"/>
                </a:solidFill>
                <a:latin typeface="TT Fors Bold"/>
                <a:ea typeface="TT Fors Bold"/>
                <a:cs typeface="TT Fors Bold"/>
                <a:sym typeface="TT Fors Bold"/>
              </a:rPr>
              <a:t>Lesion Status</a:t>
            </a:r>
          </a:p>
        </p:txBody>
      </p:sp>
      <p:sp>
        <p:nvSpPr>
          <p:cNvPr id="58" name="Oval 57">
            <a:extLst>
              <a:ext uri="{FF2B5EF4-FFF2-40B4-BE49-F238E27FC236}">
                <a16:creationId xmlns:a16="http://schemas.microsoft.com/office/drawing/2014/main" id="{A33E181E-17B8-C848-5EEA-ACDE2FFFAA08}"/>
              </a:ext>
            </a:extLst>
          </p:cNvPr>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a:extLst>
              <a:ext uri="{FF2B5EF4-FFF2-40B4-BE49-F238E27FC236}">
                <a16:creationId xmlns:a16="http://schemas.microsoft.com/office/drawing/2014/main" id="{47CB3FB0-72E0-92BD-1FE3-2E4781AFCCDE}"/>
              </a:ext>
            </a:extLst>
          </p:cNvPr>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450582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04DB2DD4-3532-69AB-F524-991C5EA8A742}"/>
            </a:ext>
          </a:extLst>
        </p:cNvPr>
        <p:cNvGrpSpPr/>
        <p:nvPr/>
      </p:nvGrpSpPr>
      <p:grpSpPr>
        <a:xfrm>
          <a:off x="0" y="0"/>
          <a:ext cx="0" cy="0"/>
          <a:chOff x="0" y="0"/>
          <a:chExt cx="0" cy="0"/>
        </a:xfrm>
      </p:grpSpPr>
      <p:sp>
        <p:nvSpPr>
          <p:cNvPr id="36" name="TextBox 36">
            <a:extLst>
              <a:ext uri="{FF2B5EF4-FFF2-40B4-BE49-F238E27FC236}">
                <a16:creationId xmlns:a16="http://schemas.microsoft.com/office/drawing/2014/main" id="{A018E47C-9994-48DF-F87A-E0E934581AC9}"/>
              </a:ext>
            </a:extLst>
          </p:cNvPr>
          <p:cNvSpPr txBox="1"/>
          <p:nvPr/>
        </p:nvSpPr>
        <p:spPr>
          <a:xfrm>
            <a:off x="3886200" y="571500"/>
            <a:ext cx="10181376" cy="622935"/>
          </a:xfrm>
          <a:prstGeom prst="rect">
            <a:avLst/>
          </a:prstGeom>
        </p:spPr>
        <p:txBody>
          <a:bodyPr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Patient’s Gender Distribution</a:t>
            </a:r>
          </a:p>
        </p:txBody>
      </p:sp>
      <p:graphicFrame>
        <p:nvGraphicFramePr>
          <p:cNvPr id="2" name="Chart 1">
            <a:extLst>
              <a:ext uri="{FF2B5EF4-FFF2-40B4-BE49-F238E27FC236}">
                <a16:creationId xmlns:a16="http://schemas.microsoft.com/office/drawing/2014/main" id="{0489CA54-24A9-551D-9228-A6D25F6EEA6F}"/>
              </a:ext>
            </a:extLst>
          </p:cNvPr>
          <p:cNvGraphicFramePr>
            <a:graphicFrameLocks/>
          </p:cNvGraphicFramePr>
          <p:nvPr>
            <p:extLst>
              <p:ext uri="{D42A27DB-BD31-4B8C-83A1-F6EECF244321}">
                <p14:modId xmlns:p14="http://schemas.microsoft.com/office/powerpoint/2010/main" val="3274594252"/>
              </p:ext>
            </p:extLst>
          </p:nvPr>
        </p:nvGraphicFramePr>
        <p:xfrm>
          <a:off x="3886200" y="1391786"/>
          <a:ext cx="10668000" cy="6172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40">
            <a:extLst>
              <a:ext uri="{FF2B5EF4-FFF2-40B4-BE49-F238E27FC236}">
                <a16:creationId xmlns:a16="http://schemas.microsoft.com/office/drawing/2014/main" id="{5C6CB567-B547-7270-2F0D-B6B5F433E7BE}"/>
              </a:ext>
            </a:extLst>
          </p:cNvPr>
          <p:cNvSpPr txBox="1"/>
          <p:nvPr/>
        </p:nvSpPr>
        <p:spPr>
          <a:xfrm>
            <a:off x="400665" y="8077200"/>
            <a:ext cx="17907000" cy="1638300"/>
          </a:xfrm>
          <a:prstGeom prst="rect">
            <a:avLst/>
          </a:prstGeom>
          <a:solidFill>
            <a:schemeClr val="tx2"/>
          </a:solidFill>
        </p:spPr>
        <p:txBody>
          <a:bodyPr lIns="50800" tIns="50800" rIns="50800" bIns="50800" rtlCol="0" anchor="ctr"/>
          <a:lstStyle/>
          <a:p>
            <a:pPr>
              <a:lnSpc>
                <a:spcPct val="150000"/>
              </a:lnSpc>
            </a:pPr>
            <a:r>
              <a:rPr lang="en-GB" dirty="0">
                <a:solidFill>
                  <a:schemeClr val="bg1"/>
                </a:solidFill>
                <a:latin typeface="TT Fors" panose="020B0604020202020204" charset="0"/>
                <a:sym typeface="TT Fors"/>
              </a:rPr>
              <a:t>Which gender has more diagnosed skin cancer cases?</a:t>
            </a:r>
            <a:endParaRPr lang="en-US" dirty="0">
              <a:solidFill>
                <a:schemeClr val="bg1"/>
              </a:solidFill>
              <a:latin typeface="TT Fors" panose="020B0604020202020204" charset="0"/>
              <a:sym typeface="TT Fors"/>
            </a:endParaRPr>
          </a:p>
          <a:p>
            <a:pPr>
              <a:lnSpc>
                <a:spcPct val="150000"/>
              </a:lnSpc>
            </a:pPr>
            <a:endParaRPr lang="en-GB" dirty="0">
              <a:solidFill>
                <a:schemeClr val="bg1"/>
              </a:solidFill>
              <a:latin typeface="TT Fors" panose="020B0604020202020204" charset="0"/>
            </a:endParaRPr>
          </a:p>
          <a:p>
            <a:pPr>
              <a:lnSpc>
                <a:spcPct val="150000"/>
              </a:lnSpc>
            </a:pPr>
            <a:r>
              <a:rPr lang="en-GB" dirty="0">
                <a:solidFill>
                  <a:schemeClr val="bg1"/>
                </a:solidFill>
                <a:latin typeface="TT Fors" panose="020B0604020202020204" charset="0"/>
              </a:rPr>
              <a:t>This chart shows the distribution of cases by gender, with 241 male cases and 217 female cases, indicating a slightly higher number of males than females. Overall, males account for 52.6% of cases, while females account for 47.4%, indicating a nearly balanced distribution between the two genders.</a:t>
            </a:r>
            <a:endParaRPr lang="en-US" dirty="0">
              <a:solidFill>
                <a:schemeClr val="bg1"/>
              </a:solidFill>
              <a:latin typeface="TT Fors" panose="020B0604020202020204" charset="0"/>
              <a:sym typeface="TT Fors"/>
            </a:endParaRPr>
          </a:p>
        </p:txBody>
      </p:sp>
      <p:grpSp>
        <p:nvGrpSpPr>
          <p:cNvPr id="5" name="Group 44">
            <a:extLst>
              <a:ext uri="{FF2B5EF4-FFF2-40B4-BE49-F238E27FC236}">
                <a16:creationId xmlns:a16="http://schemas.microsoft.com/office/drawing/2014/main" id="{18A30075-16CD-75BF-2773-0397CBB194EB}"/>
              </a:ext>
            </a:extLst>
          </p:cNvPr>
          <p:cNvGrpSpPr/>
          <p:nvPr/>
        </p:nvGrpSpPr>
        <p:grpSpPr>
          <a:xfrm>
            <a:off x="533400" y="8558233"/>
            <a:ext cx="1447800" cy="336981"/>
            <a:chOff x="0" y="0"/>
            <a:chExt cx="812800" cy="51383"/>
          </a:xfrm>
        </p:grpSpPr>
        <p:sp>
          <p:nvSpPr>
            <p:cNvPr id="6" name="Freeform 45">
              <a:extLst>
                <a:ext uri="{FF2B5EF4-FFF2-40B4-BE49-F238E27FC236}">
                  <a16:creationId xmlns:a16="http://schemas.microsoft.com/office/drawing/2014/main" id="{FDC4AC1C-9BFC-AC4F-AC56-ED8D6F45611A}"/>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7" name="TextBox 46">
              <a:extLst>
                <a:ext uri="{FF2B5EF4-FFF2-40B4-BE49-F238E27FC236}">
                  <a16:creationId xmlns:a16="http://schemas.microsoft.com/office/drawing/2014/main" id="{73E25A41-AA1A-9BFC-CA29-38F270FEC09E}"/>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4" name="TextBox 3">
            <a:extLst>
              <a:ext uri="{FF2B5EF4-FFF2-40B4-BE49-F238E27FC236}">
                <a16:creationId xmlns:a16="http://schemas.microsoft.com/office/drawing/2014/main" id="{1759201C-337C-97D5-871F-59EDEB5A4642}"/>
              </a:ext>
            </a:extLst>
          </p:cNvPr>
          <p:cNvSpPr txBox="1"/>
          <p:nvPr/>
        </p:nvSpPr>
        <p:spPr>
          <a:xfrm>
            <a:off x="838200" y="8558233"/>
            <a:ext cx="2514600" cy="369332"/>
          </a:xfrm>
          <a:prstGeom prst="rect">
            <a:avLst/>
          </a:prstGeom>
          <a:noFill/>
        </p:spPr>
        <p:txBody>
          <a:bodyPr wrap="square">
            <a:spAutoFit/>
          </a:bodyPr>
          <a:lstStyle/>
          <a:p>
            <a:r>
              <a:rPr lang="en-GB" b="1" dirty="0">
                <a:solidFill>
                  <a:schemeClr val="bg1"/>
                </a:solidFill>
                <a:latin typeface="TT Fors" panose="020B0604020202020204" charset="0"/>
              </a:rPr>
              <a:t>Result:</a:t>
            </a:r>
            <a:endParaRPr lang="en-GB" b="1" dirty="0"/>
          </a:p>
        </p:txBody>
      </p:sp>
      <p:sp>
        <p:nvSpPr>
          <p:cNvPr id="8" name="Oval 7">
            <a:extLst>
              <a:ext uri="{FF2B5EF4-FFF2-40B4-BE49-F238E27FC236}">
                <a16:creationId xmlns:a16="http://schemas.microsoft.com/office/drawing/2014/main" id="{CAE1C955-F333-3704-A2DD-5C7B15611FAC}"/>
              </a:ext>
            </a:extLst>
          </p:cNvPr>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2D67747D-9537-F6AC-4185-853D89C8BBF0}"/>
              </a:ext>
            </a:extLst>
          </p:cNvPr>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205333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3CCF3B6C-86F7-3706-FEA2-CE839657D12C}"/>
              </a:ext>
            </a:extLst>
          </p:cNvPr>
          <p:cNvGraphicFramePr>
            <a:graphicFrameLocks/>
          </p:cNvGraphicFramePr>
          <p:nvPr>
            <p:extLst>
              <p:ext uri="{D42A27DB-BD31-4B8C-83A1-F6EECF244321}">
                <p14:modId xmlns:p14="http://schemas.microsoft.com/office/powerpoint/2010/main" val="363064531"/>
              </p:ext>
            </p:extLst>
          </p:nvPr>
        </p:nvGraphicFramePr>
        <p:xfrm>
          <a:off x="654063" y="1715452"/>
          <a:ext cx="10466070" cy="685609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36">
            <a:extLst>
              <a:ext uri="{FF2B5EF4-FFF2-40B4-BE49-F238E27FC236}">
                <a16:creationId xmlns:a16="http://schemas.microsoft.com/office/drawing/2014/main" id="{1EB64DE0-2FDF-62E1-0372-47EA3AB56FDD}"/>
              </a:ext>
            </a:extLst>
          </p:cNvPr>
          <p:cNvSpPr txBox="1"/>
          <p:nvPr/>
        </p:nvSpPr>
        <p:spPr>
          <a:xfrm>
            <a:off x="4191000" y="876300"/>
            <a:ext cx="10181376" cy="622935"/>
          </a:xfrm>
          <a:prstGeom prst="rect">
            <a:avLst/>
          </a:prstGeom>
        </p:spPr>
        <p:txBody>
          <a:bodyPr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Patient’s Age Distribution by Category</a:t>
            </a:r>
          </a:p>
        </p:txBody>
      </p:sp>
      <p:grpSp>
        <p:nvGrpSpPr>
          <p:cNvPr id="6" name="Group 16">
            <a:extLst>
              <a:ext uri="{FF2B5EF4-FFF2-40B4-BE49-F238E27FC236}">
                <a16:creationId xmlns:a16="http://schemas.microsoft.com/office/drawing/2014/main" id="{69FD6F53-D8BD-31B9-2F2B-7438E663F14D}"/>
              </a:ext>
            </a:extLst>
          </p:cNvPr>
          <p:cNvGrpSpPr/>
          <p:nvPr/>
        </p:nvGrpSpPr>
        <p:grpSpPr>
          <a:xfrm>
            <a:off x="12039600" y="2477729"/>
            <a:ext cx="5849298" cy="6551971"/>
            <a:chOff x="0" y="-61168"/>
            <a:chExt cx="1001857" cy="612975"/>
          </a:xfrm>
          <a:solidFill>
            <a:schemeClr val="accent6">
              <a:lumMod val="75000"/>
            </a:schemeClr>
          </a:solidFill>
        </p:grpSpPr>
        <p:sp>
          <p:nvSpPr>
            <p:cNvPr id="7" name="Freeform 17">
              <a:extLst>
                <a:ext uri="{FF2B5EF4-FFF2-40B4-BE49-F238E27FC236}">
                  <a16:creationId xmlns:a16="http://schemas.microsoft.com/office/drawing/2014/main" id="{64A90127-9F46-2AA0-6D64-4CB8E272754B}"/>
                </a:ext>
              </a:extLst>
            </p:cNvPr>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grpFill/>
          </p:spPr>
          <p:txBody>
            <a:bodyPr/>
            <a:lstStyle/>
            <a:p>
              <a:endParaRPr lang="en-GB"/>
            </a:p>
          </p:txBody>
        </p:sp>
        <p:sp>
          <p:nvSpPr>
            <p:cNvPr id="8" name="TextBox 18">
              <a:extLst>
                <a:ext uri="{FF2B5EF4-FFF2-40B4-BE49-F238E27FC236}">
                  <a16:creationId xmlns:a16="http://schemas.microsoft.com/office/drawing/2014/main" id="{799ED0CE-5516-004F-3F18-7BD512E9A242}"/>
                </a:ext>
              </a:extLst>
            </p:cNvPr>
            <p:cNvSpPr txBox="1"/>
            <p:nvPr/>
          </p:nvSpPr>
          <p:spPr>
            <a:xfrm>
              <a:off x="0" y="-61168"/>
              <a:ext cx="1001857" cy="612975"/>
            </a:xfrm>
            <a:prstGeom prst="rect">
              <a:avLst/>
            </a:prstGeom>
            <a:solidFill>
              <a:schemeClr val="tx2"/>
            </a:solidFill>
          </p:spPr>
          <p:txBody>
            <a:bodyPr lIns="50800" tIns="50800" rIns="50800" bIns="50800" rtlCol="0" anchor="ctr"/>
            <a:lstStyle/>
            <a:p>
              <a:pPr algn="ctr">
                <a:lnSpc>
                  <a:spcPts val="2520"/>
                </a:lnSpc>
              </a:pPr>
              <a:endParaRPr/>
            </a:p>
          </p:txBody>
        </p:sp>
      </p:grpSp>
      <p:sp>
        <p:nvSpPr>
          <p:cNvPr id="9" name="TextBox 8">
            <a:extLst>
              <a:ext uri="{FF2B5EF4-FFF2-40B4-BE49-F238E27FC236}">
                <a16:creationId xmlns:a16="http://schemas.microsoft.com/office/drawing/2014/main" id="{0DA1F900-B966-D1C1-4858-590AF5055E76}"/>
              </a:ext>
            </a:extLst>
          </p:cNvPr>
          <p:cNvSpPr txBox="1"/>
          <p:nvPr/>
        </p:nvSpPr>
        <p:spPr>
          <a:xfrm>
            <a:off x="12179899" y="2720560"/>
            <a:ext cx="5490903" cy="5770811"/>
          </a:xfrm>
          <a:prstGeom prst="rect">
            <a:avLst/>
          </a:prstGeom>
          <a:noFill/>
        </p:spPr>
        <p:txBody>
          <a:bodyPr wrap="square">
            <a:spAutoFit/>
          </a:bodyPr>
          <a:lstStyle/>
          <a:p>
            <a:pPr>
              <a:lnSpc>
                <a:spcPct val="150000"/>
              </a:lnSpc>
            </a:pPr>
            <a:r>
              <a:rPr lang="en-GB" dirty="0">
                <a:solidFill>
                  <a:schemeClr val="bg1"/>
                </a:solidFill>
                <a:latin typeface="TT Fors" panose="020B0604020202020204" charset="0"/>
              </a:rPr>
              <a:t>The chart displays three age categories represented by three bars of different heights. </a:t>
            </a:r>
            <a:r>
              <a:rPr lang="en-GB" dirty="0">
                <a:solidFill>
                  <a:schemeClr val="bg1"/>
                </a:solidFill>
                <a:latin typeface="TT Fors" panose="020B0604020202020204" charset="0"/>
                <a:sym typeface="TT Fors"/>
              </a:rPr>
              <a:t>What is the age distribution of patients with skin cancer?</a:t>
            </a:r>
            <a:endParaRPr lang="en-US" dirty="0">
              <a:solidFill>
                <a:schemeClr val="bg1"/>
              </a:solidFill>
              <a:latin typeface="TT Fors" panose="020B0604020202020204" charset="0"/>
              <a:sym typeface="TT Fors"/>
            </a:endParaRPr>
          </a:p>
          <a:p>
            <a:pPr>
              <a:lnSpc>
                <a:spcPct val="150000"/>
              </a:lnSpc>
            </a:pPr>
            <a:endParaRPr lang="en-GB" dirty="0">
              <a:solidFill>
                <a:schemeClr val="bg1"/>
              </a:solidFill>
              <a:latin typeface="TT Fors" panose="020B0604020202020204" charset="0"/>
            </a:endParaRPr>
          </a:p>
          <a:p>
            <a:pPr>
              <a:lnSpc>
                <a:spcPct val="150000"/>
              </a:lnSpc>
            </a:pPr>
            <a:r>
              <a:rPr lang="en-GB" dirty="0">
                <a:solidFill>
                  <a:schemeClr val="bg1"/>
                </a:solidFill>
                <a:latin typeface="TT Fors" panose="020B0604020202020204" charset="0"/>
              </a:rPr>
              <a:t>                </a:t>
            </a:r>
          </a:p>
          <a:p>
            <a:pPr>
              <a:lnSpc>
                <a:spcPct val="150000"/>
              </a:lnSpc>
            </a:pPr>
            <a:r>
              <a:rPr lang="en-GB" dirty="0">
                <a:solidFill>
                  <a:schemeClr val="bg1"/>
                </a:solidFill>
                <a:latin typeface="TT Fors" panose="020B0604020202020204" charset="0"/>
              </a:rPr>
              <a:t>                     </a:t>
            </a:r>
          </a:p>
          <a:p>
            <a:r>
              <a:rPr lang="en-GB" dirty="0">
                <a:solidFill>
                  <a:schemeClr val="bg1"/>
                </a:solidFill>
                <a:latin typeface="TT Fors" panose="020B0604020202020204" charset="0"/>
              </a:rPr>
              <a:t>The middle age category is significantly higher than the other two, indicating it accounts for the majority of the distribution.</a:t>
            </a:r>
            <a:br>
              <a:rPr lang="en-GB" dirty="0">
                <a:solidFill>
                  <a:schemeClr val="bg1"/>
                </a:solidFill>
                <a:latin typeface="TT Fors" panose="020B0604020202020204" charset="0"/>
              </a:rPr>
            </a:br>
            <a:r>
              <a:rPr lang="en-GB" dirty="0">
                <a:solidFill>
                  <a:schemeClr val="bg1"/>
                </a:solidFill>
                <a:latin typeface="TT Fors" panose="020B0604020202020204" charset="0"/>
              </a:rPr>
              <a:t>The left category shows a small proportion, while the right category is almost negligible in comparison.</a:t>
            </a:r>
            <a:br>
              <a:rPr lang="en-GB" dirty="0">
                <a:solidFill>
                  <a:schemeClr val="bg1"/>
                </a:solidFill>
                <a:latin typeface="TT Fors" panose="020B0604020202020204" charset="0"/>
              </a:rPr>
            </a:br>
            <a:r>
              <a:rPr lang="en-GB" dirty="0">
                <a:solidFill>
                  <a:schemeClr val="bg1"/>
                </a:solidFill>
                <a:latin typeface="TT Fors" panose="020B0604020202020204" charset="0"/>
              </a:rPr>
              <a:t>Based on the relative bar heights, the estimated percentages are approximately 10% for the first category, 88% for the second (middle) category, and 2% for the third category.</a:t>
            </a:r>
          </a:p>
        </p:txBody>
      </p:sp>
      <p:grpSp>
        <p:nvGrpSpPr>
          <p:cNvPr id="10" name="Group 44">
            <a:extLst>
              <a:ext uri="{FF2B5EF4-FFF2-40B4-BE49-F238E27FC236}">
                <a16:creationId xmlns:a16="http://schemas.microsoft.com/office/drawing/2014/main" id="{5851A7E5-0B5E-C3CF-CD9A-C2330AAD3DC7}"/>
              </a:ext>
            </a:extLst>
          </p:cNvPr>
          <p:cNvGrpSpPr/>
          <p:nvPr/>
        </p:nvGrpSpPr>
        <p:grpSpPr>
          <a:xfrm>
            <a:off x="12051890" y="4813160"/>
            <a:ext cx="2374406" cy="304630"/>
            <a:chOff x="0" y="0"/>
            <a:chExt cx="812800" cy="51383"/>
          </a:xfrm>
        </p:grpSpPr>
        <p:sp>
          <p:nvSpPr>
            <p:cNvPr id="11" name="Freeform 45">
              <a:extLst>
                <a:ext uri="{FF2B5EF4-FFF2-40B4-BE49-F238E27FC236}">
                  <a16:creationId xmlns:a16="http://schemas.microsoft.com/office/drawing/2014/main" id="{CD3C08E1-BB7B-983B-66AB-EF59803ADAC2}"/>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12" name="TextBox 46">
              <a:extLst>
                <a:ext uri="{FF2B5EF4-FFF2-40B4-BE49-F238E27FC236}">
                  <a16:creationId xmlns:a16="http://schemas.microsoft.com/office/drawing/2014/main" id="{D3E6A1EA-8B83-8187-D4FB-2D90AED150B0}"/>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13" name="TextBox 12">
            <a:extLst>
              <a:ext uri="{FF2B5EF4-FFF2-40B4-BE49-F238E27FC236}">
                <a16:creationId xmlns:a16="http://schemas.microsoft.com/office/drawing/2014/main" id="{4463D16E-7C95-9943-E0D1-EDFA6B4F6D97}"/>
              </a:ext>
            </a:extLst>
          </p:cNvPr>
          <p:cNvSpPr txBox="1"/>
          <p:nvPr/>
        </p:nvSpPr>
        <p:spPr>
          <a:xfrm>
            <a:off x="12410750" y="4779976"/>
            <a:ext cx="2514600" cy="369332"/>
          </a:xfrm>
          <a:prstGeom prst="rect">
            <a:avLst/>
          </a:prstGeom>
          <a:noFill/>
        </p:spPr>
        <p:txBody>
          <a:bodyPr wrap="square">
            <a:spAutoFit/>
          </a:bodyPr>
          <a:lstStyle/>
          <a:p>
            <a:r>
              <a:rPr lang="en-GB" b="1" dirty="0">
                <a:solidFill>
                  <a:schemeClr val="bg1"/>
                </a:solidFill>
                <a:latin typeface="TT Fors" panose="020B0604020202020204" charset="0"/>
              </a:rPr>
              <a:t>Key insights: </a:t>
            </a:r>
            <a:endParaRPr lang="en-GB" b="1" dirty="0"/>
          </a:p>
        </p:txBody>
      </p:sp>
      <p:sp>
        <p:nvSpPr>
          <p:cNvPr id="4" name="Oval 3">
            <a:extLst>
              <a:ext uri="{FF2B5EF4-FFF2-40B4-BE49-F238E27FC236}">
                <a16:creationId xmlns:a16="http://schemas.microsoft.com/office/drawing/2014/main" id="{A3F39C91-9936-489D-D523-C7428F6FF989}"/>
              </a:ext>
            </a:extLst>
          </p:cNvPr>
          <p:cNvSpPr/>
          <p:nvPr/>
        </p:nvSpPr>
        <p:spPr>
          <a:xfrm>
            <a:off x="-1083297" y="-148590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F1CC1D6B-C672-501D-8602-BD89EC43E63B}"/>
              </a:ext>
            </a:extLst>
          </p:cNvPr>
          <p:cNvSpPr/>
          <p:nvPr/>
        </p:nvSpPr>
        <p:spPr>
          <a:xfrm>
            <a:off x="-717537" y="-93726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20467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DCB69824-0BF3-6E6C-C68B-E0E3907BE1E9}"/>
            </a:ext>
          </a:extLst>
        </p:cNvPr>
        <p:cNvGrpSpPr/>
        <p:nvPr/>
      </p:nvGrpSpPr>
      <p:grpSpPr>
        <a:xfrm>
          <a:off x="0" y="0"/>
          <a:ext cx="0" cy="0"/>
          <a:chOff x="0" y="0"/>
          <a:chExt cx="0" cy="0"/>
        </a:xfrm>
      </p:grpSpPr>
      <p:sp>
        <p:nvSpPr>
          <p:cNvPr id="36" name="TextBox 36">
            <a:extLst>
              <a:ext uri="{FF2B5EF4-FFF2-40B4-BE49-F238E27FC236}">
                <a16:creationId xmlns:a16="http://schemas.microsoft.com/office/drawing/2014/main" id="{6AC788E3-0903-C050-1109-3D3C55CCF8A4}"/>
              </a:ext>
            </a:extLst>
          </p:cNvPr>
          <p:cNvSpPr txBox="1"/>
          <p:nvPr/>
        </p:nvSpPr>
        <p:spPr>
          <a:xfrm>
            <a:off x="3886200" y="571500"/>
            <a:ext cx="10181376" cy="622935"/>
          </a:xfrm>
          <a:prstGeom prst="rect">
            <a:avLst/>
          </a:prstGeom>
        </p:spPr>
        <p:txBody>
          <a:bodyPr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Patient’s Cancer History</a:t>
            </a:r>
          </a:p>
        </p:txBody>
      </p:sp>
      <p:sp>
        <p:nvSpPr>
          <p:cNvPr id="3" name="TextBox 40">
            <a:extLst>
              <a:ext uri="{FF2B5EF4-FFF2-40B4-BE49-F238E27FC236}">
                <a16:creationId xmlns:a16="http://schemas.microsoft.com/office/drawing/2014/main" id="{9664A3FF-5B00-2EB9-99F8-698107C57FC7}"/>
              </a:ext>
            </a:extLst>
          </p:cNvPr>
          <p:cNvSpPr txBox="1"/>
          <p:nvPr/>
        </p:nvSpPr>
        <p:spPr>
          <a:xfrm>
            <a:off x="152400" y="8029266"/>
            <a:ext cx="17907000" cy="2143434"/>
          </a:xfrm>
          <a:prstGeom prst="rect">
            <a:avLst/>
          </a:prstGeom>
          <a:solidFill>
            <a:schemeClr val="tx2"/>
          </a:solidFill>
        </p:spPr>
        <p:txBody>
          <a:bodyPr lIns="50800" tIns="50800" rIns="50800" bIns="50800" rtlCol="0" anchor="ctr"/>
          <a:lstStyle/>
          <a:p>
            <a:pPr>
              <a:lnSpc>
                <a:spcPct val="150000"/>
              </a:lnSpc>
            </a:pPr>
            <a:r>
              <a:rPr lang="en-GB" dirty="0">
                <a:solidFill>
                  <a:schemeClr val="bg1"/>
                </a:solidFill>
                <a:latin typeface="TT Fors" panose="020B0604020202020204" charset="0"/>
              </a:rPr>
              <a:t>Does family history of cancer increase risk?--Family history impact</a:t>
            </a:r>
          </a:p>
          <a:p>
            <a:pPr>
              <a:lnSpc>
                <a:spcPct val="150000"/>
              </a:lnSpc>
            </a:pPr>
            <a:endParaRPr lang="en-GB" dirty="0">
              <a:solidFill>
                <a:schemeClr val="bg1"/>
              </a:solidFill>
              <a:latin typeface="TT Fors" panose="020B0604020202020204" charset="0"/>
            </a:endParaRPr>
          </a:p>
          <a:p>
            <a:pPr>
              <a:lnSpc>
                <a:spcPct val="150000"/>
              </a:lnSpc>
            </a:pPr>
            <a:r>
              <a:rPr lang="en-GB" dirty="0">
                <a:solidFill>
                  <a:schemeClr val="bg1"/>
                </a:solidFill>
                <a:latin typeface="TT Fors" panose="020B0604020202020204" charset="0"/>
              </a:rPr>
              <a:t>This chart shows the distribution of patients based on cancer history, with 246 patients reporting a cancer history (TRUE) and 212 patients reporting no cancer history (FALSE) out of a total of 458 patients. Overall, 53.7% of patients have a cancer history (TRUE), while 46.3% do not have a cancer history (FALSE).</a:t>
            </a:r>
            <a:endParaRPr lang="en-US" dirty="0">
              <a:solidFill>
                <a:schemeClr val="bg1"/>
              </a:solidFill>
              <a:latin typeface="TT Fors" panose="020B0604020202020204" charset="0"/>
              <a:sym typeface="TT Fors"/>
            </a:endParaRPr>
          </a:p>
        </p:txBody>
      </p:sp>
      <p:graphicFrame>
        <p:nvGraphicFramePr>
          <p:cNvPr id="4" name="Chart 3">
            <a:extLst>
              <a:ext uri="{FF2B5EF4-FFF2-40B4-BE49-F238E27FC236}">
                <a16:creationId xmlns:a16="http://schemas.microsoft.com/office/drawing/2014/main" id="{D442B1AB-2516-443B-F95B-608B6BA6A073}"/>
              </a:ext>
            </a:extLst>
          </p:cNvPr>
          <p:cNvGraphicFramePr>
            <a:graphicFrameLocks/>
          </p:cNvGraphicFramePr>
          <p:nvPr>
            <p:extLst>
              <p:ext uri="{D42A27DB-BD31-4B8C-83A1-F6EECF244321}">
                <p14:modId xmlns:p14="http://schemas.microsoft.com/office/powerpoint/2010/main" val="2576099398"/>
              </p:ext>
            </p:extLst>
          </p:nvPr>
        </p:nvGraphicFramePr>
        <p:xfrm>
          <a:off x="3276600" y="1730692"/>
          <a:ext cx="11019576" cy="5810250"/>
        </p:xfrm>
        <a:graphic>
          <a:graphicData uri="http://schemas.openxmlformats.org/drawingml/2006/chart">
            <c:chart xmlns:c="http://schemas.openxmlformats.org/drawingml/2006/chart" xmlns:r="http://schemas.openxmlformats.org/officeDocument/2006/relationships" r:id="rId2"/>
          </a:graphicData>
        </a:graphic>
      </p:graphicFrame>
      <p:grpSp>
        <p:nvGrpSpPr>
          <p:cNvPr id="6" name="Group 44">
            <a:extLst>
              <a:ext uri="{FF2B5EF4-FFF2-40B4-BE49-F238E27FC236}">
                <a16:creationId xmlns:a16="http://schemas.microsoft.com/office/drawing/2014/main" id="{FB5F39AE-D12A-1F49-5D80-FCBDADAD1278}"/>
              </a:ext>
            </a:extLst>
          </p:cNvPr>
          <p:cNvGrpSpPr/>
          <p:nvPr/>
        </p:nvGrpSpPr>
        <p:grpSpPr>
          <a:xfrm>
            <a:off x="228600" y="8775459"/>
            <a:ext cx="2374406" cy="304630"/>
            <a:chOff x="0" y="0"/>
            <a:chExt cx="812800" cy="51383"/>
          </a:xfrm>
        </p:grpSpPr>
        <p:sp>
          <p:nvSpPr>
            <p:cNvPr id="7" name="Freeform 45">
              <a:extLst>
                <a:ext uri="{FF2B5EF4-FFF2-40B4-BE49-F238E27FC236}">
                  <a16:creationId xmlns:a16="http://schemas.microsoft.com/office/drawing/2014/main" id="{F8454422-89FA-AE45-EE12-139A997C659E}"/>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8" name="TextBox 46">
              <a:extLst>
                <a:ext uri="{FF2B5EF4-FFF2-40B4-BE49-F238E27FC236}">
                  <a16:creationId xmlns:a16="http://schemas.microsoft.com/office/drawing/2014/main" id="{CB314F79-DBBD-B0D2-DBA4-B14B79780593}"/>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9" name="TextBox 8">
            <a:extLst>
              <a:ext uri="{FF2B5EF4-FFF2-40B4-BE49-F238E27FC236}">
                <a16:creationId xmlns:a16="http://schemas.microsoft.com/office/drawing/2014/main" id="{84F8F8D7-B3F7-D3F5-A587-AAF872722BCD}"/>
              </a:ext>
            </a:extLst>
          </p:cNvPr>
          <p:cNvSpPr txBox="1"/>
          <p:nvPr/>
        </p:nvSpPr>
        <p:spPr>
          <a:xfrm>
            <a:off x="609600" y="8743108"/>
            <a:ext cx="2514600" cy="369332"/>
          </a:xfrm>
          <a:prstGeom prst="rect">
            <a:avLst/>
          </a:prstGeom>
          <a:noFill/>
        </p:spPr>
        <p:txBody>
          <a:bodyPr wrap="square">
            <a:spAutoFit/>
          </a:bodyPr>
          <a:lstStyle/>
          <a:p>
            <a:r>
              <a:rPr lang="en-GB" b="1" dirty="0">
                <a:solidFill>
                  <a:schemeClr val="bg1"/>
                </a:solidFill>
                <a:latin typeface="TT Fors" panose="020B0604020202020204" charset="0"/>
              </a:rPr>
              <a:t>Key insights: </a:t>
            </a:r>
            <a:endParaRPr lang="en-GB" b="1" dirty="0"/>
          </a:p>
        </p:txBody>
      </p:sp>
      <p:sp>
        <p:nvSpPr>
          <p:cNvPr id="2" name="Oval 1">
            <a:extLst>
              <a:ext uri="{FF2B5EF4-FFF2-40B4-BE49-F238E27FC236}">
                <a16:creationId xmlns:a16="http://schemas.microsoft.com/office/drawing/2014/main" id="{A3C6B1EA-3E5A-3E25-22AB-83AC24318391}"/>
              </a:ext>
            </a:extLst>
          </p:cNvPr>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A40ACB31-132F-3A2E-1E5D-62672BA0DAC5}"/>
              </a:ext>
            </a:extLst>
          </p:cNvPr>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988924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687040C3-1ACC-426E-2849-9B091A3A0FBD}"/>
            </a:ext>
          </a:extLst>
        </p:cNvPr>
        <p:cNvGrpSpPr/>
        <p:nvPr/>
      </p:nvGrpSpPr>
      <p:grpSpPr>
        <a:xfrm>
          <a:off x="0" y="0"/>
          <a:ext cx="0" cy="0"/>
          <a:chOff x="0" y="0"/>
          <a:chExt cx="0" cy="0"/>
        </a:xfrm>
      </p:grpSpPr>
      <p:sp>
        <p:nvSpPr>
          <p:cNvPr id="36" name="TextBox 36">
            <a:extLst>
              <a:ext uri="{FF2B5EF4-FFF2-40B4-BE49-F238E27FC236}">
                <a16:creationId xmlns:a16="http://schemas.microsoft.com/office/drawing/2014/main" id="{847F896A-C71F-92D2-3573-9520159E53B3}"/>
              </a:ext>
            </a:extLst>
          </p:cNvPr>
          <p:cNvSpPr txBox="1"/>
          <p:nvPr/>
        </p:nvSpPr>
        <p:spPr>
          <a:xfrm>
            <a:off x="3886200" y="571500"/>
            <a:ext cx="10181376" cy="622935"/>
          </a:xfrm>
          <a:prstGeom prst="rect">
            <a:avLst/>
          </a:prstGeom>
        </p:spPr>
        <p:txBody>
          <a:bodyPr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Patient’s Cancer History</a:t>
            </a:r>
          </a:p>
        </p:txBody>
      </p:sp>
      <p:graphicFrame>
        <p:nvGraphicFramePr>
          <p:cNvPr id="2" name="Chart 1">
            <a:extLst>
              <a:ext uri="{FF2B5EF4-FFF2-40B4-BE49-F238E27FC236}">
                <a16:creationId xmlns:a16="http://schemas.microsoft.com/office/drawing/2014/main" id="{855688BC-E842-6CD5-0CF1-A5DE1D3D4587}"/>
              </a:ext>
            </a:extLst>
          </p:cNvPr>
          <p:cNvGraphicFramePr>
            <a:graphicFrameLocks/>
          </p:cNvGraphicFramePr>
          <p:nvPr>
            <p:extLst>
              <p:ext uri="{D42A27DB-BD31-4B8C-83A1-F6EECF244321}">
                <p14:modId xmlns:p14="http://schemas.microsoft.com/office/powerpoint/2010/main" val="12304186"/>
              </p:ext>
            </p:extLst>
          </p:nvPr>
        </p:nvGraphicFramePr>
        <p:xfrm>
          <a:off x="6096000" y="1714500"/>
          <a:ext cx="8878824" cy="729538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18">
            <a:extLst>
              <a:ext uri="{FF2B5EF4-FFF2-40B4-BE49-F238E27FC236}">
                <a16:creationId xmlns:a16="http://schemas.microsoft.com/office/drawing/2014/main" id="{A9D04508-3708-C389-AA1D-0129001BDC5C}"/>
              </a:ext>
            </a:extLst>
          </p:cNvPr>
          <p:cNvSpPr txBox="1"/>
          <p:nvPr/>
        </p:nvSpPr>
        <p:spPr>
          <a:xfrm>
            <a:off x="685800" y="2199894"/>
            <a:ext cx="3962400" cy="6324600"/>
          </a:xfrm>
          <a:prstGeom prst="rect">
            <a:avLst/>
          </a:prstGeom>
          <a:solidFill>
            <a:schemeClr val="tx2"/>
          </a:solidFill>
        </p:spPr>
        <p:txBody>
          <a:bodyPr lIns="50800" tIns="50800" rIns="50800" bIns="50800" rtlCol="0" anchor="ctr"/>
          <a:lstStyle/>
          <a:p>
            <a:pPr algn="ctr">
              <a:lnSpc>
                <a:spcPts val="2520"/>
              </a:lnSpc>
            </a:pPr>
            <a:endParaRPr/>
          </a:p>
        </p:txBody>
      </p:sp>
      <p:sp>
        <p:nvSpPr>
          <p:cNvPr id="6" name="TextBox 5">
            <a:extLst>
              <a:ext uri="{FF2B5EF4-FFF2-40B4-BE49-F238E27FC236}">
                <a16:creationId xmlns:a16="http://schemas.microsoft.com/office/drawing/2014/main" id="{FB8CE026-AC8B-D60A-9743-7E2FF90B0235}"/>
              </a:ext>
            </a:extLst>
          </p:cNvPr>
          <p:cNvSpPr txBox="1"/>
          <p:nvPr/>
        </p:nvSpPr>
        <p:spPr>
          <a:xfrm>
            <a:off x="763818" y="2336962"/>
            <a:ext cx="3806364" cy="5613075"/>
          </a:xfrm>
          <a:prstGeom prst="rect">
            <a:avLst/>
          </a:prstGeom>
          <a:noFill/>
        </p:spPr>
        <p:txBody>
          <a:bodyPr wrap="square">
            <a:spAutoFit/>
          </a:bodyPr>
          <a:lstStyle/>
          <a:p>
            <a:pPr>
              <a:lnSpc>
                <a:spcPct val="150000"/>
              </a:lnSpc>
              <a:spcAft>
                <a:spcPts val="600"/>
              </a:spcAft>
            </a:pPr>
            <a:r>
              <a:rPr lang="en-GB" dirty="0">
                <a:solidFill>
                  <a:schemeClr val="bg1"/>
                </a:solidFill>
                <a:latin typeface="TT Fors" panose="020B0604020202020204" charset="0"/>
              </a:rPr>
              <a:t>Do patients with previous skin cancer have higher recurrence?</a:t>
            </a:r>
            <a:endParaRPr lang="en-US" dirty="0">
              <a:solidFill>
                <a:schemeClr val="bg1"/>
              </a:solidFill>
              <a:latin typeface="TT Fors" panose="020B0604020202020204" charset="0"/>
            </a:endParaRPr>
          </a:p>
          <a:p>
            <a:pPr>
              <a:lnSpc>
                <a:spcPct val="150000"/>
              </a:lnSpc>
              <a:spcAft>
                <a:spcPts val="600"/>
              </a:spcAft>
            </a:pPr>
            <a:endParaRPr lang="en-US" dirty="0">
              <a:solidFill>
                <a:schemeClr val="bg1"/>
              </a:solidFill>
              <a:latin typeface="TT Fors" panose="020B0604020202020204" charset="0"/>
            </a:endParaRPr>
          </a:p>
          <a:p>
            <a:pPr>
              <a:lnSpc>
                <a:spcPct val="150000"/>
              </a:lnSpc>
              <a:spcAft>
                <a:spcPts val="600"/>
              </a:spcAft>
            </a:pPr>
            <a:r>
              <a:rPr lang="en-US" dirty="0">
                <a:solidFill>
                  <a:schemeClr val="bg1"/>
                </a:solidFill>
                <a:latin typeface="TT Fors" panose="020B0604020202020204" charset="0"/>
              </a:rPr>
              <a:t>This chart shows the distribution of patients based on cancer history, with 246 patients reporting a cancer history (TRUE) and 212 patients reporting no cancer history (FALSE) out of a total of 458 patients. Overall, 53.7% of patients have a cancer history (TRUE), while 46.3% do not have a cancer history (FALSE).</a:t>
            </a:r>
            <a:endParaRPr lang="en-US" dirty="0">
              <a:solidFill>
                <a:schemeClr val="bg1"/>
              </a:solidFill>
              <a:latin typeface="TT Fors" panose="020B0604020202020204" charset="0"/>
              <a:sym typeface="TT Fors"/>
            </a:endParaRPr>
          </a:p>
        </p:txBody>
      </p:sp>
      <p:grpSp>
        <p:nvGrpSpPr>
          <p:cNvPr id="4" name="Group 44">
            <a:extLst>
              <a:ext uri="{FF2B5EF4-FFF2-40B4-BE49-F238E27FC236}">
                <a16:creationId xmlns:a16="http://schemas.microsoft.com/office/drawing/2014/main" id="{46E3200A-AA0A-50D7-0C9D-1290F56ABE4A}"/>
              </a:ext>
            </a:extLst>
          </p:cNvPr>
          <p:cNvGrpSpPr/>
          <p:nvPr/>
        </p:nvGrpSpPr>
        <p:grpSpPr>
          <a:xfrm>
            <a:off x="798231" y="3372946"/>
            <a:ext cx="2374406" cy="304630"/>
            <a:chOff x="0" y="0"/>
            <a:chExt cx="812800" cy="51383"/>
          </a:xfrm>
        </p:grpSpPr>
        <p:sp>
          <p:nvSpPr>
            <p:cNvPr id="7" name="Freeform 45">
              <a:extLst>
                <a:ext uri="{FF2B5EF4-FFF2-40B4-BE49-F238E27FC236}">
                  <a16:creationId xmlns:a16="http://schemas.microsoft.com/office/drawing/2014/main" id="{28F9C3CF-CF92-4BE3-538A-83B08896C59B}"/>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8" name="TextBox 46">
              <a:extLst>
                <a:ext uri="{FF2B5EF4-FFF2-40B4-BE49-F238E27FC236}">
                  <a16:creationId xmlns:a16="http://schemas.microsoft.com/office/drawing/2014/main" id="{CBDE7C8D-B97E-970B-ADD5-6FDC466BCFAC}"/>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3" name="TextBox 2">
            <a:extLst>
              <a:ext uri="{FF2B5EF4-FFF2-40B4-BE49-F238E27FC236}">
                <a16:creationId xmlns:a16="http://schemas.microsoft.com/office/drawing/2014/main" id="{AF0C7952-9A93-203C-1D90-87ED92686BCF}"/>
              </a:ext>
            </a:extLst>
          </p:cNvPr>
          <p:cNvSpPr txBox="1"/>
          <p:nvPr/>
        </p:nvSpPr>
        <p:spPr>
          <a:xfrm>
            <a:off x="1219200" y="3308244"/>
            <a:ext cx="2514600" cy="369332"/>
          </a:xfrm>
          <a:prstGeom prst="rect">
            <a:avLst/>
          </a:prstGeom>
          <a:noFill/>
        </p:spPr>
        <p:txBody>
          <a:bodyPr wrap="square">
            <a:spAutoFit/>
          </a:bodyPr>
          <a:lstStyle/>
          <a:p>
            <a:r>
              <a:rPr lang="en-GB" b="1" dirty="0">
                <a:solidFill>
                  <a:schemeClr val="bg1"/>
                </a:solidFill>
                <a:latin typeface="TT Fors" panose="020B0604020202020204" charset="0"/>
              </a:rPr>
              <a:t>Key insights: </a:t>
            </a:r>
            <a:endParaRPr lang="en-GB" b="1" dirty="0"/>
          </a:p>
        </p:txBody>
      </p:sp>
      <p:sp>
        <p:nvSpPr>
          <p:cNvPr id="9" name="Oval 8">
            <a:extLst>
              <a:ext uri="{FF2B5EF4-FFF2-40B4-BE49-F238E27FC236}">
                <a16:creationId xmlns:a16="http://schemas.microsoft.com/office/drawing/2014/main" id="{F5F72C0B-DAEE-D659-6087-048B7104CF9A}"/>
              </a:ext>
            </a:extLst>
          </p:cNvPr>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D157DC34-330C-2B7E-61AE-6C4B5E58A4EB}"/>
              </a:ext>
            </a:extLst>
          </p:cNvPr>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74978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058E9F-0025-07A9-DB89-49D2371FFB0A}"/>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6">
            <a:extLst>
              <a:ext uri="{FF2B5EF4-FFF2-40B4-BE49-F238E27FC236}">
                <a16:creationId xmlns:a16="http://schemas.microsoft.com/office/drawing/2014/main" id="{6B510760-836A-40A3-C7FD-F09C9291AD81}"/>
              </a:ext>
            </a:extLst>
          </p:cNvPr>
          <p:cNvSpPr txBox="1"/>
          <p:nvPr/>
        </p:nvSpPr>
        <p:spPr>
          <a:xfrm>
            <a:off x="1704595" y="753031"/>
            <a:ext cx="7439405" cy="2464454"/>
          </a:xfrm>
          <a:prstGeom prst="rect">
            <a:avLst/>
          </a:prstGeom>
        </p:spPr>
        <p:txBody>
          <a:bodyPr vert="horz" lIns="91440" tIns="45720" rIns="91440" bIns="45720" rtlCol="0" anchor="b">
            <a:normAutofit/>
          </a:bodyPr>
          <a:lstStyle/>
          <a:p>
            <a:pPr>
              <a:lnSpc>
                <a:spcPct val="90000"/>
              </a:lnSpc>
              <a:spcBef>
                <a:spcPct val="0"/>
              </a:spcBef>
              <a:spcAft>
                <a:spcPts val="600"/>
              </a:spcAft>
            </a:pPr>
            <a:endParaRPr lang="en-US" sz="6000" b="1" kern="1200" dirty="0">
              <a:solidFill>
                <a:schemeClr val="tx1"/>
              </a:solidFill>
              <a:latin typeface="+mj-lt"/>
              <a:ea typeface="+mj-ea"/>
              <a:cs typeface="+mj-cs"/>
              <a:sym typeface="TT Fors Bold"/>
            </a:endParaRPr>
          </a:p>
        </p:txBody>
      </p:sp>
      <p:sp>
        <p:nvSpPr>
          <p:cNvPr id="43" name="Rectangle 4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9601198"/>
            <a:ext cx="18288000" cy="685160"/>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57900" y="9601198"/>
            <a:ext cx="12230097" cy="685158"/>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Chart 2">
            <a:extLst>
              <a:ext uri="{FF2B5EF4-FFF2-40B4-BE49-F238E27FC236}">
                <a16:creationId xmlns:a16="http://schemas.microsoft.com/office/drawing/2014/main" id="{FBEE0ACB-73BE-7CD1-FD46-2DFA619A2520}"/>
              </a:ext>
            </a:extLst>
          </p:cNvPr>
          <p:cNvGraphicFramePr>
            <a:graphicFrameLocks/>
          </p:cNvGraphicFramePr>
          <p:nvPr>
            <p:extLst>
              <p:ext uri="{D42A27DB-BD31-4B8C-83A1-F6EECF244321}">
                <p14:modId xmlns:p14="http://schemas.microsoft.com/office/powerpoint/2010/main" val="2332482572"/>
              </p:ext>
            </p:extLst>
          </p:nvPr>
        </p:nvGraphicFramePr>
        <p:xfrm>
          <a:off x="9768663" y="733677"/>
          <a:ext cx="7801534" cy="819901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6">
            <a:extLst>
              <a:ext uri="{FF2B5EF4-FFF2-40B4-BE49-F238E27FC236}">
                <a16:creationId xmlns:a16="http://schemas.microsoft.com/office/drawing/2014/main" id="{1062C3B6-BCC3-B3F6-CD27-C2B8BBB6F91D}"/>
              </a:ext>
            </a:extLst>
          </p:cNvPr>
          <p:cNvSpPr txBox="1"/>
          <p:nvPr/>
        </p:nvSpPr>
        <p:spPr>
          <a:xfrm>
            <a:off x="333609" y="1440827"/>
            <a:ext cx="10181376" cy="622935"/>
          </a:xfrm>
          <a:prstGeom prst="rect">
            <a:avLst/>
          </a:prstGeom>
        </p:spPr>
        <p:txBody>
          <a:bodyPr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Pesticide Control</a:t>
            </a:r>
          </a:p>
        </p:txBody>
      </p:sp>
      <p:grpSp>
        <p:nvGrpSpPr>
          <p:cNvPr id="7" name="Group 16">
            <a:extLst>
              <a:ext uri="{FF2B5EF4-FFF2-40B4-BE49-F238E27FC236}">
                <a16:creationId xmlns:a16="http://schemas.microsoft.com/office/drawing/2014/main" id="{7510D60E-4877-ED03-95B3-E762AEACF7E3}"/>
              </a:ext>
            </a:extLst>
          </p:cNvPr>
          <p:cNvGrpSpPr/>
          <p:nvPr/>
        </p:nvGrpSpPr>
        <p:grpSpPr>
          <a:xfrm>
            <a:off x="2323301" y="2070515"/>
            <a:ext cx="5918714" cy="6631593"/>
            <a:chOff x="0" y="-61168"/>
            <a:chExt cx="1001857" cy="612975"/>
          </a:xfrm>
          <a:solidFill>
            <a:schemeClr val="accent6">
              <a:lumMod val="75000"/>
            </a:schemeClr>
          </a:solidFill>
        </p:grpSpPr>
        <p:sp>
          <p:nvSpPr>
            <p:cNvPr id="8" name="Freeform 17">
              <a:extLst>
                <a:ext uri="{FF2B5EF4-FFF2-40B4-BE49-F238E27FC236}">
                  <a16:creationId xmlns:a16="http://schemas.microsoft.com/office/drawing/2014/main" id="{4153B75D-13A9-4FDF-995D-62BBFEA446D4}"/>
                </a:ext>
              </a:extLst>
            </p:cNvPr>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grpFill/>
          </p:spPr>
          <p:txBody>
            <a:bodyPr/>
            <a:lstStyle/>
            <a:p>
              <a:endParaRPr lang="en-GB"/>
            </a:p>
          </p:txBody>
        </p:sp>
        <p:sp>
          <p:nvSpPr>
            <p:cNvPr id="9" name="TextBox 18">
              <a:extLst>
                <a:ext uri="{FF2B5EF4-FFF2-40B4-BE49-F238E27FC236}">
                  <a16:creationId xmlns:a16="http://schemas.microsoft.com/office/drawing/2014/main" id="{AF43981E-246E-F3C4-E1CE-C3DBE50F9E47}"/>
                </a:ext>
              </a:extLst>
            </p:cNvPr>
            <p:cNvSpPr txBox="1"/>
            <p:nvPr/>
          </p:nvSpPr>
          <p:spPr>
            <a:xfrm>
              <a:off x="0" y="-61168"/>
              <a:ext cx="1001857" cy="612975"/>
            </a:xfrm>
            <a:prstGeom prst="rect">
              <a:avLst/>
            </a:prstGeom>
            <a:solidFill>
              <a:schemeClr val="tx2"/>
            </a:solidFill>
          </p:spPr>
          <p:txBody>
            <a:bodyPr lIns="50800" tIns="50800" rIns="50800" bIns="50800" rtlCol="0" anchor="ctr"/>
            <a:lstStyle/>
            <a:p>
              <a:pPr algn="ctr">
                <a:lnSpc>
                  <a:spcPts val="2520"/>
                </a:lnSpc>
              </a:pPr>
              <a:endParaRPr/>
            </a:p>
          </p:txBody>
        </p:sp>
      </p:grpSp>
      <p:sp>
        <p:nvSpPr>
          <p:cNvPr id="10" name="TextBox 9">
            <a:extLst>
              <a:ext uri="{FF2B5EF4-FFF2-40B4-BE49-F238E27FC236}">
                <a16:creationId xmlns:a16="http://schemas.microsoft.com/office/drawing/2014/main" id="{AF50554D-2080-FD5E-29D0-2B0154226132}"/>
              </a:ext>
            </a:extLst>
          </p:cNvPr>
          <p:cNvSpPr txBox="1"/>
          <p:nvPr/>
        </p:nvSpPr>
        <p:spPr>
          <a:xfrm>
            <a:off x="2338049" y="2116456"/>
            <a:ext cx="5903966" cy="6209392"/>
          </a:xfrm>
          <a:prstGeom prst="rect">
            <a:avLst/>
          </a:prstGeom>
          <a:noFill/>
        </p:spPr>
        <p:txBody>
          <a:bodyPr wrap="square">
            <a:spAutoFit/>
          </a:bodyPr>
          <a:lstStyle/>
          <a:p>
            <a:pPr>
              <a:lnSpc>
                <a:spcPct val="150000"/>
              </a:lnSpc>
              <a:spcAft>
                <a:spcPts val="600"/>
              </a:spcAft>
            </a:pPr>
            <a:r>
              <a:rPr lang="en-GB" sz="2000" dirty="0">
                <a:solidFill>
                  <a:schemeClr val="bg1"/>
                </a:solidFill>
                <a:latin typeface="TT Fors" panose="020B0604020202020204" charset="0"/>
              </a:rPr>
              <a:t>Does pesticide exposure increase cancer likelihood?</a:t>
            </a:r>
          </a:p>
          <a:p>
            <a:pPr>
              <a:lnSpc>
                <a:spcPct val="150000"/>
              </a:lnSpc>
              <a:spcAft>
                <a:spcPts val="600"/>
              </a:spcAft>
            </a:pPr>
            <a:endParaRPr lang="en-GB" sz="2000" dirty="0">
              <a:solidFill>
                <a:schemeClr val="bg1"/>
              </a:solidFill>
              <a:latin typeface="TT Fors" panose="020B0604020202020204" charset="0"/>
            </a:endParaRPr>
          </a:p>
          <a:p>
            <a:pPr>
              <a:lnSpc>
                <a:spcPct val="150000"/>
              </a:lnSpc>
              <a:spcAft>
                <a:spcPts val="600"/>
              </a:spcAft>
            </a:pPr>
            <a:r>
              <a:rPr lang="en-GB" sz="2000" dirty="0">
                <a:solidFill>
                  <a:schemeClr val="bg1"/>
                </a:solidFill>
                <a:latin typeface="TT Fors" panose="020B0604020202020204" charset="0"/>
              </a:rPr>
              <a:t>Out of a total of 458 cases, most patients were not exposed to pesticides (257; 56.1%), while a slightly smaller proportion were exposed to pesticides (201; 43.9%). This indicates that although a higher share of cancer cases occurred among patients without pesticide exposure, a substantial proportion is still associated with pesticide exposure, suggesting it may be an important factor to consider in relation to cancer risk.</a:t>
            </a:r>
            <a:endParaRPr lang="en-US" sz="2000" dirty="0">
              <a:solidFill>
                <a:schemeClr val="bg1"/>
              </a:solidFill>
              <a:latin typeface="TT Fors" panose="020B0604020202020204" charset="0"/>
              <a:sym typeface="TT Fors"/>
            </a:endParaRPr>
          </a:p>
        </p:txBody>
      </p:sp>
      <p:sp>
        <p:nvSpPr>
          <p:cNvPr id="2" name="Oval 1">
            <a:extLst>
              <a:ext uri="{FF2B5EF4-FFF2-40B4-BE49-F238E27FC236}">
                <a16:creationId xmlns:a16="http://schemas.microsoft.com/office/drawing/2014/main" id="{AE7D294A-731A-405E-CD84-D8DC57B3E2C0}"/>
              </a:ext>
            </a:extLst>
          </p:cNvPr>
          <p:cNvSpPr/>
          <p:nvPr/>
        </p:nvSpPr>
        <p:spPr>
          <a:xfrm>
            <a:off x="-533479" y="-136164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7E47F774-24F8-118D-2DD5-CED9A058FB8C}"/>
              </a:ext>
            </a:extLst>
          </p:cNvPr>
          <p:cNvSpPr/>
          <p:nvPr/>
        </p:nvSpPr>
        <p:spPr>
          <a:xfrm>
            <a:off x="-167719" y="-81300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718277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6975DA38-0C87-39D6-8C67-8AB9AB1F6488}"/>
            </a:ext>
          </a:extLst>
        </p:cNvPr>
        <p:cNvGrpSpPr/>
        <p:nvPr/>
      </p:nvGrpSpPr>
      <p:grpSpPr>
        <a:xfrm>
          <a:off x="0" y="0"/>
          <a:ext cx="0" cy="0"/>
          <a:chOff x="0" y="0"/>
          <a:chExt cx="0" cy="0"/>
        </a:xfrm>
      </p:grpSpPr>
      <p:sp>
        <p:nvSpPr>
          <p:cNvPr id="36" name="TextBox 36">
            <a:extLst>
              <a:ext uri="{FF2B5EF4-FFF2-40B4-BE49-F238E27FC236}">
                <a16:creationId xmlns:a16="http://schemas.microsoft.com/office/drawing/2014/main" id="{B2AF420E-B31E-2EE4-ECA9-10BD994EB231}"/>
              </a:ext>
            </a:extLst>
          </p:cNvPr>
          <p:cNvSpPr txBox="1"/>
          <p:nvPr/>
        </p:nvSpPr>
        <p:spPr>
          <a:xfrm>
            <a:off x="3352800" y="342900"/>
            <a:ext cx="13182600" cy="588623"/>
          </a:xfrm>
          <a:prstGeom prst="rect">
            <a:avLst/>
          </a:prstGeom>
        </p:spPr>
        <p:txBody>
          <a:bodyPr wrap="square" lIns="0" tIns="0" rIns="0" bIns="0" rtlCol="0" anchor="t">
            <a:spAutoFit/>
          </a:bodyPr>
          <a:lstStyle/>
          <a:p>
            <a:pPr algn="ctr">
              <a:lnSpc>
                <a:spcPts val="5040"/>
              </a:lnSpc>
              <a:spcBef>
                <a:spcPct val="0"/>
              </a:spcBef>
            </a:pPr>
            <a:r>
              <a:rPr lang="en-US" sz="2800" b="1" dirty="0">
                <a:solidFill>
                  <a:srgbClr val="112F8D"/>
                </a:solidFill>
                <a:latin typeface="TT Fors Bold"/>
                <a:ea typeface="TT Fors Bold"/>
                <a:cs typeface="TT Fors Bold"/>
                <a:sym typeface="TT Fors Bold"/>
              </a:rPr>
              <a:t>Relationship Between Alcohol, Smoking, and Cancer</a:t>
            </a:r>
          </a:p>
        </p:txBody>
      </p:sp>
      <p:graphicFrame>
        <p:nvGraphicFramePr>
          <p:cNvPr id="2" name="Chart 1">
            <a:extLst>
              <a:ext uri="{FF2B5EF4-FFF2-40B4-BE49-F238E27FC236}">
                <a16:creationId xmlns:a16="http://schemas.microsoft.com/office/drawing/2014/main" id="{862FF575-8D32-CEA7-3B04-3FA1A29ABD30}"/>
              </a:ext>
            </a:extLst>
          </p:cNvPr>
          <p:cNvGraphicFramePr>
            <a:graphicFrameLocks/>
          </p:cNvGraphicFramePr>
          <p:nvPr>
            <p:extLst>
              <p:ext uri="{D42A27DB-BD31-4B8C-83A1-F6EECF244321}">
                <p14:modId xmlns:p14="http://schemas.microsoft.com/office/powerpoint/2010/main" val="2219957887"/>
              </p:ext>
            </p:extLst>
          </p:nvPr>
        </p:nvGraphicFramePr>
        <p:xfrm>
          <a:off x="1001026" y="1257300"/>
          <a:ext cx="10248900" cy="7162800"/>
        </p:xfrm>
        <a:graphic>
          <a:graphicData uri="http://schemas.openxmlformats.org/drawingml/2006/chart">
            <c:chart xmlns:c="http://schemas.openxmlformats.org/drawingml/2006/chart" xmlns:r="http://schemas.openxmlformats.org/officeDocument/2006/relationships" r:id="rId2"/>
          </a:graphicData>
        </a:graphic>
      </p:graphicFrame>
      <p:grpSp>
        <p:nvGrpSpPr>
          <p:cNvPr id="6" name="Group 16">
            <a:extLst>
              <a:ext uri="{FF2B5EF4-FFF2-40B4-BE49-F238E27FC236}">
                <a16:creationId xmlns:a16="http://schemas.microsoft.com/office/drawing/2014/main" id="{F52421B2-4571-8C8F-06C5-68E19DB385D8}"/>
              </a:ext>
            </a:extLst>
          </p:cNvPr>
          <p:cNvGrpSpPr/>
          <p:nvPr/>
        </p:nvGrpSpPr>
        <p:grpSpPr>
          <a:xfrm>
            <a:off x="11582400" y="1500563"/>
            <a:ext cx="6289123" cy="6843337"/>
            <a:chOff x="0" y="-61168"/>
            <a:chExt cx="1001857" cy="612975"/>
          </a:xfrm>
          <a:solidFill>
            <a:schemeClr val="accent6">
              <a:lumMod val="75000"/>
            </a:schemeClr>
          </a:solidFill>
        </p:grpSpPr>
        <p:sp>
          <p:nvSpPr>
            <p:cNvPr id="7" name="Freeform 17">
              <a:extLst>
                <a:ext uri="{FF2B5EF4-FFF2-40B4-BE49-F238E27FC236}">
                  <a16:creationId xmlns:a16="http://schemas.microsoft.com/office/drawing/2014/main" id="{88E9B790-D7CB-816E-411D-0A74E0D5F36B}"/>
                </a:ext>
              </a:extLst>
            </p:cNvPr>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grpFill/>
          </p:spPr>
          <p:txBody>
            <a:bodyPr/>
            <a:lstStyle/>
            <a:p>
              <a:endParaRPr lang="en-GB"/>
            </a:p>
          </p:txBody>
        </p:sp>
        <p:sp>
          <p:nvSpPr>
            <p:cNvPr id="8" name="TextBox 18">
              <a:extLst>
                <a:ext uri="{FF2B5EF4-FFF2-40B4-BE49-F238E27FC236}">
                  <a16:creationId xmlns:a16="http://schemas.microsoft.com/office/drawing/2014/main" id="{3360CAE1-B5B8-2296-E56B-A6BD0D458788}"/>
                </a:ext>
              </a:extLst>
            </p:cNvPr>
            <p:cNvSpPr txBox="1"/>
            <p:nvPr/>
          </p:nvSpPr>
          <p:spPr>
            <a:xfrm>
              <a:off x="0" y="-61168"/>
              <a:ext cx="1001857" cy="612975"/>
            </a:xfrm>
            <a:prstGeom prst="rect">
              <a:avLst/>
            </a:prstGeom>
            <a:solidFill>
              <a:schemeClr val="tx2"/>
            </a:solidFill>
          </p:spPr>
          <p:txBody>
            <a:bodyPr lIns="50800" tIns="50800" rIns="50800" bIns="50800" rtlCol="0" anchor="ctr"/>
            <a:lstStyle/>
            <a:p>
              <a:pPr algn="ctr">
                <a:lnSpc>
                  <a:spcPts val="2520"/>
                </a:lnSpc>
              </a:pPr>
              <a:endParaRPr/>
            </a:p>
          </p:txBody>
        </p:sp>
      </p:grpSp>
      <p:sp>
        <p:nvSpPr>
          <p:cNvPr id="9" name="TextBox 8">
            <a:extLst>
              <a:ext uri="{FF2B5EF4-FFF2-40B4-BE49-F238E27FC236}">
                <a16:creationId xmlns:a16="http://schemas.microsoft.com/office/drawing/2014/main" id="{FA375F5B-95A0-D8E6-D078-1FABBDD5180C}"/>
              </a:ext>
            </a:extLst>
          </p:cNvPr>
          <p:cNvSpPr txBox="1"/>
          <p:nvPr/>
        </p:nvSpPr>
        <p:spPr>
          <a:xfrm>
            <a:off x="11734801" y="1743394"/>
            <a:ext cx="5918628" cy="7536679"/>
          </a:xfrm>
          <a:prstGeom prst="rect">
            <a:avLst/>
          </a:prstGeom>
          <a:noFill/>
        </p:spPr>
        <p:txBody>
          <a:bodyPr wrap="square">
            <a:spAutoFit/>
          </a:bodyPr>
          <a:lstStyle/>
          <a:p>
            <a:pPr>
              <a:lnSpc>
                <a:spcPct val="150000"/>
              </a:lnSpc>
            </a:pPr>
            <a:r>
              <a:rPr lang="en-GB" dirty="0">
                <a:solidFill>
                  <a:schemeClr val="bg1"/>
                </a:solidFill>
                <a:latin typeface="TT Fors" panose="020B0604020202020204" charset="0"/>
              </a:rPr>
              <a:t>Is there a relationship between alcohol/smoking and cancer?</a:t>
            </a:r>
          </a:p>
          <a:p>
            <a:pPr>
              <a:lnSpc>
                <a:spcPct val="150000"/>
              </a:lnSpc>
            </a:pPr>
            <a:endParaRPr lang="en-GB" dirty="0">
              <a:solidFill>
                <a:schemeClr val="bg1"/>
              </a:solidFill>
              <a:latin typeface="TT Fors" panose="020B0604020202020204" charset="0"/>
            </a:endParaRPr>
          </a:p>
          <a:p>
            <a:pPr>
              <a:lnSpc>
                <a:spcPct val="150000"/>
              </a:lnSpc>
            </a:pPr>
            <a:r>
              <a:rPr lang="en-GB" dirty="0">
                <a:solidFill>
                  <a:schemeClr val="bg1"/>
                </a:solidFill>
                <a:latin typeface="TT Fors" panose="020B0604020202020204" charset="0"/>
              </a:rPr>
              <a:t>The analysis shows that the majority of biopsy-confirmed cancer cases occur among patients who neither smoke nor drink alcohol. This suggests that lifestyle factors such as smoking and alcohol consumption may not be the primary drivers of skin cancer within this dataset. While alcohol consumption alone shows a moderate number of cases, smoking—either alone or combined with drinking—accounts for relatively fewer cases. These findings indicate that other factors, such as environmental exposure and lesion characteristics, may play a more significant role in skin cancer development.</a:t>
            </a: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p:txBody>
      </p:sp>
      <p:sp>
        <p:nvSpPr>
          <p:cNvPr id="12" name="TextBox 11">
            <a:extLst>
              <a:ext uri="{FF2B5EF4-FFF2-40B4-BE49-F238E27FC236}">
                <a16:creationId xmlns:a16="http://schemas.microsoft.com/office/drawing/2014/main" id="{10EAFAF6-4E4E-5C57-832A-104696CF81C4}"/>
              </a:ext>
            </a:extLst>
          </p:cNvPr>
          <p:cNvSpPr txBox="1"/>
          <p:nvPr/>
        </p:nvSpPr>
        <p:spPr>
          <a:xfrm>
            <a:off x="11582400" y="8724900"/>
            <a:ext cx="6289122" cy="1477328"/>
          </a:xfrm>
          <a:prstGeom prst="rect">
            <a:avLst/>
          </a:prstGeom>
          <a:noFill/>
        </p:spPr>
        <p:txBody>
          <a:bodyPr wrap="square">
            <a:spAutoFit/>
          </a:bodyPr>
          <a:lstStyle/>
          <a:p>
            <a:r>
              <a:rPr lang="en-GB" b="1" dirty="0">
                <a:solidFill>
                  <a:schemeClr val="tx2"/>
                </a:solidFill>
                <a:latin typeface="TT Fors" panose="020B0604020202020204" charset="0"/>
              </a:rPr>
              <a:t>The majority of cancer cases occur among patients who neither smoke nor drink (66.16%), followed by non-smokers who drink c (21.40%), smokers who do not drink (6.77%), and the lowest proportion among patients who both smoke and drink (5.68%).</a:t>
            </a:r>
          </a:p>
        </p:txBody>
      </p:sp>
      <p:grpSp>
        <p:nvGrpSpPr>
          <p:cNvPr id="13" name="Group 44">
            <a:extLst>
              <a:ext uri="{FF2B5EF4-FFF2-40B4-BE49-F238E27FC236}">
                <a16:creationId xmlns:a16="http://schemas.microsoft.com/office/drawing/2014/main" id="{0C858957-EA24-A1F1-428A-F8F46923DC10}"/>
              </a:ext>
            </a:extLst>
          </p:cNvPr>
          <p:cNvGrpSpPr/>
          <p:nvPr/>
        </p:nvGrpSpPr>
        <p:grpSpPr>
          <a:xfrm>
            <a:off x="11811366" y="2633630"/>
            <a:ext cx="2444502" cy="1753364"/>
            <a:chOff x="-23995" y="-244363"/>
            <a:chExt cx="836795" cy="295746"/>
          </a:xfrm>
        </p:grpSpPr>
        <p:sp>
          <p:nvSpPr>
            <p:cNvPr id="14" name="Freeform 45">
              <a:extLst>
                <a:ext uri="{FF2B5EF4-FFF2-40B4-BE49-F238E27FC236}">
                  <a16:creationId xmlns:a16="http://schemas.microsoft.com/office/drawing/2014/main" id="{B50FDC6A-4B99-BD04-88EA-6359D7C4546C}"/>
                </a:ext>
              </a:extLst>
            </p:cNvPr>
            <p:cNvSpPr/>
            <p:nvPr/>
          </p:nvSpPr>
          <p:spPr>
            <a:xfrm>
              <a:off x="-23995" y="-244363"/>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dirty="0"/>
            </a:p>
          </p:txBody>
        </p:sp>
        <p:sp>
          <p:nvSpPr>
            <p:cNvPr id="15" name="TextBox 46">
              <a:extLst>
                <a:ext uri="{FF2B5EF4-FFF2-40B4-BE49-F238E27FC236}">
                  <a16:creationId xmlns:a16="http://schemas.microsoft.com/office/drawing/2014/main" id="{ACB274D8-5E00-3AC5-6B82-BB87AB3D6279}"/>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10" name="TextBox 9">
            <a:extLst>
              <a:ext uri="{FF2B5EF4-FFF2-40B4-BE49-F238E27FC236}">
                <a16:creationId xmlns:a16="http://schemas.microsoft.com/office/drawing/2014/main" id="{F90086A9-4179-217F-84AB-FC0D0BDC0148}"/>
              </a:ext>
            </a:extLst>
          </p:cNvPr>
          <p:cNvSpPr txBox="1"/>
          <p:nvPr/>
        </p:nvSpPr>
        <p:spPr>
          <a:xfrm>
            <a:off x="12039600" y="2552700"/>
            <a:ext cx="2514600" cy="369332"/>
          </a:xfrm>
          <a:prstGeom prst="rect">
            <a:avLst/>
          </a:prstGeom>
          <a:noFill/>
        </p:spPr>
        <p:txBody>
          <a:bodyPr wrap="square">
            <a:spAutoFit/>
          </a:bodyPr>
          <a:lstStyle/>
          <a:p>
            <a:r>
              <a:rPr lang="en-GB" b="1" dirty="0">
                <a:solidFill>
                  <a:schemeClr val="bg1"/>
                </a:solidFill>
                <a:latin typeface="TT Fors" panose="020B0604020202020204" charset="0"/>
              </a:rPr>
              <a:t>Key insights: </a:t>
            </a:r>
            <a:endParaRPr lang="en-GB" b="1" dirty="0"/>
          </a:p>
        </p:txBody>
      </p:sp>
      <p:sp>
        <p:nvSpPr>
          <p:cNvPr id="16" name="TextBox 15">
            <a:extLst>
              <a:ext uri="{FF2B5EF4-FFF2-40B4-BE49-F238E27FC236}">
                <a16:creationId xmlns:a16="http://schemas.microsoft.com/office/drawing/2014/main" id="{15AB5806-674F-0570-495C-20A2FD02264B}"/>
              </a:ext>
            </a:extLst>
          </p:cNvPr>
          <p:cNvSpPr txBox="1"/>
          <p:nvPr/>
        </p:nvSpPr>
        <p:spPr>
          <a:xfrm>
            <a:off x="12092428" y="8343900"/>
            <a:ext cx="2514600" cy="461665"/>
          </a:xfrm>
          <a:prstGeom prst="rect">
            <a:avLst/>
          </a:prstGeom>
          <a:noFill/>
        </p:spPr>
        <p:txBody>
          <a:bodyPr wrap="square">
            <a:spAutoFit/>
          </a:bodyPr>
          <a:lstStyle/>
          <a:p>
            <a:r>
              <a:rPr lang="en-GB" sz="2400" b="1" dirty="0">
                <a:solidFill>
                  <a:schemeClr val="accent6"/>
                </a:solidFill>
                <a:latin typeface="TT Fors" panose="020B0604020202020204" charset="0"/>
              </a:rPr>
              <a:t>Result:</a:t>
            </a:r>
            <a:endParaRPr lang="en-GB" sz="2400" b="1" dirty="0">
              <a:solidFill>
                <a:schemeClr val="accent6"/>
              </a:solidFill>
            </a:endParaRPr>
          </a:p>
        </p:txBody>
      </p:sp>
      <p:sp>
        <p:nvSpPr>
          <p:cNvPr id="3" name="Oval 2">
            <a:extLst>
              <a:ext uri="{FF2B5EF4-FFF2-40B4-BE49-F238E27FC236}">
                <a16:creationId xmlns:a16="http://schemas.microsoft.com/office/drawing/2014/main" id="{10F6D06E-98CC-8D03-F39B-19D03817BFE3}"/>
              </a:ext>
            </a:extLst>
          </p:cNvPr>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719CCE19-01BF-69C6-3028-D08E2908E05D}"/>
              </a:ext>
            </a:extLst>
          </p:cNvPr>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1" name="Table 10">
            <a:extLst>
              <a:ext uri="{FF2B5EF4-FFF2-40B4-BE49-F238E27FC236}">
                <a16:creationId xmlns:a16="http://schemas.microsoft.com/office/drawing/2014/main" id="{40304EBB-5632-9CA4-CD71-EA6A2149D130}"/>
              </a:ext>
            </a:extLst>
          </p:cNvPr>
          <p:cNvGraphicFramePr>
            <a:graphicFrameLocks noGrp="1"/>
          </p:cNvGraphicFramePr>
          <p:nvPr>
            <p:extLst>
              <p:ext uri="{D42A27DB-BD31-4B8C-83A1-F6EECF244321}">
                <p14:modId xmlns:p14="http://schemas.microsoft.com/office/powerpoint/2010/main" val="1741187975"/>
              </p:ext>
            </p:extLst>
          </p:nvPr>
        </p:nvGraphicFramePr>
        <p:xfrm>
          <a:off x="3559627" y="8572500"/>
          <a:ext cx="5486400" cy="1477330"/>
        </p:xfrm>
        <a:graphic>
          <a:graphicData uri="http://schemas.openxmlformats.org/drawingml/2006/table">
            <a:tbl>
              <a:tblPr>
                <a:tableStyleId>{5C22544A-7EE6-4342-B048-85BDC9FD1C3A}</a:tableStyleId>
              </a:tblPr>
              <a:tblGrid>
                <a:gridCol w="1385180">
                  <a:extLst>
                    <a:ext uri="{9D8B030D-6E8A-4147-A177-3AD203B41FA5}">
                      <a16:colId xmlns:a16="http://schemas.microsoft.com/office/drawing/2014/main" val="2761448857"/>
                    </a:ext>
                  </a:extLst>
                </a:gridCol>
                <a:gridCol w="1303699">
                  <a:extLst>
                    <a:ext uri="{9D8B030D-6E8A-4147-A177-3AD203B41FA5}">
                      <a16:colId xmlns:a16="http://schemas.microsoft.com/office/drawing/2014/main" val="4042447513"/>
                    </a:ext>
                  </a:extLst>
                </a:gridCol>
                <a:gridCol w="1303699">
                  <a:extLst>
                    <a:ext uri="{9D8B030D-6E8A-4147-A177-3AD203B41FA5}">
                      <a16:colId xmlns:a16="http://schemas.microsoft.com/office/drawing/2014/main" val="3387049489"/>
                    </a:ext>
                  </a:extLst>
                </a:gridCol>
                <a:gridCol w="1493822">
                  <a:extLst>
                    <a:ext uri="{9D8B030D-6E8A-4147-A177-3AD203B41FA5}">
                      <a16:colId xmlns:a16="http://schemas.microsoft.com/office/drawing/2014/main" val="1955922405"/>
                    </a:ext>
                  </a:extLst>
                </a:gridCol>
              </a:tblGrid>
              <a:tr h="295466">
                <a:tc>
                  <a:txBody>
                    <a:bodyPr/>
                    <a:lstStyle/>
                    <a:p>
                      <a:pPr algn="ctr" fontAlgn="b">
                        <a:buNone/>
                      </a:pPr>
                      <a:r>
                        <a:rPr lang="en-GB" sz="1400" u="none" strike="noStrike">
                          <a:effectLst/>
                          <a:latin typeface="TT Fors" panose="020B0604020202020204" charset="0"/>
                        </a:rPr>
                        <a:t>Catergory</a:t>
                      </a:r>
                      <a:endParaRPr lang="en-GB" sz="14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1400" u="none" strike="noStrike">
                          <a:effectLst/>
                          <a:latin typeface="TT Fors" panose="020B0604020202020204" charset="0"/>
                        </a:rPr>
                        <a:t>Smoke</a:t>
                      </a:r>
                      <a:endParaRPr lang="en-GB" sz="14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1400" u="none" strike="noStrike">
                          <a:effectLst/>
                          <a:latin typeface="TT Fors" panose="020B0604020202020204" charset="0"/>
                        </a:rPr>
                        <a:t>Drink</a:t>
                      </a:r>
                      <a:endParaRPr lang="en-GB" sz="14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1400" u="none" strike="noStrike">
                          <a:effectLst/>
                          <a:latin typeface="TT Fors" panose="020B0604020202020204" charset="0"/>
                        </a:rPr>
                        <a:t>Total Cases</a:t>
                      </a:r>
                      <a:endParaRPr lang="en-GB" sz="1400" b="0" i="0" u="none" strike="noStrike">
                        <a:solidFill>
                          <a:srgbClr val="000000"/>
                        </a:solidFill>
                        <a:effectLst/>
                        <a:latin typeface="TT Fors" panose="020B0604020202020204" charset="0"/>
                      </a:endParaRPr>
                    </a:p>
                  </a:txBody>
                  <a:tcPr marL="7620" marR="7620" marT="7620" marB="0" anchor="b"/>
                </a:tc>
                <a:extLst>
                  <a:ext uri="{0D108BD9-81ED-4DB2-BD59-A6C34878D82A}">
                    <a16:rowId xmlns:a16="http://schemas.microsoft.com/office/drawing/2014/main" val="3906251132"/>
                  </a:ext>
                </a:extLst>
              </a:tr>
              <a:tr h="295466">
                <a:tc>
                  <a:txBody>
                    <a:bodyPr/>
                    <a:lstStyle/>
                    <a:p>
                      <a:pPr algn="ctr" fontAlgn="b">
                        <a:buNone/>
                      </a:pPr>
                      <a:r>
                        <a:rPr lang="en-GB" sz="1400" u="none" strike="noStrike">
                          <a:effectLst/>
                          <a:latin typeface="TT Fors" panose="020B0604020202020204" charset="0"/>
                        </a:rPr>
                        <a:t>Category 1</a:t>
                      </a:r>
                      <a:endParaRPr lang="en-GB" sz="14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1400" u="none" strike="noStrike" dirty="0">
                          <a:solidFill>
                            <a:srgbClr val="FF0000"/>
                          </a:solidFill>
                          <a:effectLst/>
                          <a:latin typeface="TT Fors" panose="020B0604020202020204" charset="0"/>
                        </a:rPr>
                        <a:t>TRUE</a:t>
                      </a:r>
                      <a:endParaRPr lang="en-GB" sz="1400" b="0" i="0" u="none" strike="noStrike" dirty="0">
                        <a:solidFill>
                          <a:srgbClr val="FF0000"/>
                        </a:solidFill>
                        <a:effectLst/>
                        <a:latin typeface="TT Fors" panose="020B0604020202020204" charset="0"/>
                      </a:endParaRPr>
                    </a:p>
                  </a:txBody>
                  <a:tcPr marL="7620" marR="7620" marT="7620" marB="0" anchor="b"/>
                </a:tc>
                <a:tc>
                  <a:txBody>
                    <a:bodyPr/>
                    <a:lstStyle/>
                    <a:p>
                      <a:pPr algn="ctr" fontAlgn="b">
                        <a:buNone/>
                      </a:pPr>
                      <a:r>
                        <a:rPr lang="en-GB" sz="1400" u="none" strike="noStrike" dirty="0">
                          <a:solidFill>
                            <a:srgbClr val="FF0000"/>
                          </a:solidFill>
                          <a:effectLst/>
                          <a:latin typeface="TT Fors" panose="020B0604020202020204" charset="0"/>
                        </a:rPr>
                        <a:t>TRUE</a:t>
                      </a:r>
                      <a:endParaRPr lang="en-GB" sz="1400" b="0" i="0" u="none" strike="noStrike" dirty="0">
                        <a:solidFill>
                          <a:srgbClr val="FF0000"/>
                        </a:solidFill>
                        <a:effectLst/>
                        <a:latin typeface="TT Fors" panose="020B0604020202020204" charset="0"/>
                      </a:endParaRPr>
                    </a:p>
                  </a:txBody>
                  <a:tcPr marL="7620" marR="7620" marT="7620" marB="0" anchor="b"/>
                </a:tc>
                <a:tc>
                  <a:txBody>
                    <a:bodyPr/>
                    <a:lstStyle/>
                    <a:p>
                      <a:pPr algn="ctr" fontAlgn="b">
                        <a:buNone/>
                      </a:pPr>
                      <a:r>
                        <a:rPr lang="en-GB" sz="1400" u="none" strike="noStrike">
                          <a:effectLst/>
                          <a:latin typeface="TT Fors" panose="020B0604020202020204" charset="0"/>
                        </a:rPr>
                        <a:t>26</a:t>
                      </a:r>
                      <a:endParaRPr lang="en-GB" sz="1400" b="0" i="0" u="none" strike="noStrike">
                        <a:solidFill>
                          <a:srgbClr val="000000"/>
                        </a:solidFill>
                        <a:effectLst/>
                        <a:latin typeface="TT Fors" panose="020B0604020202020204" charset="0"/>
                      </a:endParaRPr>
                    </a:p>
                  </a:txBody>
                  <a:tcPr marL="7620" marR="7620" marT="7620" marB="0" anchor="b"/>
                </a:tc>
                <a:extLst>
                  <a:ext uri="{0D108BD9-81ED-4DB2-BD59-A6C34878D82A}">
                    <a16:rowId xmlns:a16="http://schemas.microsoft.com/office/drawing/2014/main" val="1066775269"/>
                  </a:ext>
                </a:extLst>
              </a:tr>
              <a:tr h="295466">
                <a:tc>
                  <a:txBody>
                    <a:bodyPr/>
                    <a:lstStyle/>
                    <a:p>
                      <a:pPr algn="ctr" fontAlgn="b">
                        <a:buNone/>
                      </a:pPr>
                      <a:r>
                        <a:rPr lang="en-GB" sz="1400" u="none" strike="noStrike">
                          <a:effectLst/>
                          <a:latin typeface="TT Fors" panose="020B0604020202020204" charset="0"/>
                        </a:rPr>
                        <a:t>Category 2</a:t>
                      </a:r>
                      <a:endParaRPr lang="en-GB" sz="14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1400" u="none" strike="noStrike" dirty="0">
                          <a:effectLst/>
                          <a:latin typeface="TT Fors" panose="020B0604020202020204" charset="0"/>
                        </a:rPr>
                        <a:t>FALSE</a:t>
                      </a:r>
                      <a:endParaRPr lang="en-GB" sz="1400" b="0" i="0" u="none" strike="noStrike" dirty="0">
                        <a:solidFill>
                          <a:srgbClr val="000000"/>
                        </a:solidFill>
                        <a:effectLst/>
                        <a:latin typeface="TT Fors" panose="020B0604020202020204" charset="0"/>
                      </a:endParaRPr>
                    </a:p>
                  </a:txBody>
                  <a:tcPr marL="7620" marR="7620" marT="7620" marB="0" anchor="b"/>
                </a:tc>
                <a:tc>
                  <a:txBody>
                    <a:bodyPr/>
                    <a:lstStyle/>
                    <a:p>
                      <a:pPr algn="ctr" fontAlgn="b">
                        <a:buNone/>
                      </a:pPr>
                      <a:r>
                        <a:rPr lang="en-GB" sz="1400" u="none" strike="noStrike">
                          <a:effectLst/>
                          <a:latin typeface="TT Fors" panose="020B0604020202020204" charset="0"/>
                        </a:rPr>
                        <a:t>FALSE</a:t>
                      </a:r>
                      <a:endParaRPr lang="en-GB" sz="14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1400" u="none" strike="noStrike">
                          <a:effectLst/>
                          <a:latin typeface="TT Fors" panose="020B0604020202020204" charset="0"/>
                        </a:rPr>
                        <a:t>303</a:t>
                      </a:r>
                      <a:endParaRPr lang="en-GB" sz="1400" b="0" i="0" u="none" strike="noStrike">
                        <a:solidFill>
                          <a:srgbClr val="000000"/>
                        </a:solidFill>
                        <a:effectLst/>
                        <a:latin typeface="TT Fors" panose="020B0604020202020204" charset="0"/>
                      </a:endParaRPr>
                    </a:p>
                  </a:txBody>
                  <a:tcPr marL="7620" marR="7620" marT="7620" marB="0" anchor="b"/>
                </a:tc>
                <a:extLst>
                  <a:ext uri="{0D108BD9-81ED-4DB2-BD59-A6C34878D82A}">
                    <a16:rowId xmlns:a16="http://schemas.microsoft.com/office/drawing/2014/main" val="4065627281"/>
                  </a:ext>
                </a:extLst>
              </a:tr>
              <a:tr h="295466">
                <a:tc>
                  <a:txBody>
                    <a:bodyPr/>
                    <a:lstStyle/>
                    <a:p>
                      <a:pPr algn="ctr" fontAlgn="b">
                        <a:buNone/>
                      </a:pPr>
                      <a:r>
                        <a:rPr lang="en-GB" sz="1400" u="none" strike="noStrike">
                          <a:effectLst/>
                          <a:latin typeface="TT Fors" panose="020B0604020202020204" charset="0"/>
                        </a:rPr>
                        <a:t>Category 3</a:t>
                      </a:r>
                      <a:endParaRPr lang="en-GB" sz="14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1400" u="none" strike="noStrike" dirty="0">
                          <a:solidFill>
                            <a:schemeClr val="tx1"/>
                          </a:solidFill>
                          <a:effectLst/>
                          <a:latin typeface="TT Fors" panose="020B0604020202020204" charset="0"/>
                        </a:rPr>
                        <a:t>FALSE</a:t>
                      </a:r>
                      <a:endParaRPr lang="en-GB" sz="1400" b="0" i="0" u="none" strike="noStrike" dirty="0">
                        <a:solidFill>
                          <a:schemeClr val="tx1"/>
                        </a:solidFill>
                        <a:effectLst/>
                        <a:latin typeface="TT Fors" panose="020B0604020202020204" charset="0"/>
                      </a:endParaRPr>
                    </a:p>
                  </a:txBody>
                  <a:tcPr marL="7620" marR="7620" marT="7620" marB="0" anchor="b"/>
                </a:tc>
                <a:tc>
                  <a:txBody>
                    <a:bodyPr/>
                    <a:lstStyle/>
                    <a:p>
                      <a:pPr algn="ctr" fontAlgn="b">
                        <a:buNone/>
                      </a:pPr>
                      <a:r>
                        <a:rPr lang="en-GB" sz="1400" u="none" strike="noStrike" dirty="0">
                          <a:solidFill>
                            <a:srgbClr val="FF0000"/>
                          </a:solidFill>
                          <a:effectLst/>
                          <a:latin typeface="TT Fors" panose="020B0604020202020204" charset="0"/>
                        </a:rPr>
                        <a:t>TRUE</a:t>
                      </a:r>
                      <a:endParaRPr lang="en-GB" sz="1400" b="0" i="0" u="none" strike="noStrike" dirty="0">
                        <a:solidFill>
                          <a:srgbClr val="FF0000"/>
                        </a:solidFill>
                        <a:effectLst/>
                        <a:latin typeface="TT Fors" panose="020B0604020202020204" charset="0"/>
                      </a:endParaRPr>
                    </a:p>
                  </a:txBody>
                  <a:tcPr marL="7620" marR="7620" marT="7620" marB="0" anchor="b"/>
                </a:tc>
                <a:tc>
                  <a:txBody>
                    <a:bodyPr/>
                    <a:lstStyle/>
                    <a:p>
                      <a:pPr algn="ctr" fontAlgn="b">
                        <a:buNone/>
                      </a:pPr>
                      <a:r>
                        <a:rPr lang="en-GB" sz="1400" u="none" strike="noStrike">
                          <a:effectLst/>
                          <a:latin typeface="TT Fors" panose="020B0604020202020204" charset="0"/>
                        </a:rPr>
                        <a:t>98</a:t>
                      </a:r>
                      <a:endParaRPr lang="en-GB" sz="1400" b="0" i="0" u="none" strike="noStrike">
                        <a:solidFill>
                          <a:srgbClr val="000000"/>
                        </a:solidFill>
                        <a:effectLst/>
                        <a:latin typeface="TT Fors" panose="020B0604020202020204" charset="0"/>
                      </a:endParaRPr>
                    </a:p>
                  </a:txBody>
                  <a:tcPr marL="7620" marR="7620" marT="7620" marB="0" anchor="b"/>
                </a:tc>
                <a:extLst>
                  <a:ext uri="{0D108BD9-81ED-4DB2-BD59-A6C34878D82A}">
                    <a16:rowId xmlns:a16="http://schemas.microsoft.com/office/drawing/2014/main" val="643771979"/>
                  </a:ext>
                </a:extLst>
              </a:tr>
              <a:tr h="295466">
                <a:tc>
                  <a:txBody>
                    <a:bodyPr/>
                    <a:lstStyle/>
                    <a:p>
                      <a:pPr algn="ctr" fontAlgn="b">
                        <a:buNone/>
                      </a:pPr>
                      <a:r>
                        <a:rPr lang="en-GB" sz="1400" u="none" strike="noStrike">
                          <a:effectLst/>
                          <a:latin typeface="TT Fors" panose="020B0604020202020204" charset="0"/>
                        </a:rPr>
                        <a:t>Category 4</a:t>
                      </a:r>
                      <a:endParaRPr lang="en-GB" sz="14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1400" u="none" strike="noStrike" dirty="0">
                          <a:solidFill>
                            <a:srgbClr val="FF0000"/>
                          </a:solidFill>
                          <a:effectLst/>
                          <a:latin typeface="TT Fors" panose="020B0604020202020204" charset="0"/>
                        </a:rPr>
                        <a:t>TRUE</a:t>
                      </a:r>
                      <a:endParaRPr lang="en-GB" sz="1400" b="0" i="0" u="none" strike="noStrike" dirty="0">
                        <a:solidFill>
                          <a:srgbClr val="FF0000"/>
                        </a:solidFill>
                        <a:effectLst/>
                        <a:latin typeface="TT Fors" panose="020B0604020202020204" charset="0"/>
                      </a:endParaRPr>
                    </a:p>
                  </a:txBody>
                  <a:tcPr marL="7620" marR="7620" marT="7620" marB="0" anchor="b"/>
                </a:tc>
                <a:tc>
                  <a:txBody>
                    <a:bodyPr/>
                    <a:lstStyle/>
                    <a:p>
                      <a:pPr algn="ctr" fontAlgn="b">
                        <a:buNone/>
                      </a:pPr>
                      <a:r>
                        <a:rPr lang="en-GB" sz="1400" u="none" strike="noStrike">
                          <a:effectLst/>
                          <a:latin typeface="TT Fors" panose="020B0604020202020204" charset="0"/>
                        </a:rPr>
                        <a:t>FALSE</a:t>
                      </a:r>
                      <a:endParaRPr lang="en-GB" sz="14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1400" u="none" strike="noStrike" dirty="0">
                          <a:effectLst/>
                          <a:latin typeface="TT Fors" panose="020B0604020202020204" charset="0"/>
                        </a:rPr>
                        <a:t>31</a:t>
                      </a:r>
                      <a:endParaRPr lang="en-GB" sz="1400" b="0" i="0" u="none" strike="noStrike" dirty="0">
                        <a:solidFill>
                          <a:srgbClr val="000000"/>
                        </a:solidFill>
                        <a:effectLst/>
                        <a:latin typeface="TT Fors" panose="020B0604020202020204" charset="0"/>
                      </a:endParaRPr>
                    </a:p>
                  </a:txBody>
                  <a:tcPr marL="7620" marR="7620" marT="7620" marB="0" anchor="b"/>
                </a:tc>
                <a:extLst>
                  <a:ext uri="{0D108BD9-81ED-4DB2-BD59-A6C34878D82A}">
                    <a16:rowId xmlns:a16="http://schemas.microsoft.com/office/drawing/2014/main" val="1525931777"/>
                  </a:ext>
                </a:extLst>
              </a:tr>
            </a:tbl>
          </a:graphicData>
        </a:graphic>
      </p:graphicFrame>
    </p:spTree>
    <p:extLst>
      <p:ext uri="{BB962C8B-B14F-4D97-AF65-F5344CB8AC3E}">
        <p14:creationId xmlns:p14="http://schemas.microsoft.com/office/powerpoint/2010/main" val="3616256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5B5ABF2C-34F2-3547-56A4-DA5DB50096BE}"/>
            </a:ext>
          </a:extLst>
        </p:cNvPr>
        <p:cNvGrpSpPr/>
        <p:nvPr/>
      </p:nvGrpSpPr>
      <p:grpSpPr>
        <a:xfrm>
          <a:off x="0" y="0"/>
          <a:ext cx="0" cy="0"/>
          <a:chOff x="0" y="0"/>
          <a:chExt cx="0" cy="0"/>
        </a:xfrm>
      </p:grpSpPr>
      <p:sp>
        <p:nvSpPr>
          <p:cNvPr id="36" name="TextBox 36">
            <a:extLst>
              <a:ext uri="{FF2B5EF4-FFF2-40B4-BE49-F238E27FC236}">
                <a16:creationId xmlns:a16="http://schemas.microsoft.com/office/drawing/2014/main" id="{5B187C28-7DFE-3B53-B622-485AD82FFC7E}"/>
              </a:ext>
            </a:extLst>
          </p:cNvPr>
          <p:cNvSpPr txBox="1"/>
          <p:nvPr/>
        </p:nvSpPr>
        <p:spPr>
          <a:xfrm>
            <a:off x="3352800" y="342900"/>
            <a:ext cx="13182600" cy="588623"/>
          </a:xfrm>
          <a:prstGeom prst="rect">
            <a:avLst/>
          </a:prstGeom>
        </p:spPr>
        <p:txBody>
          <a:bodyPr wrap="square" lIns="0" tIns="0" rIns="0" bIns="0" rtlCol="0" anchor="t">
            <a:spAutoFit/>
          </a:bodyPr>
          <a:lstStyle/>
          <a:p>
            <a:pPr algn="ctr">
              <a:lnSpc>
                <a:spcPts val="5040"/>
              </a:lnSpc>
              <a:spcBef>
                <a:spcPct val="0"/>
              </a:spcBef>
            </a:pPr>
            <a:r>
              <a:rPr lang="en-US" sz="2800" b="1" dirty="0">
                <a:solidFill>
                  <a:srgbClr val="112F8D"/>
                </a:solidFill>
                <a:latin typeface="TT Fors Bold"/>
                <a:ea typeface="TT Fors Bold"/>
                <a:cs typeface="TT Fors Bold"/>
                <a:sym typeface="TT Fors Bold"/>
              </a:rPr>
              <a:t>Environmental Factors/Diagnostic Rate</a:t>
            </a:r>
          </a:p>
        </p:txBody>
      </p:sp>
      <p:grpSp>
        <p:nvGrpSpPr>
          <p:cNvPr id="6" name="Group 16">
            <a:extLst>
              <a:ext uri="{FF2B5EF4-FFF2-40B4-BE49-F238E27FC236}">
                <a16:creationId xmlns:a16="http://schemas.microsoft.com/office/drawing/2014/main" id="{08AE8A2B-85AF-A127-1948-52795CCDD403}"/>
              </a:ext>
            </a:extLst>
          </p:cNvPr>
          <p:cNvGrpSpPr/>
          <p:nvPr/>
        </p:nvGrpSpPr>
        <p:grpSpPr>
          <a:xfrm>
            <a:off x="12050382" y="1982344"/>
            <a:ext cx="5779095" cy="6551971"/>
            <a:chOff x="0" y="-61168"/>
            <a:chExt cx="1001857" cy="612975"/>
          </a:xfrm>
          <a:solidFill>
            <a:schemeClr val="accent6">
              <a:lumMod val="75000"/>
            </a:schemeClr>
          </a:solidFill>
        </p:grpSpPr>
        <p:sp>
          <p:nvSpPr>
            <p:cNvPr id="7" name="Freeform 17">
              <a:extLst>
                <a:ext uri="{FF2B5EF4-FFF2-40B4-BE49-F238E27FC236}">
                  <a16:creationId xmlns:a16="http://schemas.microsoft.com/office/drawing/2014/main" id="{33B7D539-FB15-974A-FEA8-7A7E80A2172D}"/>
                </a:ext>
              </a:extLst>
            </p:cNvPr>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grpFill/>
          </p:spPr>
          <p:txBody>
            <a:bodyPr/>
            <a:lstStyle/>
            <a:p>
              <a:endParaRPr lang="en-GB"/>
            </a:p>
          </p:txBody>
        </p:sp>
        <p:sp>
          <p:nvSpPr>
            <p:cNvPr id="8" name="TextBox 18">
              <a:extLst>
                <a:ext uri="{FF2B5EF4-FFF2-40B4-BE49-F238E27FC236}">
                  <a16:creationId xmlns:a16="http://schemas.microsoft.com/office/drawing/2014/main" id="{B1CFEFC0-465A-FF49-3510-476C37638D6E}"/>
                </a:ext>
              </a:extLst>
            </p:cNvPr>
            <p:cNvSpPr txBox="1"/>
            <p:nvPr/>
          </p:nvSpPr>
          <p:spPr>
            <a:xfrm>
              <a:off x="0" y="-61168"/>
              <a:ext cx="1001857" cy="612975"/>
            </a:xfrm>
            <a:prstGeom prst="rect">
              <a:avLst/>
            </a:prstGeom>
            <a:solidFill>
              <a:schemeClr val="tx2"/>
            </a:solidFill>
          </p:spPr>
          <p:txBody>
            <a:bodyPr lIns="50800" tIns="50800" rIns="50800" bIns="50800" rtlCol="0" anchor="ctr"/>
            <a:lstStyle/>
            <a:p>
              <a:pPr algn="ctr">
                <a:lnSpc>
                  <a:spcPts val="2520"/>
                </a:lnSpc>
              </a:pPr>
              <a:endParaRPr/>
            </a:p>
          </p:txBody>
        </p:sp>
      </p:grpSp>
      <p:sp>
        <p:nvSpPr>
          <p:cNvPr id="9" name="TextBox 8">
            <a:extLst>
              <a:ext uri="{FF2B5EF4-FFF2-40B4-BE49-F238E27FC236}">
                <a16:creationId xmlns:a16="http://schemas.microsoft.com/office/drawing/2014/main" id="{087EA14F-94DF-A219-1D51-9B5A2D7BB514}"/>
              </a:ext>
            </a:extLst>
          </p:cNvPr>
          <p:cNvSpPr txBox="1"/>
          <p:nvPr/>
        </p:nvSpPr>
        <p:spPr>
          <a:xfrm>
            <a:off x="12194479" y="2274939"/>
            <a:ext cx="5490903" cy="7952177"/>
          </a:xfrm>
          <a:prstGeom prst="rect">
            <a:avLst/>
          </a:prstGeom>
          <a:noFill/>
        </p:spPr>
        <p:txBody>
          <a:bodyPr wrap="square">
            <a:spAutoFit/>
          </a:bodyPr>
          <a:lstStyle/>
          <a:p>
            <a:pPr>
              <a:lnSpc>
                <a:spcPct val="150000"/>
              </a:lnSpc>
            </a:pPr>
            <a:r>
              <a:rPr lang="en-GB" dirty="0">
                <a:solidFill>
                  <a:schemeClr val="bg1"/>
                </a:solidFill>
                <a:latin typeface="TT Fors" panose="020B0604020202020204" charset="0"/>
                <a:sym typeface="TT Fors"/>
              </a:rPr>
              <a:t>Does access to piped water or sewage system affect diagnosis rates?</a:t>
            </a:r>
            <a:endParaRPr lang="en-US" dirty="0">
              <a:solidFill>
                <a:schemeClr val="bg1"/>
              </a:solidFill>
              <a:latin typeface="TT Fors" panose="020B0604020202020204" charset="0"/>
              <a:sym typeface="TT Fors"/>
            </a:endParaRP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a:p>
            <a:pPr>
              <a:lnSpc>
                <a:spcPct val="150000"/>
              </a:lnSpc>
            </a:pPr>
            <a:r>
              <a:rPr lang="en-GB" dirty="0">
                <a:solidFill>
                  <a:schemeClr val="bg1"/>
                </a:solidFill>
                <a:latin typeface="TT Fors" panose="020B0604020202020204" charset="0"/>
              </a:rPr>
              <a:t>Most cancer cases occur among patients with access to both piped water and sewage systems (231, 50.5%), followed by those without access to either (175, 38.3%), while significantly fewer cases are observed among patients with only piped water (41, 9.0%) or only sewage access (11, 2.4%), suggesting that both healthcare access and environmental conditions may influence diagnosis and risk.</a:t>
            </a: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p:txBody>
      </p:sp>
      <p:grpSp>
        <p:nvGrpSpPr>
          <p:cNvPr id="13" name="Group 44">
            <a:extLst>
              <a:ext uri="{FF2B5EF4-FFF2-40B4-BE49-F238E27FC236}">
                <a16:creationId xmlns:a16="http://schemas.microsoft.com/office/drawing/2014/main" id="{3784FFF1-1326-2DAA-1F4E-A59105491ABD}"/>
              </a:ext>
            </a:extLst>
          </p:cNvPr>
          <p:cNvGrpSpPr/>
          <p:nvPr/>
        </p:nvGrpSpPr>
        <p:grpSpPr>
          <a:xfrm>
            <a:off x="12177273" y="3573679"/>
            <a:ext cx="2444502" cy="1753364"/>
            <a:chOff x="-23995" y="-244363"/>
            <a:chExt cx="836795" cy="295746"/>
          </a:xfrm>
        </p:grpSpPr>
        <p:sp>
          <p:nvSpPr>
            <p:cNvPr id="14" name="Freeform 45">
              <a:extLst>
                <a:ext uri="{FF2B5EF4-FFF2-40B4-BE49-F238E27FC236}">
                  <a16:creationId xmlns:a16="http://schemas.microsoft.com/office/drawing/2014/main" id="{1D80543F-B416-78C3-E483-24FE1D9DD5FB}"/>
                </a:ext>
              </a:extLst>
            </p:cNvPr>
            <p:cNvSpPr/>
            <p:nvPr/>
          </p:nvSpPr>
          <p:spPr>
            <a:xfrm>
              <a:off x="-23995" y="-244363"/>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dirty="0"/>
            </a:p>
          </p:txBody>
        </p:sp>
        <p:sp>
          <p:nvSpPr>
            <p:cNvPr id="15" name="TextBox 46">
              <a:extLst>
                <a:ext uri="{FF2B5EF4-FFF2-40B4-BE49-F238E27FC236}">
                  <a16:creationId xmlns:a16="http://schemas.microsoft.com/office/drawing/2014/main" id="{937FE840-3005-572D-CE63-D04658037236}"/>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10" name="TextBox 9">
            <a:extLst>
              <a:ext uri="{FF2B5EF4-FFF2-40B4-BE49-F238E27FC236}">
                <a16:creationId xmlns:a16="http://schemas.microsoft.com/office/drawing/2014/main" id="{50C05D47-407E-7AFE-4491-97DC4D082245}"/>
              </a:ext>
            </a:extLst>
          </p:cNvPr>
          <p:cNvSpPr txBox="1"/>
          <p:nvPr/>
        </p:nvSpPr>
        <p:spPr>
          <a:xfrm>
            <a:off x="12587685" y="3541328"/>
            <a:ext cx="2514600" cy="369332"/>
          </a:xfrm>
          <a:prstGeom prst="rect">
            <a:avLst/>
          </a:prstGeom>
          <a:noFill/>
        </p:spPr>
        <p:txBody>
          <a:bodyPr wrap="square">
            <a:spAutoFit/>
          </a:bodyPr>
          <a:lstStyle/>
          <a:p>
            <a:r>
              <a:rPr lang="en-GB" b="1" dirty="0">
                <a:solidFill>
                  <a:schemeClr val="bg1"/>
                </a:solidFill>
                <a:latin typeface="TT Fors" panose="020B0604020202020204" charset="0"/>
              </a:rPr>
              <a:t>Key insights: </a:t>
            </a:r>
            <a:endParaRPr lang="en-GB" b="1" dirty="0"/>
          </a:p>
        </p:txBody>
      </p:sp>
      <p:graphicFrame>
        <p:nvGraphicFramePr>
          <p:cNvPr id="3" name="Chart 2">
            <a:extLst>
              <a:ext uri="{FF2B5EF4-FFF2-40B4-BE49-F238E27FC236}">
                <a16:creationId xmlns:a16="http://schemas.microsoft.com/office/drawing/2014/main" id="{A1A53C65-9B51-038A-6ED5-D4F5573AD8C7}"/>
              </a:ext>
            </a:extLst>
          </p:cNvPr>
          <p:cNvGraphicFramePr>
            <a:graphicFrameLocks/>
          </p:cNvGraphicFramePr>
          <p:nvPr>
            <p:extLst>
              <p:ext uri="{D42A27DB-BD31-4B8C-83A1-F6EECF244321}">
                <p14:modId xmlns:p14="http://schemas.microsoft.com/office/powerpoint/2010/main" val="3392375453"/>
              </p:ext>
            </p:extLst>
          </p:nvPr>
        </p:nvGraphicFramePr>
        <p:xfrm>
          <a:off x="747273" y="1409700"/>
          <a:ext cx="10896600" cy="6935260"/>
        </p:xfrm>
        <a:graphic>
          <a:graphicData uri="http://schemas.openxmlformats.org/drawingml/2006/chart">
            <c:chart xmlns:c="http://schemas.openxmlformats.org/drawingml/2006/chart" xmlns:r="http://schemas.openxmlformats.org/officeDocument/2006/relationships" r:id="rId2"/>
          </a:graphicData>
        </a:graphic>
      </p:graphicFrame>
      <p:sp>
        <p:nvSpPr>
          <p:cNvPr id="2" name="Oval 1">
            <a:extLst>
              <a:ext uri="{FF2B5EF4-FFF2-40B4-BE49-F238E27FC236}">
                <a16:creationId xmlns:a16="http://schemas.microsoft.com/office/drawing/2014/main" id="{5C2BBD8A-CD12-94DE-1405-6DB24B50D850}"/>
              </a:ext>
            </a:extLst>
          </p:cNvPr>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B70990A3-48D2-4BF7-B6F4-8C27B19D2D23}"/>
              </a:ext>
            </a:extLst>
          </p:cNvPr>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a:extLst>
              <a:ext uri="{FF2B5EF4-FFF2-40B4-BE49-F238E27FC236}">
                <a16:creationId xmlns:a16="http://schemas.microsoft.com/office/drawing/2014/main" id="{24388201-BB8E-1C8E-9E0F-7642C5A2375B}"/>
              </a:ext>
            </a:extLst>
          </p:cNvPr>
          <p:cNvGraphicFramePr>
            <a:graphicFrameLocks noGrp="1"/>
          </p:cNvGraphicFramePr>
          <p:nvPr>
            <p:extLst>
              <p:ext uri="{D42A27DB-BD31-4B8C-83A1-F6EECF244321}">
                <p14:modId xmlns:p14="http://schemas.microsoft.com/office/powerpoint/2010/main" val="1196042215"/>
              </p:ext>
            </p:extLst>
          </p:nvPr>
        </p:nvGraphicFramePr>
        <p:xfrm>
          <a:off x="3047999" y="8534315"/>
          <a:ext cx="7172260" cy="1562100"/>
        </p:xfrm>
        <a:graphic>
          <a:graphicData uri="http://schemas.openxmlformats.org/drawingml/2006/table">
            <a:tbl>
              <a:tblPr>
                <a:tableStyleId>{5C22544A-7EE6-4342-B048-85BDC9FD1C3A}</a:tableStyleId>
              </a:tblPr>
              <a:tblGrid>
                <a:gridCol w="1716438">
                  <a:extLst>
                    <a:ext uri="{9D8B030D-6E8A-4147-A177-3AD203B41FA5}">
                      <a16:colId xmlns:a16="http://schemas.microsoft.com/office/drawing/2014/main" val="2049452896"/>
                    </a:ext>
                  </a:extLst>
                </a:gridCol>
                <a:gridCol w="1777740">
                  <a:extLst>
                    <a:ext uri="{9D8B030D-6E8A-4147-A177-3AD203B41FA5}">
                      <a16:colId xmlns:a16="http://schemas.microsoft.com/office/drawing/2014/main" val="215646053"/>
                    </a:ext>
                  </a:extLst>
                </a:gridCol>
                <a:gridCol w="1992295">
                  <a:extLst>
                    <a:ext uri="{9D8B030D-6E8A-4147-A177-3AD203B41FA5}">
                      <a16:colId xmlns:a16="http://schemas.microsoft.com/office/drawing/2014/main" val="880914379"/>
                    </a:ext>
                  </a:extLst>
                </a:gridCol>
                <a:gridCol w="1685787">
                  <a:extLst>
                    <a:ext uri="{9D8B030D-6E8A-4147-A177-3AD203B41FA5}">
                      <a16:colId xmlns:a16="http://schemas.microsoft.com/office/drawing/2014/main" val="848804961"/>
                    </a:ext>
                  </a:extLst>
                </a:gridCol>
              </a:tblGrid>
              <a:tr h="182880">
                <a:tc>
                  <a:txBody>
                    <a:bodyPr/>
                    <a:lstStyle/>
                    <a:p>
                      <a:pPr algn="l" fontAlgn="b">
                        <a:buNone/>
                      </a:pPr>
                      <a:r>
                        <a:rPr lang="en-GB" sz="2000" u="none" strike="noStrike">
                          <a:effectLst/>
                          <a:latin typeface="TT Fors" panose="020B0604020202020204" charset="0"/>
                        </a:rPr>
                        <a:t>Catergories</a:t>
                      </a:r>
                      <a:endParaRPr lang="en-GB" sz="2000" b="0" i="0" u="none" strike="noStrike">
                        <a:solidFill>
                          <a:srgbClr val="000000"/>
                        </a:solidFill>
                        <a:effectLst/>
                        <a:latin typeface="TT Fors" panose="020B0604020202020204" charset="0"/>
                      </a:endParaRPr>
                    </a:p>
                  </a:txBody>
                  <a:tcPr marL="7620" marR="7620" marT="7620" marB="0" anchor="b"/>
                </a:tc>
                <a:tc>
                  <a:txBody>
                    <a:bodyPr/>
                    <a:lstStyle/>
                    <a:p>
                      <a:pPr algn="l" fontAlgn="b">
                        <a:buNone/>
                      </a:pPr>
                      <a:r>
                        <a:rPr lang="en-GB" sz="2000" u="none" strike="noStrike">
                          <a:effectLst/>
                          <a:latin typeface="TT Fors" panose="020B0604020202020204" charset="0"/>
                        </a:rPr>
                        <a:t>Piped Water</a:t>
                      </a:r>
                      <a:endParaRPr lang="en-GB" sz="2000" b="0" i="0" u="none" strike="noStrike">
                        <a:solidFill>
                          <a:srgbClr val="000000"/>
                        </a:solidFill>
                        <a:effectLst/>
                        <a:latin typeface="TT Fors" panose="020B0604020202020204" charset="0"/>
                      </a:endParaRPr>
                    </a:p>
                  </a:txBody>
                  <a:tcPr marL="7620" marR="7620" marT="7620" marB="0" anchor="b"/>
                </a:tc>
                <a:tc>
                  <a:txBody>
                    <a:bodyPr/>
                    <a:lstStyle/>
                    <a:p>
                      <a:pPr algn="l" fontAlgn="b">
                        <a:buNone/>
                      </a:pPr>
                      <a:r>
                        <a:rPr lang="en-GB" sz="2000" u="none" strike="noStrike" dirty="0">
                          <a:effectLst/>
                          <a:latin typeface="TT Fors" panose="020B0604020202020204" charset="0"/>
                        </a:rPr>
                        <a:t>Sewage System</a:t>
                      </a:r>
                      <a:endParaRPr lang="en-GB" sz="2000" b="0" i="0" u="none" strike="noStrike" dirty="0">
                        <a:solidFill>
                          <a:srgbClr val="000000"/>
                        </a:solidFill>
                        <a:effectLst/>
                        <a:latin typeface="TT Fors" panose="020B0604020202020204" charset="0"/>
                      </a:endParaRPr>
                    </a:p>
                  </a:txBody>
                  <a:tcPr marL="7620" marR="7620" marT="7620" marB="0" anchor="b"/>
                </a:tc>
                <a:tc>
                  <a:txBody>
                    <a:bodyPr/>
                    <a:lstStyle/>
                    <a:p>
                      <a:pPr algn="l" fontAlgn="b">
                        <a:buNone/>
                      </a:pPr>
                      <a:r>
                        <a:rPr lang="en-GB" sz="2000" u="none" strike="noStrike">
                          <a:effectLst/>
                          <a:latin typeface="TT Fors" panose="020B0604020202020204" charset="0"/>
                        </a:rPr>
                        <a:t>Total Cases</a:t>
                      </a:r>
                      <a:endParaRPr lang="en-GB" sz="2000" b="0" i="0" u="none" strike="noStrike">
                        <a:solidFill>
                          <a:srgbClr val="000000"/>
                        </a:solidFill>
                        <a:effectLst/>
                        <a:latin typeface="TT Fors" panose="020B0604020202020204" charset="0"/>
                      </a:endParaRPr>
                    </a:p>
                  </a:txBody>
                  <a:tcPr marL="7620" marR="7620" marT="7620" marB="0" anchor="b"/>
                </a:tc>
                <a:extLst>
                  <a:ext uri="{0D108BD9-81ED-4DB2-BD59-A6C34878D82A}">
                    <a16:rowId xmlns:a16="http://schemas.microsoft.com/office/drawing/2014/main" val="2410438566"/>
                  </a:ext>
                </a:extLst>
              </a:tr>
              <a:tr h="182880">
                <a:tc>
                  <a:txBody>
                    <a:bodyPr/>
                    <a:lstStyle/>
                    <a:p>
                      <a:pPr algn="l" fontAlgn="b">
                        <a:buNone/>
                      </a:pPr>
                      <a:r>
                        <a:rPr lang="en-GB" sz="2000" u="none" strike="noStrike">
                          <a:effectLst/>
                          <a:latin typeface="TT Fors" panose="020B0604020202020204" charset="0"/>
                        </a:rPr>
                        <a:t>Category 1</a:t>
                      </a:r>
                      <a:endParaRPr lang="en-GB" sz="20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2000" u="none" strike="noStrike" dirty="0">
                          <a:solidFill>
                            <a:srgbClr val="FF0000"/>
                          </a:solidFill>
                          <a:effectLst/>
                          <a:latin typeface="TT Fors" panose="020B0604020202020204" charset="0"/>
                        </a:rPr>
                        <a:t>TRUE</a:t>
                      </a:r>
                      <a:endParaRPr lang="en-GB" sz="2000" b="0" i="0" u="none" strike="noStrike" dirty="0">
                        <a:solidFill>
                          <a:srgbClr val="FF0000"/>
                        </a:solidFill>
                        <a:effectLst/>
                        <a:latin typeface="TT Fors" panose="020B0604020202020204" charset="0"/>
                      </a:endParaRPr>
                    </a:p>
                  </a:txBody>
                  <a:tcPr marL="7620" marR="7620" marT="7620" marB="0" anchor="b"/>
                </a:tc>
                <a:tc>
                  <a:txBody>
                    <a:bodyPr/>
                    <a:lstStyle/>
                    <a:p>
                      <a:pPr algn="ctr" fontAlgn="b">
                        <a:buNone/>
                      </a:pPr>
                      <a:r>
                        <a:rPr lang="en-GB" sz="2000" u="none" strike="noStrike" dirty="0">
                          <a:solidFill>
                            <a:srgbClr val="FF0000"/>
                          </a:solidFill>
                          <a:effectLst/>
                          <a:latin typeface="TT Fors" panose="020B0604020202020204" charset="0"/>
                        </a:rPr>
                        <a:t>TRUE</a:t>
                      </a:r>
                      <a:endParaRPr lang="en-GB" sz="2000" b="0" i="0" u="none" strike="noStrike" dirty="0">
                        <a:solidFill>
                          <a:srgbClr val="FF0000"/>
                        </a:solidFill>
                        <a:effectLst/>
                        <a:latin typeface="TT Fors" panose="020B0604020202020204" charset="0"/>
                      </a:endParaRPr>
                    </a:p>
                  </a:txBody>
                  <a:tcPr marL="7620" marR="7620" marT="7620" marB="0" anchor="b"/>
                </a:tc>
                <a:tc>
                  <a:txBody>
                    <a:bodyPr/>
                    <a:lstStyle/>
                    <a:p>
                      <a:pPr algn="ctr" fontAlgn="b">
                        <a:buNone/>
                      </a:pPr>
                      <a:r>
                        <a:rPr lang="en-GB" sz="2000" u="none" strike="noStrike" dirty="0">
                          <a:effectLst/>
                          <a:latin typeface="TT Fors" panose="020B0604020202020204" charset="0"/>
                        </a:rPr>
                        <a:t>231</a:t>
                      </a:r>
                      <a:endParaRPr lang="en-GB" sz="2000" b="0" i="0" u="none" strike="noStrike" dirty="0">
                        <a:solidFill>
                          <a:srgbClr val="000000"/>
                        </a:solidFill>
                        <a:effectLst/>
                        <a:latin typeface="TT Fors" panose="020B0604020202020204" charset="0"/>
                      </a:endParaRPr>
                    </a:p>
                  </a:txBody>
                  <a:tcPr marL="7620" marR="7620" marT="7620" marB="0" anchor="b"/>
                </a:tc>
                <a:extLst>
                  <a:ext uri="{0D108BD9-81ED-4DB2-BD59-A6C34878D82A}">
                    <a16:rowId xmlns:a16="http://schemas.microsoft.com/office/drawing/2014/main" val="2662266294"/>
                  </a:ext>
                </a:extLst>
              </a:tr>
              <a:tr h="182880">
                <a:tc>
                  <a:txBody>
                    <a:bodyPr/>
                    <a:lstStyle/>
                    <a:p>
                      <a:pPr algn="l" fontAlgn="b">
                        <a:buNone/>
                      </a:pPr>
                      <a:r>
                        <a:rPr lang="en-GB" sz="2000" u="none" strike="noStrike">
                          <a:effectLst/>
                          <a:latin typeface="TT Fors" panose="020B0604020202020204" charset="0"/>
                        </a:rPr>
                        <a:t>Category 2</a:t>
                      </a:r>
                      <a:endParaRPr lang="en-GB" sz="20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2000" u="none" strike="noStrike">
                          <a:effectLst/>
                          <a:latin typeface="TT Fors" panose="020B0604020202020204" charset="0"/>
                        </a:rPr>
                        <a:t>FALSE</a:t>
                      </a:r>
                      <a:endParaRPr lang="en-GB" sz="20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2000" u="none" strike="noStrike">
                          <a:effectLst/>
                          <a:latin typeface="TT Fors" panose="020B0604020202020204" charset="0"/>
                        </a:rPr>
                        <a:t>FALSE</a:t>
                      </a:r>
                      <a:endParaRPr lang="en-GB" sz="20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2000" u="none" strike="noStrike" dirty="0">
                          <a:effectLst/>
                          <a:latin typeface="TT Fors" panose="020B0604020202020204" charset="0"/>
                        </a:rPr>
                        <a:t>175</a:t>
                      </a:r>
                      <a:endParaRPr lang="en-GB" sz="2000" b="0" i="0" u="none" strike="noStrike" dirty="0">
                        <a:solidFill>
                          <a:srgbClr val="000000"/>
                        </a:solidFill>
                        <a:effectLst/>
                        <a:latin typeface="TT Fors" panose="020B0604020202020204" charset="0"/>
                      </a:endParaRPr>
                    </a:p>
                  </a:txBody>
                  <a:tcPr marL="7620" marR="7620" marT="7620" marB="0" anchor="b"/>
                </a:tc>
                <a:extLst>
                  <a:ext uri="{0D108BD9-81ED-4DB2-BD59-A6C34878D82A}">
                    <a16:rowId xmlns:a16="http://schemas.microsoft.com/office/drawing/2014/main" val="2617723655"/>
                  </a:ext>
                </a:extLst>
              </a:tr>
              <a:tr h="182880">
                <a:tc>
                  <a:txBody>
                    <a:bodyPr/>
                    <a:lstStyle/>
                    <a:p>
                      <a:pPr algn="l" fontAlgn="b">
                        <a:buNone/>
                      </a:pPr>
                      <a:r>
                        <a:rPr lang="en-GB" sz="2000" u="none" strike="noStrike">
                          <a:effectLst/>
                          <a:latin typeface="TT Fors" panose="020B0604020202020204" charset="0"/>
                        </a:rPr>
                        <a:t>Category 3</a:t>
                      </a:r>
                      <a:endParaRPr lang="en-GB" sz="20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2000" u="none" strike="noStrike" dirty="0">
                          <a:solidFill>
                            <a:srgbClr val="FF0000"/>
                          </a:solidFill>
                          <a:effectLst/>
                          <a:latin typeface="TT Fors" panose="020B0604020202020204" charset="0"/>
                        </a:rPr>
                        <a:t>TRUE</a:t>
                      </a:r>
                      <a:endParaRPr lang="en-GB" sz="2000" b="0" i="0" u="none" strike="noStrike" dirty="0">
                        <a:solidFill>
                          <a:srgbClr val="FF0000"/>
                        </a:solidFill>
                        <a:effectLst/>
                        <a:latin typeface="TT Fors" panose="020B0604020202020204" charset="0"/>
                      </a:endParaRPr>
                    </a:p>
                  </a:txBody>
                  <a:tcPr marL="7620" marR="7620" marT="7620" marB="0" anchor="b"/>
                </a:tc>
                <a:tc>
                  <a:txBody>
                    <a:bodyPr/>
                    <a:lstStyle/>
                    <a:p>
                      <a:pPr algn="ctr" fontAlgn="b">
                        <a:buNone/>
                      </a:pPr>
                      <a:r>
                        <a:rPr lang="en-GB" sz="2000" u="none" strike="noStrike" dirty="0">
                          <a:solidFill>
                            <a:schemeClr val="tx1"/>
                          </a:solidFill>
                          <a:effectLst/>
                          <a:latin typeface="TT Fors" panose="020B0604020202020204" charset="0"/>
                        </a:rPr>
                        <a:t>FALSE</a:t>
                      </a:r>
                      <a:endParaRPr lang="en-GB" sz="2000" b="0" i="0" u="none" strike="noStrike" dirty="0">
                        <a:solidFill>
                          <a:schemeClr val="tx1"/>
                        </a:solidFill>
                        <a:effectLst/>
                        <a:latin typeface="TT Fors" panose="020B0604020202020204" charset="0"/>
                      </a:endParaRPr>
                    </a:p>
                  </a:txBody>
                  <a:tcPr marL="7620" marR="7620" marT="7620" marB="0" anchor="b"/>
                </a:tc>
                <a:tc>
                  <a:txBody>
                    <a:bodyPr/>
                    <a:lstStyle/>
                    <a:p>
                      <a:pPr algn="ctr" fontAlgn="b">
                        <a:buNone/>
                      </a:pPr>
                      <a:r>
                        <a:rPr lang="en-GB" sz="2000" u="none" strike="noStrike" dirty="0">
                          <a:effectLst/>
                          <a:latin typeface="TT Fors" panose="020B0604020202020204" charset="0"/>
                        </a:rPr>
                        <a:t>41</a:t>
                      </a:r>
                      <a:endParaRPr lang="en-GB" sz="2000" b="0" i="0" u="none" strike="noStrike" dirty="0">
                        <a:solidFill>
                          <a:srgbClr val="000000"/>
                        </a:solidFill>
                        <a:effectLst/>
                        <a:latin typeface="TT Fors" panose="020B0604020202020204" charset="0"/>
                      </a:endParaRPr>
                    </a:p>
                  </a:txBody>
                  <a:tcPr marL="7620" marR="7620" marT="7620" marB="0" anchor="b"/>
                </a:tc>
                <a:extLst>
                  <a:ext uri="{0D108BD9-81ED-4DB2-BD59-A6C34878D82A}">
                    <a16:rowId xmlns:a16="http://schemas.microsoft.com/office/drawing/2014/main" val="2969910366"/>
                  </a:ext>
                </a:extLst>
              </a:tr>
              <a:tr h="182880">
                <a:tc>
                  <a:txBody>
                    <a:bodyPr/>
                    <a:lstStyle/>
                    <a:p>
                      <a:pPr algn="l" fontAlgn="b">
                        <a:buNone/>
                      </a:pPr>
                      <a:r>
                        <a:rPr lang="en-GB" sz="2000" u="none" strike="noStrike">
                          <a:effectLst/>
                          <a:latin typeface="TT Fors" panose="020B0604020202020204" charset="0"/>
                        </a:rPr>
                        <a:t>Category 4</a:t>
                      </a:r>
                      <a:endParaRPr lang="en-GB" sz="20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2000" u="none" strike="noStrike">
                          <a:effectLst/>
                          <a:latin typeface="TT Fors" panose="020B0604020202020204" charset="0"/>
                        </a:rPr>
                        <a:t>FALSE</a:t>
                      </a:r>
                      <a:endParaRPr lang="en-GB" sz="2000" b="0" i="0" u="none" strike="noStrike">
                        <a:solidFill>
                          <a:srgbClr val="000000"/>
                        </a:solidFill>
                        <a:effectLst/>
                        <a:latin typeface="TT Fors" panose="020B0604020202020204" charset="0"/>
                      </a:endParaRPr>
                    </a:p>
                  </a:txBody>
                  <a:tcPr marL="7620" marR="7620" marT="7620" marB="0" anchor="b"/>
                </a:tc>
                <a:tc>
                  <a:txBody>
                    <a:bodyPr/>
                    <a:lstStyle/>
                    <a:p>
                      <a:pPr algn="ctr" fontAlgn="b">
                        <a:buNone/>
                      </a:pPr>
                      <a:r>
                        <a:rPr lang="en-GB" sz="2000" u="none" strike="noStrike" dirty="0">
                          <a:solidFill>
                            <a:srgbClr val="FF0000"/>
                          </a:solidFill>
                          <a:effectLst/>
                          <a:latin typeface="TT Fors" panose="020B0604020202020204" charset="0"/>
                        </a:rPr>
                        <a:t>TRUE</a:t>
                      </a:r>
                      <a:endParaRPr lang="en-GB" sz="2000" b="0" i="0" u="none" strike="noStrike" dirty="0">
                        <a:solidFill>
                          <a:srgbClr val="FF0000"/>
                        </a:solidFill>
                        <a:effectLst/>
                        <a:latin typeface="TT Fors" panose="020B0604020202020204" charset="0"/>
                      </a:endParaRPr>
                    </a:p>
                  </a:txBody>
                  <a:tcPr marL="7620" marR="7620" marT="7620" marB="0" anchor="b"/>
                </a:tc>
                <a:tc>
                  <a:txBody>
                    <a:bodyPr/>
                    <a:lstStyle/>
                    <a:p>
                      <a:pPr algn="ctr" fontAlgn="b">
                        <a:buNone/>
                      </a:pPr>
                      <a:r>
                        <a:rPr lang="en-GB" sz="2000" u="none" strike="noStrike" dirty="0">
                          <a:effectLst/>
                          <a:latin typeface="TT Fors" panose="020B0604020202020204" charset="0"/>
                        </a:rPr>
                        <a:t>11</a:t>
                      </a:r>
                      <a:endParaRPr lang="en-GB" sz="2000" b="0" i="0" u="none" strike="noStrike" dirty="0">
                        <a:solidFill>
                          <a:srgbClr val="000000"/>
                        </a:solidFill>
                        <a:effectLst/>
                        <a:latin typeface="TT Fors" panose="020B0604020202020204" charset="0"/>
                      </a:endParaRPr>
                    </a:p>
                  </a:txBody>
                  <a:tcPr marL="7620" marR="7620" marT="7620" marB="0" anchor="b"/>
                </a:tc>
                <a:extLst>
                  <a:ext uri="{0D108BD9-81ED-4DB2-BD59-A6C34878D82A}">
                    <a16:rowId xmlns:a16="http://schemas.microsoft.com/office/drawing/2014/main" val="2367715459"/>
                  </a:ext>
                </a:extLst>
              </a:tr>
            </a:tbl>
          </a:graphicData>
        </a:graphic>
      </p:graphicFrame>
    </p:spTree>
    <p:extLst>
      <p:ext uri="{BB962C8B-B14F-4D97-AF65-F5344CB8AC3E}">
        <p14:creationId xmlns:p14="http://schemas.microsoft.com/office/powerpoint/2010/main" val="1481606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E66377A2-7FF1-61CA-D4AF-CE8CDC1DD580}"/>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5DF0D734-5AEF-8322-C8F5-8B81F22A9951}"/>
              </a:ext>
            </a:extLst>
          </p:cNvPr>
          <p:cNvSpPr/>
          <p:nvPr/>
        </p:nvSpPr>
        <p:spPr>
          <a:xfrm>
            <a:off x="-990600" y="-630909"/>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75818C9C-DE6B-E1C0-7E7B-7F30149F1077}"/>
              </a:ext>
            </a:extLst>
          </p:cNvPr>
          <p:cNvSpPr/>
          <p:nvPr/>
        </p:nvSpPr>
        <p:spPr>
          <a:xfrm>
            <a:off x="-624840" y="-82269"/>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6">
            <a:extLst>
              <a:ext uri="{FF2B5EF4-FFF2-40B4-BE49-F238E27FC236}">
                <a16:creationId xmlns:a16="http://schemas.microsoft.com/office/drawing/2014/main" id="{13695B16-F6CE-8154-3113-C56B8D5A3957}"/>
              </a:ext>
            </a:extLst>
          </p:cNvPr>
          <p:cNvSpPr txBox="1"/>
          <p:nvPr/>
        </p:nvSpPr>
        <p:spPr>
          <a:xfrm>
            <a:off x="3886200" y="571500"/>
            <a:ext cx="10181376" cy="622935"/>
          </a:xfrm>
          <a:prstGeom prst="rect">
            <a:avLst/>
          </a:prstGeom>
        </p:spPr>
        <p:txBody>
          <a:bodyPr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Patient’s Diagnostic Cases</a:t>
            </a:r>
          </a:p>
        </p:txBody>
      </p:sp>
      <p:graphicFrame>
        <p:nvGraphicFramePr>
          <p:cNvPr id="5" name="Chart 4">
            <a:extLst>
              <a:ext uri="{FF2B5EF4-FFF2-40B4-BE49-F238E27FC236}">
                <a16:creationId xmlns:a16="http://schemas.microsoft.com/office/drawing/2014/main" id="{CF938356-973D-784F-5F1F-AB6416849D5F}"/>
              </a:ext>
            </a:extLst>
          </p:cNvPr>
          <p:cNvGraphicFramePr>
            <a:graphicFrameLocks/>
          </p:cNvGraphicFramePr>
          <p:nvPr>
            <p:extLst>
              <p:ext uri="{D42A27DB-BD31-4B8C-83A1-F6EECF244321}">
                <p14:modId xmlns:p14="http://schemas.microsoft.com/office/powerpoint/2010/main" val="4173983686"/>
              </p:ext>
            </p:extLst>
          </p:nvPr>
        </p:nvGraphicFramePr>
        <p:xfrm>
          <a:off x="497888" y="1843737"/>
          <a:ext cx="10962280" cy="6829183"/>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18">
            <a:extLst>
              <a:ext uri="{FF2B5EF4-FFF2-40B4-BE49-F238E27FC236}">
                <a16:creationId xmlns:a16="http://schemas.microsoft.com/office/drawing/2014/main" id="{209F7FC2-C74C-6FBA-D719-0C95A15F81ED}"/>
              </a:ext>
            </a:extLst>
          </p:cNvPr>
          <p:cNvSpPr txBox="1"/>
          <p:nvPr/>
        </p:nvSpPr>
        <p:spPr>
          <a:xfrm>
            <a:off x="12050382" y="1194436"/>
            <a:ext cx="5779095" cy="8825864"/>
          </a:xfrm>
          <a:prstGeom prst="rect">
            <a:avLst/>
          </a:prstGeom>
          <a:solidFill>
            <a:schemeClr val="tx2"/>
          </a:solidFill>
        </p:spPr>
        <p:txBody>
          <a:bodyPr lIns="50800" tIns="50800" rIns="50800" bIns="50800" rtlCol="0" anchor="ctr"/>
          <a:lstStyle/>
          <a:p>
            <a:pPr algn="ctr">
              <a:lnSpc>
                <a:spcPts val="2520"/>
              </a:lnSpc>
            </a:pPr>
            <a:endParaRPr/>
          </a:p>
        </p:txBody>
      </p:sp>
      <p:sp>
        <p:nvSpPr>
          <p:cNvPr id="10" name="TextBox 9">
            <a:extLst>
              <a:ext uri="{FF2B5EF4-FFF2-40B4-BE49-F238E27FC236}">
                <a16:creationId xmlns:a16="http://schemas.microsoft.com/office/drawing/2014/main" id="{404409C0-D22F-2F91-C562-AB00A646067D}"/>
              </a:ext>
            </a:extLst>
          </p:cNvPr>
          <p:cNvSpPr txBox="1"/>
          <p:nvPr/>
        </p:nvSpPr>
        <p:spPr>
          <a:xfrm>
            <a:off x="12268200" y="1429751"/>
            <a:ext cx="5105399" cy="10583667"/>
          </a:xfrm>
          <a:prstGeom prst="rect">
            <a:avLst/>
          </a:prstGeom>
          <a:noFill/>
        </p:spPr>
        <p:txBody>
          <a:bodyPr wrap="square">
            <a:spAutoFit/>
          </a:bodyPr>
          <a:lstStyle/>
          <a:p>
            <a:pPr>
              <a:lnSpc>
                <a:spcPct val="150000"/>
              </a:lnSpc>
            </a:pPr>
            <a:r>
              <a:rPr lang="en-GB" dirty="0">
                <a:solidFill>
                  <a:schemeClr val="bg1"/>
                </a:solidFill>
                <a:latin typeface="TT Fors" panose="020B0604020202020204" charset="0"/>
              </a:rPr>
              <a:t>What is the most common type of lesion (diagnostic)?</a:t>
            </a:r>
          </a:p>
          <a:p>
            <a:pPr>
              <a:lnSpc>
                <a:spcPct val="150000"/>
              </a:lnSpc>
            </a:pPr>
            <a:endParaRPr lang="en-GB" dirty="0">
              <a:solidFill>
                <a:schemeClr val="bg1"/>
              </a:solidFill>
              <a:latin typeface="TT Fors" panose="020B0604020202020204" charset="0"/>
            </a:endParaRPr>
          </a:p>
          <a:p>
            <a:pPr algn="just"/>
            <a:r>
              <a:rPr lang="en-GB" dirty="0">
                <a:solidFill>
                  <a:schemeClr val="bg1"/>
                </a:solidFill>
                <a:latin typeface="TT Fors" panose="020B0604020202020204" charset="0"/>
              </a:rPr>
              <a:t>The query groups biopsy results by specific diagnoses and then classifies each into broader lesion categories (Cancerous, Precancerous, or Benign), while also counting how many cases fall into each type.</a:t>
            </a:r>
          </a:p>
          <a:p>
            <a:pPr algn="just"/>
            <a:endParaRPr lang="en-GB" dirty="0">
              <a:solidFill>
                <a:schemeClr val="bg1"/>
              </a:solidFill>
              <a:latin typeface="TT Fors" panose="020B0604020202020204" charset="0"/>
            </a:endParaRPr>
          </a:p>
          <a:p>
            <a:pPr algn="just"/>
            <a:endParaRPr lang="en-GB" dirty="0">
              <a:solidFill>
                <a:schemeClr val="bg1"/>
              </a:solidFill>
              <a:latin typeface="TT Fors" panose="020B0604020202020204" charset="0"/>
            </a:endParaRPr>
          </a:p>
          <a:p>
            <a:pPr algn="just"/>
            <a:r>
              <a:rPr lang="en-GB" dirty="0">
                <a:solidFill>
                  <a:schemeClr val="bg1"/>
                </a:solidFill>
                <a:latin typeface="TT Fors" panose="020B0604020202020204" charset="0"/>
              </a:rPr>
              <a:t>The results show that precancerous lesions (ACK) are the most common, with 461 cases (42.5% of all cases). Among cancerous conditions, BCC (Basal Cell Carcinoma) is the most frequent with 273 cases (25.2%), followed by SCC (Squamous Cell Carcinoma) with 56 cases (5.2%) and MEL (Melanoma) with 17 cases (1.6%).</a:t>
            </a:r>
          </a:p>
          <a:p>
            <a:pPr algn="just"/>
            <a:r>
              <a:rPr lang="en-GB" dirty="0">
                <a:solidFill>
                  <a:schemeClr val="bg1"/>
                </a:solidFill>
                <a:latin typeface="TT Fors" panose="020B0604020202020204" charset="0"/>
              </a:rPr>
              <a:t>For benign conditions, NEV accounts for 144 cases (13.3%) and SEK for 137 cases (12.6%).</a:t>
            </a:r>
          </a:p>
          <a:p>
            <a:pPr algn="just"/>
            <a:endParaRPr lang="en-GB" dirty="0">
              <a:solidFill>
                <a:schemeClr val="bg1"/>
              </a:solidFill>
              <a:latin typeface="TT Fors" panose="020B0604020202020204" charset="0"/>
            </a:endParaRPr>
          </a:p>
          <a:p>
            <a:pPr algn="just"/>
            <a:endParaRPr lang="en-GB" dirty="0">
              <a:solidFill>
                <a:schemeClr val="bg1"/>
              </a:solidFill>
              <a:latin typeface="TT Fors" panose="020B0604020202020204" charset="0"/>
            </a:endParaRPr>
          </a:p>
          <a:p>
            <a:pPr algn="just"/>
            <a:r>
              <a:rPr lang="en-GB" dirty="0">
                <a:solidFill>
                  <a:schemeClr val="bg1"/>
                </a:solidFill>
                <a:latin typeface="TT Fors" panose="020B0604020202020204" charset="0"/>
              </a:rPr>
              <a:t>Overall, this distribution indicates that the majority of diagnosed lesions are either precancerous or early-stage conditions, with cancerous lesions making up a smaller but still significant proportion. This may suggest effective detection at earlier stages, before progression to more severe malignancies.</a:t>
            </a: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p:txBody>
      </p:sp>
      <p:grpSp>
        <p:nvGrpSpPr>
          <p:cNvPr id="13" name="Group 44">
            <a:extLst>
              <a:ext uri="{FF2B5EF4-FFF2-40B4-BE49-F238E27FC236}">
                <a16:creationId xmlns:a16="http://schemas.microsoft.com/office/drawing/2014/main" id="{F924ABA8-5978-205F-DAC0-151F7A53E0A9}"/>
              </a:ext>
            </a:extLst>
          </p:cNvPr>
          <p:cNvGrpSpPr/>
          <p:nvPr/>
        </p:nvGrpSpPr>
        <p:grpSpPr>
          <a:xfrm>
            <a:off x="12294074" y="2324100"/>
            <a:ext cx="2444502" cy="1753364"/>
            <a:chOff x="-23995" y="-244363"/>
            <a:chExt cx="836795" cy="295746"/>
          </a:xfrm>
        </p:grpSpPr>
        <p:sp>
          <p:nvSpPr>
            <p:cNvPr id="14" name="Freeform 45">
              <a:extLst>
                <a:ext uri="{FF2B5EF4-FFF2-40B4-BE49-F238E27FC236}">
                  <a16:creationId xmlns:a16="http://schemas.microsoft.com/office/drawing/2014/main" id="{9F617E59-A26F-E5B8-AFCD-507749E60E20}"/>
                </a:ext>
              </a:extLst>
            </p:cNvPr>
            <p:cNvSpPr/>
            <p:nvPr/>
          </p:nvSpPr>
          <p:spPr>
            <a:xfrm>
              <a:off x="-23995" y="-244363"/>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dirty="0"/>
            </a:p>
          </p:txBody>
        </p:sp>
        <p:sp>
          <p:nvSpPr>
            <p:cNvPr id="15" name="TextBox 46">
              <a:extLst>
                <a:ext uri="{FF2B5EF4-FFF2-40B4-BE49-F238E27FC236}">
                  <a16:creationId xmlns:a16="http://schemas.microsoft.com/office/drawing/2014/main" id="{7A9BFF5E-EDDE-5429-EC4D-E5E966C08B35}"/>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11" name="TextBox 10">
            <a:extLst>
              <a:ext uri="{FF2B5EF4-FFF2-40B4-BE49-F238E27FC236}">
                <a16:creationId xmlns:a16="http://schemas.microsoft.com/office/drawing/2014/main" id="{511BE9BE-0AB3-0A60-3CE5-58C7B8183BD7}"/>
              </a:ext>
            </a:extLst>
          </p:cNvPr>
          <p:cNvSpPr txBox="1"/>
          <p:nvPr/>
        </p:nvSpPr>
        <p:spPr>
          <a:xfrm>
            <a:off x="12691508" y="2324100"/>
            <a:ext cx="2514600" cy="369332"/>
          </a:xfrm>
          <a:prstGeom prst="rect">
            <a:avLst/>
          </a:prstGeom>
          <a:noFill/>
        </p:spPr>
        <p:txBody>
          <a:bodyPr wrap="square">
            <a:spAutoFit/>
          </a:bodyPr>
          <a:lstStyle/>
          <a:p>
            <a:r>
              <a:rPr lang="en-GB" b="1" dirty="0">
                <a:solidFill>
                  <a:schemeClr val="bg1"/>
                </a:solidFill>
                <a:latin typeface="TT Fors" panose="020B0604020202020204" charset="0"/>
              </a:rPr>
              <a:t>Key insights: </a:t>
            </a:r>
            <a:endParaRPr lang="en-GB" b="1" dirty="0"/>
          </a:p>
        </p:txBody>
      </p:sp>
      <p:grpSp>
        <p:nvGrpSpPr>
          <p:cNvPr id="6" name="Group 44">
            <a:extLst>
              <a:ext uri="{FF2B5EF4-FFF2-40B4-BE49-F238E27FC236}">
                <a16:creationId xmlns:a16="http://schemas.microsoft.com/office/drawing/2014/main" id="{5BAB74F2-1029-4C80-EF17-461E67B38E54}"/>
              </a:ext>
            </a:extLst>
          </p:cNvPr>
          <p:cNvGrpSpPr/>
          <p:nvPr/>
        </p:nvGrpSpPr>
        <p:grpSpPr>
          <a:xfrm>
            <a:off x="12329122" y="4228336"/>
            <a:ext cx="1158278" cy="1753364"/>
            <a:chOff x="-23995" y="-244363"/>
            <a:chExt cx="836795" cy="295746"/>
          </a:xfrm>
        </p:grpSpPr>
        <p:sp>
          <p:nvSpPr>
            <p:cNvPr id="7" name="Freeform 45">
              <a:extLst>
                <a:ext uri="{FF2B5EF4-FFF2-40B4-BE49-F238E27FC236}">
                  <a16:creationId xmlns:a16="http://schemas.microsoft.com/office/drawing/2014/main" id="{3E828CE8-3DED-6CFA-2F2A-11FC203352A6}"/>
                </a:ext>
              </a:extLst>
            </p:cNvPr>
            <p:cNvSpPr/>
            <p:nvPr/>
          </p:nvSpPr>
          <p:spPr>
            <a:xfrm>
              <a:off x="-23995" y="-244363"/>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dirty="0"/>
            </a:p>
          </p:txBody>
        </p:sp>
        <p:sp>
          <p:nvSpPr>
            <p:cNvPr id="8" name="TextBox 46">
              <a:extLst>
                <a:ext uri="{FF2B5EF4-FFF2-40B4-BE49-F238E27FC236}">
                  <a16:creationId xmlns:a16="http://schemas.microsoft.com/office/drawing/2014/main" id="{D6224A08-A612-BCDD-CB7C-3555B589478B}"/>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4" name="TextBox 3">
            <a:extLst>
              <a:ext uri="{FF2B5EF4-FFF2-40B4-BE49-F238E27FC236}">
                <a16:creationId xmlns:a16="http://schemas.microsoft.com/office/drawing/2014/main" id="{D5B9E0F0-48AE-E219-DD18-9E53F5D369AA}"/>
              </a:ext>
            </a:extLst>
          </p:cNvPr>
          <p:cNvSpPr txBox="1"/>
          <p:nvPr/>
        </p:nvSpPr>
        <p:spPr>
          <a:xfrm>
            <a:off x="12496800" y="4220497"/>
            <a:ext cx="2514600" cy="369332"/>
          </a:xfrm>
          <a:prstGeom prst="rect">
            <a:avLst/>
          </a:prstGeom>
          <a:noFill/>
        </p:spPr>
        <p:txBody>
          <a:bodyPr wrap="square">
            <a:spAutoFit/>
          </a:bodyPr>
          <a:lstStyle/>
          <a:p>
            <a:r>
              <a:rPr lang="en-GB" b="1" dirty="0">
                <a:solidFill>
                  <a:schemeClr val="bg1"/>
                </a:solidFill>
                <a:latin typeface="TT Fors" panose="020B0604020202020204" charset="0"/>
              </a:rPr>
              <a:t>Result</a:t>
            </a:r>
            <a:endParaRPr lang="en-GB" b="1" dirty="0"/>
          </a:p>
        </p:txBody>
      </p:sp>
      <p:grpSp>
        <p:nvGrpSpPr>
          <p:cNvPr id="12" name="Group 44">
            <a:extLst>
              <a:ext uri="{FF2B5EF4-FFF2-40B4-BE49-F238E27FC236}">
                <a16:creationId xmlns:a16="http://schemas.microsoft.com/office/drawing/2014/main" id="{1EB7484B-C2C3-D0F6-80BE-70A06583A5B7}"/>
              </a:ext>
            </a:extLst>
          </p:cNvPr>
          <p:cNvGrpSpPr/>
          <p:nvPr/>
        </p:nvGrpSpPr>
        <p:grpSpPr>
          <a:xfrm>
            <a:off x="12329122" y="7461771"/>
            <a:ext cx="2444502" cy="1753364"/>
            <a:chOff x="-23995" y="-244363"/>
            <a:chExt cx="836795" cy="295746"/>
          </a:xfrm>
        </p:grpSpPr>
        <p:sp>
          <p:nvSpPr>
            <p:cNvPr id="16" name="Freeform 45">
              <a:extLst>
                <a:ext uri="{FF2B5EF4-FFF2-40B4-BE49-F238E27FC236}">
                  <a16:creationId xmlns:a16="http://schemas.microsoft.com/office/drawing/2014/main" id="{21500D3A-15D7-A663-0E96-3BF559573102}"/>
                </a:ext>
              </a:extLst>
            </p:cNvPr>
            <p:cNvSpPr/>
            <p:nvPr/>
          </p:nvSpPr>
          <p:spPr>
            <a:xfrm>
              <a:off x="-23995" y="-244363"/>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dirty="0"/>
            </a:p>
          </p:txBody>
        </p:sp>
        <p:sp>
          <p:nvSpPr>
            <p:cNvPr id="17" name="TextBox 46">
              <a:extLst>
                <a:ext uri="{FF2B5EF4-FFF2-40B4-BE49-F238E27FC236}">
                  <a16:creationId xmlns:a16="http://schemas.microsoft.com/office/drawing/2014/main" id="{5DFC4E65-3EB0-E840-978D-6F23FC98521D}"/>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18" name="TextBox 17">
            <a:extLst>
              <a:ext uri="{FF2B5EF4-FFF2-40B4-BE49-F238E27FC236}">
                <a16:creationId xmlns:a16="http://schemas.microsoft.com/office/drawing/2014/main" id="{7113C3AC-3733-4016-F159-F72802663779}"/>
              </a:ext>
            </a:extLst>
          </p:cNvPr>
          <p:cNvSpPr txBox="1"/>
          <p:nvPr/>
        </p:nvSpPr>
        <p:spPr>
          <a:xfrm>
            <a:off x="12441159" y="7429420"/>
            <a:ext cx="2514600" cy="369332"/>
          </a:xfrm>
          <a:prstGeom prst="rect">
            <a:avLst/>
          </a:prstGeom>
          <a:noFill/>
        </p:spPr>
        <p:txBody>
          <a:bodyPr wrap="square">
            <a:spAutoFit/>
          </a:bodyPr>
          <a:lstStyle/>
          <a:p>
            <a:r>
              <a:rPr lang="en-GB" b="1" dirty="0">
                <a:solidFill>
                  <a:schemeClr val="bg1"/>
                </a:solidFill>
                <a:latin typeface="TT Fors" panose="020B0604020202020204" charset="0"/>
              </a:rPr>
              <a:t>Interpretation:</a:t>
            </a:r>
            <a:endParaRPr lang="en-GB" b="1" dirty="0"/>
          </a:p>
        </p:txBody>
      </p:sp>
    </p:spTree>
    <p:extLst>
      <p:ext uri="{BB962C8B-B14F-4D97-AF65-F5344CB8AC3E}">
        <p14:creationId xmlns:p14="http://schemas.microsoft.com/office/powerpoint/2010/main" val="3992087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24DACE3D-B1C0-26CC-5156-FACA90E1E9E9}"/>
            </a:ext>
          </a:extLst>
        </p:cNvPr>
        <p:cNvGrpSpPr/>
        <p:nvPr/>
      </p:nvGrpSpPr>
      <p:grpSpPr>
        <a:xfrm>
          <a:off x="0" y="0"/>
          <a:ext cx="0" cy="0"/>
          <a:chOff x="0" y="0"/>
          <a:chExt cx="0" cy="0"/>
        </a:xfrm>
      </p:grpSpPr>
      <p:sp>
        <p:nvSpPr>
          <p:cNvPr id="36" name="TextBox 36">
            <a:extLst>
              <a:ext uri="{FF2B5EF4-FFF2-40B4-BE49-F238E27FC236}">
                <a16:creationId xmlns:a16="http://schemas.microsoft.com/office/drawing/2014/main" id="{D0FF3BFC-28AC-424B-2335-F59064AE44CD}"/>
              </a:ext>
            </a:extLst>
          </p:cNvPr>
          <p:cNvSpPr txBox="1"/>
          <p:nvPr/>
        </p:nvSpPr>
        <p:spPr>
          <a:xfrm>
            <a:off x="3886200" y="571500"/>
            <a:ext cx="10181376" cy="622935"/>
          </a:xfrm>
          <a:prstGeom prst="rect">
            <a:avLst/>
          </a:prstGeom>
        </p:spPr>
        <p:txBody>
          <a:bodyPr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Lesion Status</a:t>
            </a:r>
          </a:p>
        </p:txBody>
      </p:sp>
      <p:graphicFrame>
        <p:nvGraphicFramePr>
          <p:cNvPr id="2" name="Chart 1">
            <a:extLst>
              <a:ext uri="{FF2B5EF4-FFF2-40B4-BE49-F238E27FC236}">
                <a16:creationId xmlns:a16="http://schemas.microsoft.com/office/drawing/2014/main" id="{FD7E391E-E7FF-DDA6-069C-A9BC7ADEABB4}"/>
              </a:ext>
            </a:extLst>
          </p:cNvPr>
          <p:cNvGraphicFramePr>
            <a:graphicFrameLocks/>
          </p:cNvGraphicFramePr>
          <p:nvPr>
            <p:extLst>
              <p:ext uri="{D42A27DB-BD31-4B8C-83A1-F6EECF244321}">
                <p14:modId xmlns:p14="http://schemas.microsoft.com/office/powerpoint/2010/main" val="3727378497"/>
              </p:ext>
            </p:extLst>
          </p:nvPr>
        </p:nvGraphicFramePr>
        <p:xfrm>
          <a:off x="7543800" y="2095500"/>
          <a:ext cx="10181376" cy="63246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18">
            <a:extLst>
              <a:ext uri="{FF2B5EF4-FFF2-40B4-BE49-F238E27FC236}">
                <a16:creationId xmlns:a16="http://schemas.microsoft.com/office/drawing/2014/main" id="{D9CABDE5-4558-D2C8-E846-5E7F37FCE938}"/>
              </a:ext>
            </a:extLst>
          </p:cNvPr>
          <p:cNvSpPr txBox="1"/>
          <p:nvPr/>
        </p:nvSpPr>
        <p:spPr>
          <a:xfrm>
            <a:off x="838200" y="1166167"/>
            <a:ext cx="5779095" cy="8825864"/>
          </a:xfrm>
          <a:prstGeom prst="rect">
            <a:avLst/>
          </a:prstGeom>
          <a:solidFill>
            <a:schemeClr val="tx2"/>
          </a:solidFill>
        </p:spPr>
        <p:txBody>
          <a:bodyPr lIns="50800" tIns="50800" rIns="50800" bIns="50800" rtlCol="0" anchor="ctr"/>
          <a:lstStyle/>
          <a:p>
            <a:pPr algn="ctr">
              <a:lnSpc>
                <a:spcPts val="2520"/>
              </a:lnSpc>
            </a:pPr>
            <a:endParaRPr/>
          </a:p>
        </p:txBody>
      </p:sp>
      <p:sp>
        <p:nvSpPr>
          <p:cNvPr id="6" name="TextBox 5">
            <a:extLst>
              <a:ext uri="{FF2B5EF4-FFF2-40B4-BE49-F238E27FC236}">
                <a16:creationId xmlns:a16="http://schemas.microsoft.com/office/drawing/2014/main" id="{FA808E4F-855B-F20F-7B4A-AE3A9063B3B5}"/>
              </a:ext>
            </a:extLst>
          </p:cNvPr>
          <p:cNvSpPr txBox="1"/>
          <p:nvPr/>
        </p:nvSpPr>
        <p:spPr>
          <a:xfrm>
            <a:off x="1066800" y="1485900"/>
            <a:ext cx="5105399" cy="9337171"/>
          </a:xfrm>
          <a:prstGeom prst="rect">
            <a:avLst/>
          </a:prstGeom>
          <a:noFill/>
        </p:spPr>
        <p:txBody>
          <a:bodyPr wrap="square">
            <a:spAutoFit/>
          </a:bodyPr>
          <a:lstStyle/>
          <a:p>
            <a:pPr>
              <a:lnSpc>
                <a:spcPct val="150000"/>
              </a:lnSpc>
            </a:pPr>
            <a:r>
              <a:rPr lang="en-GB" dirty="0">
                <a:solidFill>
                  <a:schemeClr val="bg1"/>
                </a:solidFill>
                <a:latin typeface="TT Fors" panose="020B0604020202020204" charset="0"/>
              </a:rPr>
              <a:t>Are cancerous lesions larger in size?</a:t>
            </a:r>
          </a:p>
          <a:p>
            <a:pPr>
              <a:lnSpc>
                <a:spcPct val="150000"/>
              </a:lnSpc>
            </a:pPr>
            <a:r>
              <a:rPr lang="en-GB" dirty="0">
                <a:solidFill>
                  <a:schemeClr val="bg1"/>
                </a:solidFill>
                <a:latin typeface="TT Fors" panose="020B0604020202020204" charset="0"/>
              </a:rPr>
              <a:t>Compare diameter values—</a:t>
            </a:r>
          </a:p>
          <a:p>
            <a:pPr>
              <a:lnSpc>
                <a:spcPct val="150000"/>
              </a:lnSpc>
            </a:pPr>
            <a:r>
              <a:rPr lang="en-GB" dirty="0">
                <a:solidFill>
                  <a:schemeClr val="bg1"/>
                </a:solidFill>
                <a:latin typeface="TT Fors" panose="020B0604020202020204" charset="0"/>
              </a:rPr>
              <a:t>lesion size vs cancer</a:t>
            </a:r>
          </a:p>
          <a:p>
            <a:pPr>
              <a:lnSpc>
                <a:spcPct val="150000"/>
              </a:lnSpc>
            </a:pPr>
            <a:endParaRPr lang="en-GB" dirty="0">
              <a:solidFill>
                <a:schemeClr val="bg1"/>
              </a:solidFill>
              <a:latin typeface="TT Fors" panose="020B0604020202020204" charset="0"/>
            </a:endParaRPr>
          </a:p>
          <a:p>
            <a:pPr algn="just"/>
            <a:r>
              <a:rPr lang="en-GB" dirty="0">
                <a:solidFill>
                  <a:schemeClr val="bg1"/>
                </a:solidFill>
                <a:latin typeface="TT Fors" panose="020B0604020202020204" charset="0"/>
              </a:rPr>
              <a:t>The analysis shows a substantial difference in lesion size between cancerous and non-cancerous cases. Lesions that were biopsy-confirmed as cancerous have significantly higher average diameters (11.23 mm and 8.52 mm) compared to non-cancerous lesions (0.80 mm and 0.58 mm). This suggests that larger lesion size is strongly associated with malignancy and could serve as an important indicator for early detection and clinical assessment.</a:t>
            </a:r>
          </a:p>
          <a:p>
            <a:pPr algn="just"/>
            <a:endParaRPr lang="en-GB" dirty="0">
              <a:solidFill>
                <a:schemeClr val="bg1"/>
              </a:solidFill>
              <a:latin typeface="TT Fors" panose="020B0604020202020204" charset="0"/>
            </a:endParaRPr>
          </a:p>
          <a:p>
            <a:pPr algn="just"/>
            <a:endParaRPr lang="en-GB" dirty="0">
              <a:solidFill>
                <a:schemeClr val="bg1"/>
              </a:solidFill>
              <a:latin typeface="TT Fors" panose="020B0604020202020204" charset="0"/>
            </a:endParaRPr>
          </a:p>
          <a:p>
            <a:pPr algn="just"/>
            <a:endParaRPr lang="en-GB" dirty="0">
              <a:solidFill>
                <a:schemeClr val="bg1"/>
              </a:solidFill>
              <a:latin typeface="TT Fors" panose="020B0604020202020204" charset="0"/>
            </a:endParaRPr>
          </a:p>
          <a:p>
            <a:pPr fontAlgn="ctr"/>
            <a:r>
              <a:rPr lang="en-GB" dirty="0">
                <a:solidFill>
                  <a:schemeClr val="bg1"/>
                </a:solidFill>
                <a:latin typeface="TT Fors" panose="020B0604020202020204" charset="0"/>
              </a:rPr>
              <a:t>Bigger lesions = higher cancer risk.</a:t>
            </a:r>
          </a:p>
          <a:p>
            <a:pPr fontAlgn="ctr"/>
            <a:r>
              <a:rPr lang="en-GB" dirty="0">
                <a:solidFill>
                  <a:schemeClr val="bg1"/>
                </a:solidFill>
                <a:latin typeface="TT Fors" panose="020B0604020202020204" charset="0"/>
              </a:rPr>
              <a:t>Size can be used as an early warning sign and supports in clinical decision-making.</a:t>
            </a:r>
          </a:p>
          <a:p>
            <a:pPr algn="just"/>
            <a:endParaRPr lang="en-GB" dirty="0">
              <a:solidFill>
                <a:schemeClr val="bg1"/>
              </a:solidFill>
              <a:latin typeface="TT Fors" panose="020B0604020202020204" charset="0"/>
            </a:endParaRPr>
          </a:p>
          <a:p>
            <a:pPr algn="just"/>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a:p>
            <a:pPr>
              <a:lnSpc>
                <a:spcPct val="150000"/>
              </a:lnSpc>
            </a:pPr>
            <a:endParaRPr lang="en-GB" dirty="0">
              <a:solidFill>
                <a:schemeClr val="bg1"/>
              </a:solidFill>
              <a:latin typeface="TT Fors" panose="020B0604020202020204" charset="0"/>
            </a:endParaRPr>
          </a:p>
        </p:txBody>
      </p:sp>
      <p:grpSp>
        <p:nvGrpSpPr>
          <p:cNvPr id="8" name="Group 44">
            <a:extLst>
              <a:ext uri="{FF2B5EF4-FFF2-40B4-BE49-F238E27FC236}">
                <a16:creationId xmlns:a16="http://schemas.microsoft.com/office/drawing/2014/main" id="{0331D5BB-D0A9-0C9B-7DE8-D3DDCD7F75D1}"/>
              </a:ext>
            </a:extLst>
          </p:cNvPr>
          <p:cNvGrpSpPr/>
          <p:nvPr/>
        </p:nvGrpSpPr>
        <p:grpSpPr>
          <a:xfrm>
            <a:off x="1104949" y="2840806"/>
            <a:ext cx="1333451" cy="1753364"/>
            <a:chOff x="-23995" y="-244363"/>
            <a:chExt cx="836795" cy="295746"/>
          </a:xfrm>
        </p:grpSpPr>
        <p:sp>
          <p:nvSpPr>
            <p:cNvPr id="9" name="Freeform 45">
              <a:extLst>
                <a:ext uri="{FF2B5EF4-FFF2-40B4-BE49-F238E27FC236}">
                  <a16:creationId xmlns:a16="http://schemas.microsoft.com/office/drawing/2014/main" id="{66CCEF4E-266D-8804-6426-81E644BB6837}"/>
                </a:ext>
              </a:extLst>
            </p:cNvPr>
            <p:cNvSpPr/>
            <p:nvPr/>
          </p:nvSpPr>
          <p:spPr>
            <a:xfrm>
              <a:off x="-23995" y="-244363"/>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dirty="0"/>
            </a:p>
          </p:txBody>
        </p:sp>
        <p:sp>
          <p:nvSpPr>
            <p:cNvPr id="10" name="TextBox 46">
              <a:extLst>
                <a:ext uri="{FF2B5EF4-FFF2-40B4-BE49-F238E27FC236}">
                  <a16:creationId xmlns:a16="http://schemas.microsoft.com/office/drawing/2014/main" id="{2BFCE48F-DCF4-7E86-45B5-DA6CB443B2A0}"/>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12" name="TextBox 11">
            <a:extLst>
              <a:ext uri="{FF2B5EF4-FFF2-40B4-BE49-F238E27FC236}">
                <a16:creationId xmlns:a16="http://schemas.microsoft.com/office/drawing/2014/main" id="{33BC746E-07A2-2943-59AB-6B95E2791045}"/>
              </a:ext>
            </a:extLst>
          </p:cNvPr>
          <p:cNvSpPr txBox="1"/>
          <p:nvPr/>
        </p:nvSpPr>
        <p:spPr>
          <a:xfrm>
            <a:off x="1295400" y="2814381"/>
            <a:ext cx="2514600" cy="369332"/>
          </a:xfrm>
          <a:prstGeom prst="rect">
            <a:avLst/>
          </a:prstGeom>
          <a:noFill/>
        </p:spPr>
        <p:txBody>
          <a:bodyPr wrap="square">
            <a:spAutoFit/>
          </a:bodyPr>
          <a:lstStyle/>
          <a:p>
            <a:r>
              <a:rPr lang="en-GB" b="1" dirty="0">
                <a:solidFill>
                  <a:schemeClr val="bg1"/>
                </a:solidFill>
                <a:latin typeface="TT Fors" panose="020B0604020202020204" charset="0"/>
              </a:rPr>
              <a:t>Result: </a:t>
            </a:r>
            <a:endParaRPr lang="en-GB" b="1" dirty="0"/>
          </a:p>
        </p:txBody>
      </p:sp>
      <p:grpSp>
        <p:nvGrpSpPr>
          <p:cNvPr id="13" name="Group 44">
            <a:extLst>
              <a:ext uri="{FF2B5EF4-FFF2-40B4-BE49-F238E27FC236}">
                <a16:creationId xmlns:a16="http://schemas.microsoft.com/office/drawing/2014/main" id="{450FC30C-60EA-97A6-2089-B25140645E8A}"/>
              </a:ext>
            </a:extLst>
          </p:cNvPr>
          <p:cNvGrpSpPr/>
          <p:nvPr/>
        </p:nvGrpSpPr>
        <p:grpSpPr>
          <a:xfrm>
            <a:off x="1157669" y="6543320"/>
            <a:ext cx="2444502" cy="1753364"/>
            <a:chOff x="-23995" y="-244363"/>
            <a:chExt cx="836795" cy="295746"/>
          </a:xfrm>
        </p:grpSpPr>
        <p:sp>
          <p:nvSpPr>
            <p:cNvPr id="14" name="Freeform 45">
              <a:extLst>
                <a:ext uri="{FF2B5EF4-FFF2-40B4-BE49-F238E27FC236}">
                  <a16:creationId xmlns:a16="http://schemas.microsoft.com/office/drawing/2014/main" id="{769A51F6-8327-C605-3B4A-E33B8C5BE052}"/>
                </a:ext>
              </a:extLst>
            </p:cNvPr>
            <p:cNvSpPr/>
            <p:nvPr/>
          </p:nvSpPr>
          <p:spPr>
            <a:xfrm>
              <a:off x="-23995" y="-244363"/>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dirty="0"/>
            </a:p>
          </p:txBody>
        </p:sp>
        <p:sp>
          <p:nvSpPr>
            <p:cNvPr id="15" name="TextBox 46">
              <a:extLst>
                <a:ext uri="{FF2B5EF4-FFF2-40B4-BE49-F238E27FC236}">
                  <a16:creationId xmlns:a16="http://schemas.microsoft.com/office/drawing/2014/main" id="{91D2D9D7-2451-A1A9-EA39-087552DBEEE2}"/>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7" name="TextBox 6">
            <a:extLst>
              <a:ext uri="{FF2B5EF4-FFF2-40B4-BE49-F238E27FC236}">
                <a16:creationId xmlns:a16="http://schemas.microsoft.com/office/drawing/2014/main" id="{724AC7AA-396F-8B38-C99E-673D67E784C5}"/>
              </a:ext>
            </a:extLst>
          </p:cNvPr>
          <p:cNvSpPr txBox="1"/>
          <p:nvPr/>
        </p:nvSpPr>
        <p:spPr>
          <a:xfrm>
            <a:off x="1480728" y="6516895"/>
            <a:ext cx="2514600" cy="369332"/>
          </a:xfrm>
          <a:prstGeom prst="rect">
            <a:avLst/>
          </a:prstGeom>
          <a:noFill/>
        </p:spPr>
        <p:txBody>
          <a:bodyPr wrap="square">
            <a:spAutoFit/>
          </a:bodyPr>
          <a:lstStyle/>
          <a:p>
            <a:r>
              <a:rPr lang="en-GB" b="1" dirty="0">
                <a:solidFill>
                  <a:schemeClr val="bg1"/>
                </a:solidFill>
                <a:latin typeface="TT Fors" panose="020B0604020202020204" charset="0"/>
              </a:rPr>
              <a:t>Key insights: </a:t>
            </a:r>
            <a:endParaRPr lang="en-GB" b="1" dirty="0"/>
          </a:p>
        </p:txBody>
      </p:sp>
      <p:sp>
        <p:nvSpPr>
          <p:cNvPr id="11" name="Oval 10">
            <a:extLst>
              <a:ext uri="{FF2B5EF4-FFF2-40B4-BE49-F238E27FC236}">
                <a16:creationId xmlns:a16="http://schemas.microsoft.com/office/drawing/2014/main" id="{6C9FC9AE-2C5F-DC51-208D-E857767CA47E}"/>
              </a:ext>
            </a:extLst>
          </p:cNvPr>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a:extLst>
              <a:ext uri="{FF2B5EF4-FFF2-40B4-BE49-F238E27FC236}">
                <a16:creationId xmlns:a16="http://schemas.microsoft.com/office/drawing/2014/main" id="{6E92FEE8-8E31-43AF-87E8-05D7571F9E7B}"/>
              </a:ext>
            </a:extLst>
          </p:cNvPr>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869080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2" name="Oval 1"/>
          <p:cNvSpPr/>
          <p:nvPr/>
        </p:nvSpPr>
        <p:spPr>
          <a:xfrm>
            <a:off x="-1645920" y="-1280160"/>
            <a:ext cx="3840480" cy="384048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97280" y="-731520"/>
            <a:ext cx="2743200" cy="274320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6642080" cy="529376"/>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3200" b="1" dirty="0">
                <a:solidFill>
                  <a:srgbClr val="112F8D"/>
                </a:solidFill>
                <a:latin typeface="TT Fors Bold"/>
              </a:rPr>
              <a:t>Conclusions from the SQL Analysis</a:t>
            </a:r>
          </a:p>
        </p:txBody>
      </p:sp>
      <p:sp>
        <p:nvSpPr>
          <p:cNvPr id="5" name="TextBox 4"/>
          <p:cNvSpPr txBox="1"/>
          <p:nvPr/>
        </p:nvSpPr>
        <p:spPr>
          <a:xfrm>
            <a:off x="3657600" y="959526"/>
            <a:ext cx="10972800" cy="330860"/>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2000" b="0" dirty="0">
                <a:latin typeface="TT Fors"/>
              </a:rPr>
              <a:t>Key patterns from 458 patients and 1,089 skin-lesion records</a:t>
            </a:r>
          </a:p>
        </p:txBody>
      </p:sp>
      <p:sp>
        <p:nvSpPr>
          <p:cNvPr id="6" name="Rounded Rectangle 5"/>
          <p:cNvSpPr/>
          <p:nvPr/>
        </p:nvSpPr>
        <p:spPr>
          <a:xfrm>
            <a:off x="1005840" y="1537195"/>
            <a:ext cx="3703320" cy="749808"/>
          </a:xfrm>
          <a:prstGeom prst="roundRect">
            <a:avLst/>
          </a:prstGeom>
          <a:solidFill>
            <a:srgbClr val="FFFFFF"/>
          </a:solidFill>
          <a:ln w="1270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987158" y="1622268"/>
            <a:ext cx="3703320" cy="397032"/>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2400" b="1" dirty="0">
                <a:solidFill>
                  <a:srgbClr val="112F8D"/>
                </a:solidFill>
                <a:latin typeface="TT Fors Bold"/>
              </a:rPr>
              <a:t>88.9%</a:t>
            </a:r>
          </a:p>
        </p:txBody>
      </p:sp>
      <p:sp>
        <p:nvSpPr>
          <p:cNvPr id="8" name="TextBox 7"/>
          <p:cNvSpPr txBox="1"/>
          <p:nvPr/>
        </p:nvSpPr>
        <p:spPr>
          <a:xfrm>
            <a:off x="1115568" y="1968975"/>
            <a:ext cx="3474720" cy="264688"/>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1600" b="0" dirty="0">
                <a:latin typeface="TT Fors"/>
              </a:rPr>
              <a:t>elderly share of patient cases</a:t>
            </a:r>
          </a:p>
        </p:txBody>
      </p:sp>
      <p:sp>
        <p:nvSpPr>
          <p:cNvPr id="9" name="Rounded Rectangle 8"/>
          <p:cNvSpPr/>
          <p:nvPr/>
        </p:nvSpPr>
        <p:spPr>
          <a:xfrm>
            <a:off x="5212079" y="1537195"/>
            <a:ext cx="3703320" cy="749808"/>
          </a:xfrm>
          <a:prstGeom prst="roundRect">
            <a:avLst/>
          </a:prstGeom>
          <a:solidFill>
            <a:srgbClr val="FFFFFF"/>
          </a:solidFill>
          <a:ln w="1270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5212079" y="1547863"/>
            <a:ext cx="3703320" cy="463204"/>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2800" b="1" dirty="0">
                <a:solidFill>
                  <a:srgbClr val="F0843C"/>
                </a:solidFill>
                <a:latin typeface="TT Fors Bold"/>
              </a:rPr>
              <a:t>11.23 mm</a:t>
            </a:r>
          </a:p>
        </p:txBody>
      </p:sp>
      <p:sp>
        <p:nvSpPr>
          <p:cNvPr id="11" name="TextBox 10"/>
          <p:cNvSpPr txBox="1"/>
          <p:nvPr/>
        </p:nvSpPr>
        <p:spPr>
          <a:xfrm>
            <a:off x="5162671" y="1985765"/>
            <a:ext cx="3802135" cy="264688"/>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1600" b="0" dirty="0">
                <a:latin typeface="TT Fors"/>
              </a:rPr>
              <a:t>avg. diameter 1 for cancerous lesions</a:t>
            </a:r>
          </a:p>
        </p:txBody>
      </p:sp>
      <p:sp>
        <p:nvSpPr>
          <p:cNvPr id="12" name="Rounded Rectangle 11"/>
          <p:cNvSpPr/>
          <p:nvPr/>
        </p:nvSpPr>
        <p:spPr>
          <a:xfrm>
            <a:off x="9418319" y="1537195"/>
            <a:ext cx="3703320" cy="749808"/>
          </a:xfrm>
          <a:prstGeom prst="roundRect">
            <a:avLst/>
          </a:prstGeom>
          <a:solidFill>
            <a:srgbClr val="FFFFFF"/>
          </a:solidFill>
          <a:ln w="1270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9371616" y="1592904"/>
            <a:ext cx="3703320" cy="397032"/>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2400" b="1" dirty="0">
                <a:solidFill>
                  <a:srgbClr val="112F8D"/>
                </a:solidFill>
                <a:latin typeface="TT Fors Bold"/>
              </a:rPr>
              <a:t>461</a:t>
            </a:r>
          </a:p>
        </p:txBody>
      </p:sp>
      <p:sp>
        <p:nvSpPr>
          <p:cNvPr id="14" name="TextBox 13"/>
          <p:cNvSpPr txBox="1"/>
          <p:nvPr/>
        </p:nvSpPr>
        <p:spPr>
          <a:xfrm>
            <a:off x="9528047" y="1968975"/>
            <a:ext cx="3474720" cy="264688"/>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1600" b="0" dirty="0">
                <a:latin typeface="TT Fors"/>
              </a:rPr>
              <a:t>precancerous ACK lesions</a:t>
            </a:r>
          </a:p>
        </p:txBody>
      </p:sp>
      <p:sp>
        <p:nvSpPr>
          <p:cNvPr id="15" name="Rounded Rectangle 14"/>
          <p:cNvSpPr/>
          <p:nvPr/>
        </p:nvSpPr>
        <p:spPr>
          <a:xfrm>
            <a:off x="13624559" y="1537195"/>
            <a:ext cx="3703320" cy="749808"/>
          </a:xfrm>
          <a:prstGeom prst="roundRect">
            <a:avLst/>
          </a:prstGeom>
          <a:solidFill>
            <a:srgbClr val="FFFFFF"/>
          </a:solidFill>
          <a:ln w="1270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13624559" y="1547863"/>
            <a:ext cx="3703320" cy="463204"/>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2800" b="1" dirty="0">
                <a:solidFill>
                  <a:srgbClr val="F0843C"/>
                </a:solidFill>
                <a:latin typeface="TT Fors Bold"/>
              </a:rPr>
              <a:t>273</a:t>
            </a:r>
          </a:p>
        </p:txBody>
      </p:sp>
      <p:sp>
        <p:nvSpPr>
          <p:cNvPr id="17" name="TextBox 16"/>
          <p:cNvSpPr txBox="1"/>
          <p:nvPr/>
        </p:nvSpPr>
        <p:spPr>
          <a:xfrm>
            <a:off x="13734287" y="1928863"/>
            <a:ext cx="3474720" cy="264688"/>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1600" b="0" dirty="0">
                <a:latin typeface="TT Fors"/>
              </a:rPr>
              <a:t>BCC malignant cases</a:t>
            </a:r>
          </a:p>
        </p:txBody>
      </p:sp>
      <p:sp>
        <p:nvSpPr>
          <p:cNvPr id="18" name="Rounded Rectangle 17"/>
          <p:cNvSpPr/>
          <p:nvPr/>
        </p:nvSpPr>
        <p:spPr>
          <a:xfrm>
            <a:off x="960119" y="2723532"/>
            <a:ext cx="8092440" cy="2506980"/>
          </a:xfrm>
          <a:prstGeom prst="roundRect">
            <a:avLst/>
          </a:prstGeom>
          <a:solidFill>
            <a:srgbClr val="FFFFFF"/>
          </a:solid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Oval 19"/>
          <p:cNvSpPr/>
          <p:nvPr/>
        </p:nvSpPr>
        <p:spPr>
          <a:xfrm>
            <a:off x="1188719" y="2888124"/>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TextBox 20"/>
          <p:cNvSpPr txBox="1"/>
          <p:nvPr/>
        </p:nvSpPr>
        <p:spPr>
          <a:xfrm>
            <a:off x="1204204" y="3013804"/>
            <a:ext cx="457200" cy="297774"/>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b="1" dirty="0">
                <a:solidFill>
                  <a:srgbClr val="FFFFFF"/>
                </a:solidFill>
                <a:latin typeface="TT Fors Bold"/>
              </a:rPr>
              <a:t>1</a:t>
            </a:r>
          </a:p>
        </p:txBody>
      </p:sp>
      <p:sp>
        <p:nvSpPr>
          <p:cNvPr id="22" name="TextBox 21"/>
          <p:cNvSpPr txBox="1"/>
          <p:nvPr/>
        </p:nvSpPr>
        <p:spPr>
          <a:xfrm>
            <a:off x="1783079" y="2833260"/>
            <a:ext cx="7132320" cy="397032"/>
          </a:xfrm>
          <a:prstGeom prst="rect">
            <a:avLst/>
          </a:prstGeom>
          <a:noFill/>
          <a:ln>
            <a:noFill/>
          </a:ln>
        </p:spPr>
        <p:txBody>
          <a:bodyPr wrap="square" lIns="0" tIns="0" rIns="0" bIns="0" anchor="t">
            <a:spAutoFit/>
          </a:bodyPr>
          <a:lstStyle/>
          <a:p>
            <a:pPr algn="l">
              <a:lnSpc>
                <a:spcPct val="110000"/>
              </a:lnSpc>
              <a:spcBef>
                <a:spcPts val="0"/>
              </a:spcBef>
              <a:spcAft>
                <a:spcPts val="0"/>
              </a:spcAft>
            </a:pPr>
            <a:r>
              <a:rPr sz="2400" b="1" dirty="0">
                <a:solidFill>
                  <a:srgbClr val="112F8D"/>
                </a:solidFill>
                <a:latin typeface="TT Fors Bold"/>
              </a:rPr>
              <a:t>Demographic concentration</a:t>
            </a:r>
          </a:p>
        </p:txBody>
      </p:sp>
      <p:sp>
        <p:nvSpPr>
          <p:cNvPr id="23" name="TextBox 22"/>
          <p:cNvSpPr txBox="1"/>
          <p:nvPr/>
        </p:nvSpPr>
        <p:spPr>
          <a:xfrm>
            <a:off x="1737359" y="3290460"/>
            <a:ext cx="7178040" cy="1411540"/>
          </a:xfrm>
          <a:prstGeom prst="rect">
            <a:avLst/>
          </a:prstGeom>
          <a:noFill/>
          <a:ln>
            <a:noFill/>
          </a:ln>
        </p:spPr>
        <p:txBody>
          <a:bodyPr wrap="square" lIns="73152" tIns="73152" rIns="73152" bIns="73152" anchor="t">
            <a:spAutoFit/>
          </a:bodyPr>
          <a:lstStyle/>
          <a:p>
            <a:pPr algn="l">
              <a:lnSpc>
                <a:spcPct val="115000"/>
              </a:lnSpc>
              <a:spcBef>
                <a:spcPts val="0"/>
              </a:spcBef>
              <a:spcAft>
                <a:spcPts val="0"/>
              </a:spcAft>
            </a:pPr>
            <a:r>
              <a:rPr b="0">
                <a:solidFill>
                  <a:srgbClr val="202020"/>
                </a:solidFill>
                <a:latin typeface="TT Fors"/>
              </a:rPr>
              <a:t>Cases are heavily concentrated in elderly patients (407 of 458), while gender is nearly balanced (52.6% male vs 47.4% female). Age appears to be a much stronger discriminator than sex in this dataset.</a:t>
            </a:r>
          </a:p>
        </p:txBody>
      </p:sp>
      <p:sp>
        <p:nvSpPr>
          <p:cNvPr id="24" name="Rounded Rectangle 23"/>
          <p:cNvSpPr/>
          <p:nvPr/>
        </p:nvSpPr>
        <p:spPr>
          <a:xfrm>
            <a:off x="9403079" y="2723531"/>
            <a:ext cx="8092440" cy="2600577"/>
          </a:xfrm>
          <a:prstGeom prst="roundRect">
            <a:avLst/>
          </a:prstGeom>
          <a:solidFill>
            <a:srgbClr val="FFFFFF"/>
          </a:solid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p>
        </p:txBody>
      </p:sp>
      <p:sp>
        <p:nvSpPr>
          <p:cNvPr id="26" name="Oval 25"/>
          <p:cNvSpPr/>
          <p:nvPr/>
        </p:nvSpPr>
        <p:spPr>
          <a:xfrm>
            <a:off x="9723119" y="2898792"/>
            <a:ext cx="457200" cy="457200"/>
          </a:xfrm>
          <a:prstGeom prst="ellipse">
            <a:avLst/>
          </a:prstGeom>
          <a:solidFill>
            <a:srgbClr val="F08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9723119" y="2951073"/>
            <a:ext cx="457200" cy="297774"/>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b="1">
                <a:solidFill>
                  <a:srgbClr val="FFFFFF"/>
                </a:solidFill>
                <a:latin typeface="TT Fors Bold"/>
              </a:rPr>
              <a:t>2</a:t>
            </a:r>
          </a:p>
        </p:txBody>
      </p:sp>
      <p:sp>
        <p:nvSpPr>
          <p:cNvPr id="28" name="TextBox 27"/>
          <p:cNvSpPr txBox="1"/>
          <p:nvPr/>
        </p:nvSpPr>
        <p:spPr>
          <a:xfrm>
            <a:off x="10042914" y="2888811"/>
            <a:ext cx="7132320" cy="803297"/>
          </a:xfrm>
          <a:prstGeom prst="rect">
            <a:avLst/>
          </a:prstGeom>
          <a:noFill/>
          <a:ln>
            <a:noFill/>
          </a:ln>
        </p:spPr>
        <p:txBody>
          <a:bodyPr wrap="square" lIns="0" tIns="0" rIns="0" bIns="0" anchor="t">
            <a:spAutoFit/>
          </a:bodyPr>
          <a:lstStyle/>
          <a:p>
            <a:pPr algn="ctr">
              <a:lnSpc>
                <a:spcPct val="110000"/>
              </a:lnSpc>
            </a:pPr>
            <a:r>
              <a:rPr lang="en-GB" sz="2400" b="1" dirty="0">
                <a:solidFill>
                  <a:srgbClr val="112F8D"/>
                </a:solidFill>
                <a:latin typeface="TT Fors Bold"/>
              </a:rPr>
              <a:t>The lesion</a:t>
            </a:r>
            <a:r>
              <a:rPr sz="2400" b="1" dirty="0">
                <a:solidFill>
                  <a:srgbClr val="112F8D"/>
                </a:solidFill>
                <a:latin typeface="TT Fors Bold"/>
              </a:rPr>
              <a:t> mix suggests </a:t>
            </a:r>
            <a:r>
              <a:rPr lang="en-GB" sz="2400" b="1" dirty="0">
                <a:solidFill>
                  <a:srgbClr val="112F8D"/>
                </a:solidFill>
                <a:latin typeface="TT Fors Bold"/>
              </a:rPr>
              <a:t>an </a:t>
            </a:r>
            <a:r>
              <a:rPr sz="2400" b="1" dirty="0">
                <a:solidFill>
                  <a:srgbClr val="112F8D"/>
                </a:solidFill>
                <a:latin typeface="TT Fors Bold"/>
              </a:rPr>
              <a:t>early detection opportunity</a:t>
            </a:r>
          </a:p>
        </p:txBody>
      </p:sp>
      <p:sp>
        <p:nvSpPr>
          <p:cNvPr id="29" name="TextBox 28"/>
          <p:cNvSpPr txBox="1"/>
          <p:nvPr/>
        </p:nvSpPr>
        <p:spPr>
          <a:xfrm>
            <a:off x="9738358" y="3744612"/>
            <a:ext cx="7178040" cy="1411540"/>
          </a:xfrm>
          <a:prstGeom prst="rect">
            <a:avLst/>
          </a:prstGeom>
          <a:noFill/>
          <a:ln>
            <a:noFill/>
          </a:ln>
        </p:spPr>
        <p:txBody>
          <a:bodyPr wrap="square" lIns="73152" tIns="73152" rIns="73152" bIns="73152" anchor="t">
            <a:spAutoFit/>
          </a:bodyPr>
          <a:lstStyle/>
          <a:p>
            <a:pPr algn="l">
              <a:lnSpc>
                <a:spcPct val="115000"/>
              </a:lnSpc>
              <a:spcBef>
                <a:spcPts val="0"/>
              </a:spcBef>
              <a:spcAft>
                <a:spcPts val="0"/>
              </a:spcAft>
            </a:pPr>
            <a:r>
              <a:rPr b="0" dirty="0">
                <a:solidFill>
                  <a:srgbClr val="202020"/>
                </a:solidFill>
                <a:latin typeface="TT Fors"/>
              </a:rPr>
              <a:t>Precancerous ACK is the most common lesion overall (461), and BCC is the leading malignant diagnosis (273). The case mix indicates many lesions are being captured before progression to the most severe cancer types.</a:t>
            </a:r>
          </a:p>
        </p:txBody>
      </p:sp>
      <p:sp>
        <p:nvSpPr>
          <p:cNvPr id="30" name="Rounded Rectangle 29"/>
          <p:cNvSpPr/>
          <p:nvPr/>
        </p:nvSpPr>
        <p:spPr>
          <a:xfrm>
            <a:off x="914400" y="5649403"/>
            <a:ext cx="8092440" cy="2506980"/>
          </a:xfrm>
          <a:prstGeom prst="roundRect">
            <a:avLst/>
          </a:prstGeom>
          <a:solidFill>
            <a:srgbClr val="FFFFFF"/>
          </a:solid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1" name="Rectangle 30"/>
          <p:cNvSpPr/>
          <p:nvPr/>
        </p:nvSpPr>
        <p:spPr>
          <a:xfrm>
            <a:off x="850392" y="5672896"/>
            <a:ext cx="228600" cy="250698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Oval 31"/>
          <p:cNvSpPr/>
          <p:nvPr/>
        </p:nvSpPr>
        <p:spPr>
          <a:xfrm>
            <a:off x="1219200" y="5825296"/>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400" dirty="0"/>
              <a:t>3</a:t>
            </a:r>
            <a:endParaRPr sz="2400" dirty="0"/>
          </a:p>
        </p:txBody>
      </p:sp>
      <p:sp>
        <p:nvSpPr>
          <p:cNvPr id="34" name="TextBox 33"/>
          <p:cNvSpPr txBox="1"/>
          <p:nvPr/>
        </p:nvSpPr>
        <p:spPr>
          <a:xfrm>
            <a:off x="1428626" y="5874357"/>
            <a:ext cx="7132320" cy="803297"/>
          </a:xfrm>
          <a:prstGeom prst="rect">
            <a:avLst/>
          </a:prstGeom>
          <a:noFill/>
          <a:ln>
            <a:noFill/>
          </a:ln>
        </p:spPr>
        <p:txBody>
          <a:bodyPr wrap="square" lIns="0" tIns="0" rIns="0" bIns="0" anchor="t">
            <a:spAutoFit/>
          </a:bodyPr>
          <a:lstStyle>
            <a:defPPr>
              <a:defRPr lang="en-US"/>
            </a:defPPr>
            <a:lvl1pPr>
              <a:lnSpc>
                <a:spcPct val="110000"/>
              </a:lnSpc>
              <a:spcBef>
                <a:spcPts val="0"/>
              </a:spcBef>
              <a:spcAft>
                <a:spcPts val="0"/>
              </a:spcAft>
              <a:defRPr sz="2400" b="1">
                <a:solidFill>
                  <a:srgbClr val="112F8D"/>
                </a:solidFill>
                <a:latin typeface="TT Fors Bold"/>
              </a:defRPr>
            </a:lvl1pPr>
          </a:lstStyle>
          <a:p>
            <a:pPr algn="ctr"/>
            <a:r>
              <a:rPr dirty="0"/>
              <a:t>Lesion morphology is the clearest clinical signal</a:t>
            </a:r>
          </a:p>
        </p:txBody>
      </p:sp>
      <p:sp>
        <p:nvSpPr>
          <p:cNvPr id="35" name="TextBox 34"/>
          <p:cNvSpPr txBox="1"/>
          <p:nvPr/>
        </p:nvSpPr>
        <p:spPr>
          <a:xfrm>
            <a:off x="1417319" y="6548108"/>
            <a:ext cx="7178040" cy="1411540"/>
          </a:xfrm>
          <a:prstGeom prst="rect">
            <a:avLst/>
          </a:prstGeom>
          <a:noFill/>
          <a:ln>
            <a:noFill/>
          </a:ln>
        </p:spPr>
        <p:txBody>
          <a:bodyPr wrap="square" lIns="73152" tIns="73152" rIns="73152" bIns="73152" anchor="t">
            <a:spAutoFit/>
          </a:bodyPr>
          <a:lstStyle/>
          <a:p>
            <a:pPr algn="l">
              <a:lnSpc>
                <a:spcPct val="115000"/>
              </a:lnSpc>
              <a:spcBef>
                <a:spcPts val="0"/>
              </a:spcBef>
              <a:spcAft>
                <a:spcPts val="0"/>
              </a:spcAft>
            </a:pPr>
            <a:r>
              <a:rPr b="0" dirty="0">
                <a:solidFill>
                  <a:srgbClr val="202020"/>
                </a:solidFill>
                <a:latin typeface="TT Fors"/>
              </a:rPr>
              <a:t>Cancerous lesions are markedly larger on average than non-cancerous lesions (11.23/8.52 mm vs 0.80/0.58 mm). Combined with elevation, growth and bleeding, lesion characteristics should drive triage priority.</a:t>
            </a:r>
          </a:p>
        </p:txBody>
      </p:sp>
      <p:sp>
        <p:nvSpPr>
          <p:cNvPr id="36" name="Rounded Rectangle 35"/>
          <p:cNvSpPr/>
          <p:nvPr/>
        </p:nvSpPr>
        <p:spPr>
          <a:xfrm>
            <a:off x="9372600" y="5649403"/>
            <a:ext cx="8092440" cy="2506980"/>
          </a:xfrm>
          <a:prstGeom prst="roundRect">
            <a:avLst/>
          </a:prstGeom>
          <a:solidFill>
            <a:srgbClr val="FFFFFF"/>
          </a:solid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Oval 37"/>
          <p:cNvSpPr/>
          <p:nvPr/>
        </p:nvSpPr>
        <p:spPr>
          <a:xfrm>
            <a:off x="9753600" y="5749096"/>
            <a:ext cx="457200" cy="457200"/>
          </a:xfrm>
          <a:prstGeom prst="ellipse">
            <a:avLst/>
          </a:prstGeom>
          <a:solidFill>
            <a:srgbClr val="F08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TextBox 38"/>
          <p:cNvSpPr txBox="1"/>
          <p:nvPr/>
        </p:nvSpPr>
        <p:spPr>
          <a:xfrm>
            <a:off x="9753600" y="5846366"/>
            <a:ext cx="457200" cy="297774"/>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b="1" dirty="0">
                <a:solidFill>
                  <a:srgbClr val="FFFFFF"/>
                </a:solidFill>
                <a:latin typeface="TT Fors Bold"/>
              </a:rPr>
              <a:t>4</a:t>
            </a:r>
          </a:p>
        </p:txBody>
      </p:sp>
      <p:sp>
        <p:nvSpPr>
          <p:cNvPr id="40" name="TextBox 39"/>
          <p:cNvSpPr txBox="1"/>
          <p:nvPr/>
        </p:nvSpPr>
        <p:spPr>
          <a:xfrm>
            <a:off x="9827931" y="5784982"/>
            <a:ext cx="7132320" cy="803297"/>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2400" b="1" dirty="0">
                <a:solidFill>
                  <a:srgbClr val="112F8D"/>
                </a:solidFill>
                <a:latin typeface="TT Fors Bold"/>
              </a:rPr>
              <a:t>History and environment need careful interpretation</a:t>
            </a:r>
          </a:p>
        </p:txBody>
      </p:sp>
      <p:sp>
        <p:nvSpPr>
          <p:cNvPr id="41" name="TextBox 40"/>
          <p:cNvSpPr txBox="1"/>
          <p:nvPr/>
        </p:nvSpPr>
        <p:spPr>
          <a:xfrm>
            <a:off x="9884368" y="6529810"/>
            <a:ext cx="7178040" cy="1411540"/>
          </a:xfrm>
          <a:prstGeom prst="rect">
            <a:avLst/>
          </a:prstGeom>
          <a:noFill/>
          <a:ln>
            <a:noFill/>
          </a:ln>
        </p:spPr>
        <p:txBody>
          <a:bodyPr wrap="square" lIns="73152" tIns="73152" rIns="73152" bIns="73152" anchor="t">
            <a:spAutoFit/>
          </a:bodyPr>
          <a:lstStyle/>
          <a:p>
            <a:pPr algn="l">
              <a:lnSpc>
                <a:spcPct val="115000"/>
              </a:lnSpc>
              <a:spcBef>
                <a:spcPts val="0"/>
              </a:spcBef>
              <a:spcAft>
                <a:spcPts val="0"/>
              </a:spcAft>
            </a:pPr>
            <a:r>
              <a:rPr b="0" dirty="0">
                <a:solidFill>
                  <a:srgbClr val="202020"/>
                </a:solidFill>
                <a:latin typeface="TT Fors"/>
              </a:rPr>
              <a:t>Family cancer history is common (53.7%), and 43.4% report prior skin cancer. Pesticide exposure is substantial (43.9%), but smoking, alcohol and water/sewage findings are descriptive only and should not be treated as causal proof.</a:t>
            </a:r>
          </a:p>
        </p:txBody>
      </p:sp>
      <p:sp>
        <p:nvSpPr>
          <p:cNvPr id="42" name="Rounded Rectangle 41"/>
          <p:cNvSpPr/>
          <p:nvPr/>
        </p:nvSpPr>
        <p:spPr>
          <a:xfrm>
            <a:off x="952745" y="8518527"/>
            <a:ext cx="16367759" cy="1170432"/>
          </a:xfrm>
          <a:prstGeom prst="round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400"/>
          </a:p>
        </p:txBody>
      </p:sp>
      <p:sp>
        <p:nvSpPr>
          <p:cNvPr id="43" name="TextBox 42"/>
          <p:cNvSpPr txBox="1"/>
          <p:nvPr/>
        </p:nvSpPr>
        <p:spPr>
          <a:xfrm>
            <a:off x="1298448" y="8781861"/>
            <a:ext cx="15910559" cy="669414"/>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2000" b="0" dirty="0">
                <a:solidFill>
                  <a:srgbClr val="FFFFFF"/>
                </a:solidFill>
                <a:latin typeface="TT Fors"/>
              </a:rPr>
              <a:t>Main takeaway: </a:t>
            </a:r>
            <a:r>
              <a:rPr lang="en-GB" sz="2000" b="0" dirty="0">
                <a:solidFill>
                  <a:srgbClr val="FFFFFF"/>
                </a:solidFill>
                <a:latin typeface="TT Fors"/>
              </a:rPr>
              <a:t>S</a:t>
            </a:r>
            <a:r>
              <a:rPr sz="2000" b="0" dirty="0" err="1">
                <a:solidFill>
                  <a:srgbClr val="FFFFFF"/>
                </a:solidFill>
                <a:latin typeface="TT Fors"/>
              </a:rPr>
              <a:t>creening</a:t>
            </a:r>
            <a:r>
              <a:rPr sz="2000" b="0" dirty="0">
                <a:solidFill>
                  <a:srgbClr val="FFFFFF"/>
                </a:solidFill>
                <a:latin typeface="TT Fors"/>
              </a:rPr>
              <a:t> decisions should </a:t>
            </a:r>
            <a:r>
              <a:rPr sz="2000" b="0" dirty="0" err="1">
                <a:solidFill>
                  <a:srgbClr val="FFFFFF"/>
                </a:solidFill>
                <a:latin typeface="TT Fors"/>
              </a:rPr>
              <a:t>prioriti</a:t>
            </a:r>
            <a:r>
              <a:rPr lang="en-GB" sz="2000" b="0" dirty="0">
                <a:solidFill>
                  <a:srgbClr val="FFFFFF"/>
                </a:solidFill>
                <a:latin typeface="TT Fors"/>
              </a:rPr>
              <a:t>s</a:t>
            </a:r>
            <a:r>
              <a:rPr sz="2000" b="0" dirty="0">
                <a:solidFill>
                  <a:srgbClr val="FFFFFF"/>
                </a:solidFill>
                <a:latin typeface="TT Fors"/>
              </a:rPr>
              <a:t>e older patients and lesions that are large, elevated, bleeding or changing — while the current SQL tables should be treated as descriptive evidence, not causal proof.</a:t>
            </a:r>
          </a:p>
        </p:txBody>
      </p:sp>
      <p:sp>
        <p:nvSpPr>
          <p:cNvPr id="44" name="Rectangle 43">
            <a:extLst>
              <a:ext uri="{FF2B5EF4-FFF2-40B4-BE49-F238E27FC236}">
                <a16:creationId xmlns:a16="http://schemas.microsoft.com/office/drawing/2014/main" id="{988EBD74-A6CE-AAF6-E4AF-56C75CA91BAE}"/>
              </a:ext>
            </a:extLst>
          </p:cNvPr>
          <p:cNvSpPr/>
          <p:nvPr/>
        </p:nvSpPr>
        <p:spPr>
          <a:xfrm>
            <a:off x="884164" y="2754012"/>
            <a:ext cx="228600" cy="250698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Rectangle 44">
            <a:extLst>
              <a:ext uri="{FF2B5EF4-FFF2-40B4-BE49-F238E27FC236}">
                <a16:creationId xmlns:a16="http://schemas.microsoft.com/office/drawing/2014/main" id="{4348D1BE-A9E4-D889-6821-1C262F33C79B}"/>
              </a:ext>
            </a:extLst>
          </p:cNvPr>
          <p:cNvSpPr/>
          <p:nvPr/>
        </p:nvSpPr>
        <p:spPr>
          <a:xfrm>
            <a:off x="9292809" y="5649403"/>
            <a:ext cx="228600" cy="250698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Rectangle 45">
            <a:extLst>
              <a:ext uri="{FF2B5EF4-FFF2-40B4-BE49-F238E27FC236}">
                <a16:creationId xmlns:a16="http://schemas.microsoft.com/office/drawing/2014/main" id="{A47B3232-E852-80BE-603B-11B1FFF92D29}"/>
              </a:ext>
            </a:extLst>
          </p:cNvPr>
          <p:cNvSpPr/>
          <p:nvPr/>
        </p:nvSpPr>
        <p:spPr>
          <a:xfrm>
            <a:off x="9342119" y="2813530"/>
            <a:ext cx="228600" cy="250698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extLst>
      <p:ext uri="{BB962C8B-B14F-4D97-AF65-F5344CB8AC3E}">
        <p14:creationId xmlns:p14="http://schemas.microsoft.com/office/powerpoint/2010/main" val="3984604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2" name="Oval 1"/>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342900"/>
            <a:ext cx="16642080" cy="463204"/>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2800" b="1" dirty="0">
                <a:solidFill>
                  <a:srgbClr val="112F8D"/>
                </a:solidFill>
                <a:latin typeface="TT Fors Bold"/>
              </a:rPr>
              <a:t>Recommendations</a:t>
            </a:r>
            <a:r>
              <a:rPr sz="2400" b="1" dirty="0">
                <a:solidFill>
                  <a:srgbClr val="112F8D"/>
                </a:solidFill>
                <a:latin typeface="TT Fors Bold"/>
              </a:rPr>
              <a:t> and Next Steps</a:t>
            </a:r>
          </a:p>
        </p:txBody>
      </p:sp>
      <p:sp>
        <p:nvSpPr>
          <p:cNvPr id="5" name="TextBox 4"/>
          <p:cNvSpPr txBox="1"/>
          <p:nvPr/>
        </p:nvSpPr>
        <p:spPr>
          <a:xfrm>
            <a:off x="3657600" y="804672"/>
            <a:ext cx="10972800" cy="330860"/>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2000" b="0" dirty="0">
                <a:latin typeface="TT Fors"/>
              </a:rPr>
              <a:t>How to turn the findings into a better screening and analytics workflow</a:t>
            </a:r>
          </a:p>
        </p:txBody>
      </p:sp>
      <p:sp>
        <p:nvSpPr>
          <p:cNvPr id="6" name="Rounded Rectangle 5"/>
          <p:cNvSpPr/>
          <p:nvPr/>
        </p:nvSpPr>
        <p:spPr>
          <a:xfrm>
            <a:off x="868680" y="1261873"/>
            <a:ext cx="11612880" cy="1317424"/>
          </a:xfrm>
          <a:prstGeom prst="roundRect">
            <a:avLst/>
          </a:prstGeom>
          <a:solidFill>
            <a:srgbClr val="FFFFFF"/>
          </a:solidFill>
          <a:ln w="1270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563624"/>
            <a:ext cx="502920" cy="50292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76423"/>
            <a:ext cx="502920" cy="231602"/>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sz="1400" b="1">
                <a:solidFill>
                  <a:srgbClr val="FFFFFF"/>
                </a:solidFill>
                <a:latin typeface="TT Fors Bold"/>
              </a:rPr>
              <a:t>1</a:t>
            </a:r>
          </a:p>
        </p:txBody>
      </p:sp>
      <p:sp>
        <p:nvSpPr>
          <p:cNvPr id="9" name="TextBox 8"/>
          <p:cNvSpPr txBox="1"/>
          <p:nvPr/>
        </p:nvSpPr>
        <p:spPr>
          <a:xfrm>
            <a:off x="1691640" y="1444107"/>
            <a:ext cx="9555480" cy="397032"/>
          </a:xfrm>
          <a:prstGeom prst="rect">
            <a:avLst/>
          </a:prstGeom>
          <a:noFill/>
          <a:ln>
            <a:noFill/>
          </a:ln>
        </p:spPr>
        <p:txBody>
          <a:bodyPr wrap="square" lIns="0" tIns="0" rIns="0" bIns="0" anchor="t">
            <a:spAutoFit/>
          </a:bodyPr>
          <a:lstStyle/>
          <a:p>
            <a:pPr algn="l">
              <a:lnSpc>
                <a:spcPct val="110000"/>
              </a:lnSpc>
              <a:spcBef>
                <a:spcPts val="0"/>
              </a:spcBef>
              <a:spcAft>
                <a:spcPts val="0"/>
              </a:spcAft>
            </a:pPr>
            <a:r>
              <a:rPr sz="2400" b="1" dirty="0" err="1">
                <a:solidFill>
                  <a:schemeClr val="tx2"/>
                </a:solidFill>
                <a:latin typeface="TT Fors Bold"/>
              </a:rPr>
              <a:t>Prioriti</a:t>
            </a:r>
            <a:r>
              <a:rPr lang="en-GB" sz="2400" b="1" dirty="0">
                <a:solidFill>
                  <a:schemeClr val="tx2"/>
                </a:solidFill>
                <a:latin typeface="TT Fors Bold"/>
              </a:rPr>
              <a:t>s</a:t>
            </a:r>
            <a:r>
              <a:rPr sz="2400" b="1" dirty="0">
                <a:solidFill>
                  <a:schemeClr val="tx2"/>
                </a:solidFill>
                <a:latin typeface="TT Fors Bold"/>
              </a:rPr>
              <a:t>e high-risk screening cohorts</a:t>
            </a:r>
          </a:p>
        </p:txBody>
      </p:sp>
      <p:sp>
        <p:nvSpPr>
          <p:cNvPr id="10" name="TextBox 9"/>
          <p:cNvSpPr txBox="1"/>
          <p:nvPr/>
        </p:nvSpPr>
        <p:spPr>
          <a:xfrm>
            <a:off x="1691640" y="1810512"/>
            <a:ext cx="9555480" cy="592855"/>
          </a:xfrm>
          <a:prstGeom prst="rect">
            <a:avLst/>
          </a:prstGeom>
          <a:noFill/>
          <a:ln>
            <a:noFill/>
          </a:ln>
        </p:spPr>
        <p:txBody>
          <a:bodyPr wrap="square" lIns="0" tIns="0" rIns="0" bIns="0" anchor="t">
            <a:spAutoFit/>
          </a:bodyPr>
          <a:lstStyle/>
          <a:p>
            <a:pPr algn="l">
              <a:lnSpc>
                <a:spcPct val="108000"/>
              </a:lnSpc>
              <a:spcBef>
                <a:spcPts val="0"/>
              </a:spcBef>
              <a:spcAft>
                <a:spcPts val="0"/>
              </a:spcAft>
            </a:pPr>
            <a:r>
              <a:rPr dirty="0">
                <a:solidFill>
                  <a:srgbClr val="202020"/>
                </a:solidFill>
                <a:latin typeface="TT Fors"/>
              </a:rPr>
              <a:t>Target older patients first, then flag those with family cancer history or previous skin cancer for closer surveillance and follow-up.</a:t>
            </a:r>
          </a:p>
        </p:txBody>
      </p:sp>
      <p:sp>
        <p:nvSpPr>
          <p:cNvPr id="12" name="TextBox 11"/>
          <p:cNvSpPr txBox="1"/>
          <p:nvPr/>
        </p:nvSpPr>
        <p:spPr>
          <a:xfrm>
            <a:off x="11475719" y="1623076"/>
            <a:ext cx="713232" cy="173702"/>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sz="1050" b="1">
                <a:solidFill>
                  <a:srgbClr val="FFFFFF"/>
                </a:solidFill>
                <a:latin typeface="TT Fors Bold"/>
              </a:rPr>
              <a:t>High</a:t>
            </a:r>
          </a:p>
        </p:txBody>
      </p:sp>
      <p:sp>
        <p:nvSpPr>
          <p:cNvPr id="13" name="Rounded Rectangle 12"/>
          <p:cNvSpPr/>
          <p:nvPr/>
        </p:nvSpPr>
        <p:spPr>
          <a:xfrm>
            <a:off x="833284" y="2703147"/>
            <a:ext cx="11612880" cy="1262318"/>
          </a:xfrm>
          <a:prstGeom prst="roundRect">
            <a:avLst/>
          </a:prstGeom>
          <a:solidFill>
            <a:srgbClr val="FFFFFF"/>
          </a:solidFill>
          <a:ln w="1270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39269" y="2887980"/>
            <a:ext cx="502920" cy="50292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39269" y="3000779"/>
            <a:ext cx="502920" cy="231602"/>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sz="1400" b="1">
                <a:solidFill>
                  <a:srgbClr val="FFFFFF"/>
                </a:solidFill>
                <a:latin typeface="TT Fors Bold"/>
              </a:rPr>
              <a:t>2</a:t>
            </a:r>
          </a:p>
        </p:txBody>
      </p:sp>
      <p:sp>
        <p:nvSpPr>
          <p:cNvPr id="16" name="TextBox 15"/>
          <p:cNvSpPr txBox="1"/>
          <p:nvPr/>
        </p:nvSpPr>
        <p:spPr>
          <a:xfrm>
            <a:off x="1671975" y="2827914"/>
            <a:ext cx="9555480" cy="397032"/>
          </a:xfrm>
          <a:prstGeom prst="rect">
            <a:avLst/>
          </a:prstGeom>
          <a:noFill/>
          <a:ln>
            <a:noFill/>
          </a:ln>
        </p:spPr>
        <p:txBody>
          <a:bodyPr wrap="square" lIns="0" tIns="0" rIns="0" bIns="0" anchor="t">
            <a:spAutoFit/>
          </a:bodyPr>
          <a:lstStyle/>
          <a:p>
            <a:pPr algn="l">
              <a:lnSpc>
                <a:spcPct val="110000"/>
              </a:lnSpc>
              <a:spcBef>
                <a:spcPts val="0"/>
              </a:spcBef>
              <a:spcAft>
                <a:spcPts val="0"/>
              </a:spcAft>
            </a:pPr>
            <a:r>
              <a:rPr sz="2400" b="1" dirty="0">
                <a:solidFill>
                  <a:schemeClr val="tx2"/>
                </a:solidFill>
                <a:latin typeface="TT Fors Bold"/>
              </a:rPr>
              <a:t>Use lesion features as frontline triage rules</a:t>
            </a:r>
          </a:p>
        </p:txBody>
      </p:sp>
      <p:sp>
        <p:nvSpPr>
          <p:cNvPr id="17" name="TextBox 16"/>
          <p:cNvSpPr txBox="1"/>
          <p:nvPr/>
        </p:nvSpPr>
        <p:spPr>
          <a:xfrm>
            <a:off x="1679349" y="3192767"/>
            <a:ext cx="9555480" cy="592855"/>
          </a:xfrm>
          <a:prstGeom prst="rect">
            <a:avLst/>
          </a:prstGeom>
          <a:noFill/>
          <a:ln>
            <a:noFill/>
          </a:ln>
        </p:spPr>
        <p:txBody>
          <a:bodyPr wrap="square" lIns="0" tIns="0" rIns="0" bIns="0" anchor="t">
            <a:spAutoFit/>
          </a:bodyPr>
          <a:lstStyle/>
          <a:p>
            <a:pPr algn="l">
              <a:lnSpc>
                <a:spcPct val="108000"/>
              </a:lnSpc>
              <a:spcBef>
                <a:spcPts val="0"/>
              </a:spcBef>
              <a:spcAft>
                <a:spcPts val="0"/>
              </a:spcAft>
            </a:pPr>
            <a:r>
              <a:rPr dirty="0">
                <a:solidFill>
                  <a:srgbClr val="202020"/>
                </a:solidFill>
                <a:latin typeface="TT Fors"/>
              </a:rPr>
              <a:t>Fast-track lesions that are large, elevated, bleeding or visibly changing for dermatologist review, biopsy or urgent referral.</a:t>
            </a:r>
          </a:p>
        </p:txBody>
      </p:sp>
      <p:sp>
        <p:nvSpPr>
          <p:cNvPr id="20" name="Rounded Rectangle 19"/>
          <p:cNvSpPr/>
          <p:nvPr/>
        </p:nvSpPr>
        <p:spPr>
          <a:xfrm>
            <a:off x="833284" y="4181866"/>
            <a:ext cx="11612880" cy="1377342"/>
          </a:xfrm>
          <a:prstGeom prst="roundRect">
            <a:avLst/>
          </a:prstGeom>
          <a:solidFill>
            <a:srgbClr val="FFFFFF"/>
          </a:solidFill>
          <a:ln w="1270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16164" y="4328170"/>
            <a:ext cx="502920" cy="50292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16164" y="4440969"/>
            <a:ext cx="502920" cy="231602"/>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sz="1400" b="1">
                <a:solidFill>
                  <a:srgbClr val="FFFFFF"/>
                </a:solidFill>
                <a:latin typeface="TT Fors Bold"/>
              </a:rPr>
              <a:t>3</a:t>
            </a:r>
          </a:p>
        </p:txBody>
      </p:sp>
      <p:sp>
        <p:nvSpPr>
          <p:cNvPr id="23" name="TextBox 22"/>
          <p:cNvSpPr txBox="1"/>
          <p:nvPr/>
        </p:nvSpPr>
        <p:spPr>
          <a:xfrm>
            <a:off x="1656244" y="4282450"/>
            <a:ext cx="9555480" cy="397032"/>
          </a:xfrm>
          <a:prstGeom prst="rect">
            <a:avLst/>
          </a:prstGeom>
          <a:noFill/>
          <a:ln>
            <a:noFill/>
          </a:ln>
        </p:spPr>
        <p:txBody>
          <a:bodyPr wrap="square" lIns="0" tIns="0" rIns="0" bIns="0" anchor="t">
            <a:spAutoFit/>
          </a:bodyPr>
          <a:lstStyle/>
          <a:p>
            <a:pPr>
              <a:lnSpc>
                <a:spcPct val="110000"/>
              </a:lnSpc>
            </a:pPr>
            <a:r>
              <a:rPr sz="2400" b="1" dirty="0">
                <a:solidFill>
                  <a:schemeClr val="tx2"/>
                </a:solidFill>
                <a:latin typeface="TT Fors Bold"/>
              </a:rPr>
              <a:t>Validate risk factors with multivariable modeling</a:t>
            </a:r>
          </a:p>
        </p:txBody>
      </p:sp>
      <p:sp>
        <p:nvSpPr>
          <p:cNvPr id="24" name="TextBox 23"/>
          <p:cNvSpPr txBox="1"/>
          <p:nvPr/>
        </p:nvSpPr>
        <p:spPr>
          <a:xfrm>
            <a:off x="1656244" y="4768860"/>
            <a:ext cx="9555480" cy="592855"/>
          </a:xfrm>
          <a:prstGeom prst="rect">
            <a:avLst/>
          </a:prstGeom>
          <a:noFill/>
          <a:ln>
            <a:noFill/>
          </a:ln>
        </p:spPr>
        <p:txBody>
          <a:bodyPr wrap="square" lIns="0" tIns="0" rIns="0" bIns="0" anchor="t">
            <a:spAutoFit/>
          </a:bodyPr>
          <a:lstStyle/>
          <a:p>
            <a:pPr algn="l">
              <a:lnSpc>
                <a:spcPct val="108000"/>
              </a:lnSpc>
              <a:spcBef>
                <a:spcPts val="0"/>
              </a:spcBef>
              <a:spcAft>
                <a:spcPts val="0"/>
              </a:spcAft>
            </a:pPr>
            <a:r>
              <a:rPr dirty="0">
                <a:solidFill>
                  <a:srgbClr val="202020"/>
                </a:solidFill>
                <a:latin typeface="TT Fors"/>
              </a:rPr>
              <a:t>Move beyond one-variable summaries by testing age, lesion size, lesion type, prior history, pesticide exposure and access variables together in a predictive model.</a:t>
            </a:r>
          </a:p>
        </p:txBody>
      </p:sp>
      <p:sp>
        <p:nvSpPr>
          <p:cNvPr id="27" name="Rounded Rectangle 26"/>
          <p:cNvSpPr/>
          <p:nvPr/>
        </p:nvSpPr>
        <p:spPr>
          <a:xfrm>
            <a:off x="880970" y="5668099"/>
            <a:ext cx="11612880" cy="1383283"/>
          </a:xfrm>
          <a:prstGeom prst="roundRect">
            <a:avLst/>
          </a:prstGeom>
          <a:solidFill>
            <a:srgbClr val="FFFFFF"/>
          </a:solidFill>
          <a:ln w="1270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63850" y="5814404"/>
            <a:ext cx="502920" cy="50292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63850" y="5927203"/>
            <a:ext cx="502920" cy="231602"/>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sz="1400" b="1">
                <a:solidFill>
                  <a:srgbClr val="FFFFFF"/>
                </a:solidFill>
                <a:latin typeface="TT Fors Bold"/>
              </a:rPr>
              <a:t>4</a:t>
            </a:r>
          </a:p>
        </p:txBody>
      </p:sp>
      <p:sp>
        <p:nvSpPr>
          <p:cNvPr id="30" name="TextBox 29"/>
          <p:cNvSpPr txBox="1"/>
          <p:nvPr/>
        </p:nvSpPr>
        <p:spPr>
          <a:xfrm>
            <a:off x="1703930" y="5768684"/>
            <a:ext cx="9555480" cy="397032"/>
          </a:xfrm>
          <a:prstGeom prst="rect">
            <a:avLst/>
          </a:prstGeom>
          <a:noFill/>
          <a:ln>
            <a:noFill/>
          </a:ln>
        </p:spPr>
        <p:txBody>
          <a:bodyPr wrap="square" lIns="0" tIns="0" rIns="0" bIns="0" anchor="t">
            <a:spAutoFit/>
          </a:bodyPr>
          <a:lstStyle/>
          <a:p>
            <a:pPr>
              <a:lnSpc>
                <a:spcPct val="110000"/>
              </a:lnSpc>
              <a:spcBef>
                <a:spcPts val="0"/>
              </a:spcBef>
              <a:spcAft>
                <a:spcPts val="0"/>
              </a:spcAft>
            </a:pPr>
            <a:r>
              <a:rPr sz="2400" b="1" dirty="0">
                <a:solidFill>
                  <a:schemeClr val="tx2"/>
                </a:solidFill>
                <a:latin typeface="TT Fors Bold"/>
              </a:rPr>
              <a:t>Improve the structure and quality of data capture</a:t>
            </a:r>
          </a:p>
        </p:txBody>
      </p:sp>
      <p:sp>
        <p:nvSpPr>
          <p:cNvPr id="31" name="TextBox 30"/>
          <p:cNvSpPr txBox="1"/>
          <p:nvPr/>
        </p:nvSpPr>
        <p:spPr>
          <a:xfrm>
            <a:off x="1703930" y="6310865"/>
            <a:ext cx="9555480" cy="592855"/>
          </a:xfrm>
          <a:prstGeom prst="rect">
            <a:avLst/>
          </a:prstGeom>
          <a:noFill/>
          <a:ln>
            <a:noFill/>
          </a:ln>
        </p:spPr>
        <p:txBody>
          <a:bodyPr wrap="square" lIns="0" tIns="0" rIns="0" bIns="0" anchor="t">
            <a:spAutoFit/>
          </a:bodyPr>
          <a:lstStyle/>
          <a:p>
            <a:pPr algn="l">
              <a:lnSpc>
                <a:spcPct val="108000"/>
              </a:lnSpc>
              <a:spcBef>
                <a:spcPts val="0"/>
              </a:spcBef>
              <a:spcAft>
                <a:spcPts val="0"/>
              </a:spcAft>
            </a:pPr>
            <a:r>
              <a:rPr dirty="0">
                <a:solidFill>
                  <a:srgbClr val="202020"/>
                </a:solidFill>
                <a:latin typeface="TT Fors"/>
              </a:rPr>
              <a:t>Replace generic category labels with explicit coded values, and add missing predictors such as sun exposure, skin type, lesion location and follow-up outcome.</a:t>
            </a:r>
          </a:p>
        </p:txBody>
      </p:sp>
      <p:sp>
        <p:nvSpPr>
          <p:cNvPr id="33" name="TextBox 32"/>
          <p:cNvSpPr txBox="1"/>
          <p:nvPr/>
        </p:nvSpPr>
        <p:spPr>
          <a:xfrm>
            <a:off x="11488009" y="5873855"/>
            <a:ext cx="713232" cy="173702"/>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sz="1050" b="1">
                <a:solidFill>
                  <a:srgbClr val="FFFFFF"/>
                </a:solidFill>
                <a:latin typeface="TT Fors Bold"/>
              </a:rPr>
              <a:t>Medium</a:t>
            </a:r>
          </a:p>
        </p:txBody>
      </p:sp>
      <p:sp>
        <p:nvSpPr>
          <p:cNvPr id="34" name="Rounded Rectangle 33"/>
          <p:cNvSpPr/>
          <p:nvPr/>
        </p:nvSpPr>
        <p:spPr>
          <a:xfrm>
            <a:off x="878512" y="7238682"/>
            <a:ext cx="11612880" cy="1369747"/>
          </a:xfrm>
          <a:prstGeom prst="roundRect">
            <a:avLst/>
          </a:prstGeom>
          <a:solidFill>
            <a:srgbClr val="FFFFFF"/>
          </a:solidFill>
          <a:ln w="1270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39269" y="7581388"/>
            <a:ext cx="502920" cy="50292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6" name="TextBox 35"/>
          <p:cNvSpPr txBox="1"/>
          <p:nvPr/>
        </p:nvSpPr>
        <p:spPr>
          <a:xfrm>
            <a:off x="1039269" y="7644557"/>
            <a:ext cx="502920" cy="330860"/>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sz="2000" b="1">
                <a:solidFill>
                  <a:srgbClr val="FFFFFF"/>
                </a:solidFill>
                <a:latin typeface="TT Fors Bold"/>
              </a:rPr>
              <a:t>5</a:t>
            </a:r>
          </a:p>
        </p:txBody>
      </p:sp>
      <p:sp>
        <p:nvSpPr>
          <p:cNvPr id="37" name="TextBox 36"/>
          <p:cNvSpPr txBox="1"/>
          <p:nvPr/>
        </p:nvSpPr>
        <p:spPr>
          <a:xfrm>
            <a:off x="1696555" y="7404997"/>
            <a:ext cx="9555480" cy="397032"/>
          </a:xfrm>
          <a:prstGeom prst="rect">
            <a:avLst/>
          </a:prstGeom>
          <a:noFill/>
          <a:ln>
            <a:noFill/>
          </a:ln>
        </p:spPr>
        <p:txBody>
          <a:bodyPr wrap="square" lIns="0" tIns="0" rIns="0" bIns="0" anchor="t">
            <a:spAutoFit/>
          </a:bodyPr>
          <a:lstStyle/>
          <a:p>
            <a:pPr>
              <a:lnSpc>
                <a:spcPct val="110000"/>
              </a:lnSpc>
            </a:pPr>
            <a:r>
              <a:rPr sz="2400" b="1" dirty="0">
                <a:solidFill>
                  <a:schemeClr val="tx2"/>
                </a:solidFill>
                <a:latin typeface="TT Fors Bold"/>
              </a:rPr>
              <a:t>Operationalize the insights for AI decision support</a:t>
            </a:r>
          </a:p>
        </p:txBody>
      </p:sp>
      <p:sp>
        <p:nvSpPr>
          <p:cNvPr id="38" name="TextBox 37"/>
          <p:cNvSpPr txBox="1"/>
          <p:nvPr/>
        </p:nvSpPr>
        <p:spPr>
          <a:xfrm>
            <a:off x="1679349" y="7828275"/>
            <a:ext cx="9555480" cy="592855"/>
          </a:xfrm>
          <a:prstGeom prst="rect">
            <a:avLst/>
          </a:prstGeom>
          <a:noFill/>
          <a:ln>
            <a:noFill/>
          </a:ln>
        </p:spPr>
        <p:txBody>
          <a:bodyPr wrap="square" lIns="0" tIns="0" rIns="0" bIns="0" anchor="t">
            <a:spAutoFit/>
          </a:bodyPr>
          <a:lstStyle/>
          <a:p>
            <a:pPr algn="l">
              <a:lnSpc>
                <a:spcPct val="108000"/>
              </a:lnSpc>
              <a:spcBef>
                <a:spcPts val="0"/>
              </a:spcBef>
              <a:spcAft>
                <a:spcPts val="0"/>
              </a:spcAft>
            </a:pPr>
            <a:r>
              <a:rPr b="0" dirty="0">
                <a:solidFill>
                  <a:srgbClr val="202020"/>
                </a:solidFill>
                <a:latin typeface="TT Fors"/>
              </a:rPr>
              <a:t>Use the strongest predictors to build a baseline triage model, then compare its outputs with dermatologist assessment before any clinical deployment.</a:t>
            </a:r>
          </a:p>
        </p:txBody>
      </p:sp>
      <p:sp>
        <p:nvSpPr>
          <p:cNvPr id="39" name="Rounded Rectangle 38"/>
          <p:cNvSpPr/>
          <p:nvPr/>
        </p:nvSpPr>
        <p:spPr>
          <a:xfrm>
            <a:off x="10902499" y="7466356"/>
            <a:ext cx="1371600" cy="258394"/>
          </a:xfrm>
          <a:prstGeom prst="roundRect">
            <a:avLst/>
          </a:prstGeom>
          <a:solidFill>
            <a:srgbClr val="112F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0" name="TextBox 39"/>
          <p:cNvSpPr txBox="1"/>
          <p:nvPr/>
        </p:nvSpPr>
        <p:spPr>
          <a:xfrm>
            <a:off x="11074317" y="7466356"/>
            <a:ext cx="1027963" cy="297774"/>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b="1" dirty="0">
                <a:solidFill>
                  <a:srgbClr val="FFFFFF"/>
                </a:solidFill>
                <a:latin typeface="TT Fors Bold"/>
              </a:rPr>
              <a:t>Medium</a:t>
            </a:r>
          </a:p>
        </p:txBody>
      </p:sp>
      <p:sp>
        <p:nvSpPr>
          <p:cNvPr id="41" name="Rounded Rectangle 40"/>
          <p:cNvSpPr/>
          <p:nvPr/>
        </p:nvSpPr>
        <p:spPr>
          <a:xfrm>
            <a:off x="12847320" y="1417320"/>
            <a:ext cx="4424516" cy="6720840"/>
          </a:xfrm>
          <a:prstGeom prst="roundRect">
            <a:avLst/>
          </a:prstGeom>
          <a:solidFill>
            <a:srgbClr val="FFFFFF"/>
          </a:solidFill>
          <a:ln w="1270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TextBox 41"/>
          <p:cNvSpPr txBox="1"/>
          <p:nvPr/>
        </p:nvSpPr>
        <p:spPr>
          <a:xfrm>
            <a:off x="12800617" y="1936645"/>
            <a:ext cx="4434840" cy="397032"/>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2400" b="1" dirty="0">
                <a:solidFill>
                  <a:schemeClr val="tx2"/>
                </a:solidFill>
                <a:latin typeface="TT Fors Bold"/>
              </a:rPr>
              <a:t>Suggested action horizon</a:t>
            </a:r>
          </a:p>
        </p:txBody>
      </p:sp>
      <p:sp>
        <p:nvSpPr>
          <p:cNvPr id="43" name="Rounded Rectangle 42"/>
          <p:cNvSpPr/>
          <p:nvPr/>
        </p:nvSpPr>
        <p:spPr>
          <a:xfrm>
            <a:off x="13078870" y="2489894"/>
            <a:ext cx="3904390" cy="1453329"/>
          </a:xfrm>
          <a:prstGeom prst="roundRect">
            <a:avLst/>
          </a:prstGeom>
          <a:solidFill>
            <a:srgbClr val="E9ECF4"/>
          </a:solidFill>
          <a:ln w="1016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13178421" y="2718703"/>
            <a:ext cx="2743200" cy="297774"/>
          </a:xfrm>
          <a:prstGeom prst="rect">
            <a:avLst/>
          </a:prstGeom>
          <a:noFill/>
          <a:ln>
            <a:noFill/>
          </a:ln>
        </p:spPr>
        <p:txBody>
          <a:bodyPr wrap="square" lIns="0" tIns="0" rIns="0" bIns="0" anchor="t">
            <a:spAutoFit/>
          </a:bodyPr>
          <a:lstStyle/>
          <a:p>
            <a:pPr algn="l">
              <a:lnSpc>
                <a:spcPct val="110000"/>
              </a:lnSpc>
              <a:spcBef>
                <a:spcPts val="0"/>
              </a:spcBef>
              <a:spcAft>
                <a:spcPts val="0"/>
              </a:spcAft>
            </a:pPr>
            <a:r>
              <a:rPr b="1" dirty="0">
                <a:solidFill>
                  <a:srgbClr val="F0843C"/>
                </a:solidFill>
                <a:latin typeface="TT Fors Bold"/>
              </a:rPr>
              <a:t>0–30 days</a:t>
            </a:r>
          </a:p>
        </p:txBody>
      </p:sp>
      <p:sp>
        <p:nvSpPr>
          <p:cNvPr id="45" name="TextBox 44"/>
          <p:cNvSpPr txBox="1"/>
          <p:nvPr/>
        </p:nvSpPr>
        <p:spPr>
          <a:xfrm>
            <a:off x="13168589" y="3047775"/>
            <a:ext cx="3781978" cy="602473"/>
          </a:xfrm>
          <a:prstGeom prst="rect">
            <a:avLst/>
          </a:prstGeom>
          <a:noFill/>
          <a:ln>
            <a:noFill/>
          </a:ln>
        </p:spPr>
        <p:txBody>
          <a:bodyPr wrap="square" lIns="0" tIns="0" rIns="0" bIns="0" anchor="t">
            <a:spAutoFit/>
          </a:bodyPr>
          <a:lstStyle/>
          <a:p>
            <a:pPr algn="l">
              <a:lnSpc>
                <a:spcPct val="110000"/>
              </a:lnSpc>
              <a:spcBef>
                <a:spcPts val="0"/>
              </a:spcBef>
              <a:spcAft>
                <a:spcPts val="0"/>
              </a:spcAft>
            </a:pPr>
            <a:r>
              <a:rPr dirty="0">
                <a:solidFill>
                  <a:srgbClr val="202020"/>
                </a:solidFill>
                <a:latin typeface="TT Fors"/>
              </a:rPr>
              <a:t>Create a simple triage checklist for lesion size and symptom flags.</a:t>
            </a:r>
          </a:p>
        </p:txBody>
      </p:sp>
      <p:sp>
        <p:nvSpPr>
          <p:cNvPr id="46" name="Rounded Rectangle 45"/>
          <p:cNvSpPr/>
          <p:nvPr/>
        </p:nvSpPr>
        <p:spPr>
          <a:xfrm>
            <a:off x="13078870" y="4212758"/>
            <a:ext cx="3947160" cy="1324838"/>
          </a:xfrm>
          <a:prstGeom prst="roundRect">
            <a:avLst/>
          </a:prstGeom>
          <a:solidFill>
            <a:srgbClr val="E9ECF4"/>
          </a:solidFill>
          <a:ln w="1016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7" name="TextBox 46"/>
          <p:cNvSpPr txBox="1"/>
          <p:nvPr/>
        </p:nvSpPr>
        <p:spPr>
          <a:xfrm>
            <a:off x="13269124" y="4333689"/>
            <a:ext cx="2743200" cy="297774"/>
          </a:xfrm>
          <a:prstGeom prst="rect">
            <a:avLst/>
          </a:prstGeom>
          <a:noFill/>
          <a:ln>
            <a:noFill/>
          </a:ln>
        </p:spPr>
        <p:txBody>
          <a:bodyPr wrap="square" lIns="0" tIns="0" rIns="0" bIns="0" anchor="t">
            <a:spAutoFit/>
          </a:bodyPr>
          <a:lstStyle/>
          <a:p>
            <a:pPr algn="l">
              <a:lnSpc>
                <a:spcPct val="110000"/>
              </a:lnSpc>
              <a:spcBef>
                <a:spcPts val="0"/>
              </a:spcBef>
              <a:spcAft>
                <a:spcPts val="0"/>
              </a:spcAft>
            </a:pPr>
            <a:r>
              <a:rPr b="1" dirty="0">
                <a:solidFill>
                  <a:srgbClr val="112F8D"/>
                </a:solidFill>
                <a:latin typeface="TT Fors Bold"/>
              </a:rPr>
              <a:t>30–90 days</a:t>
            </a:r>
          </a:p>
        </p:txBody>
      </p:sp>
      <p:sp>
        <p:nvSpPr>
          <p:cNvPr id="48" name="TextBox 47"/>
          <p:cNvSpPr txBox="1"/>
          <p:nvPr/>
        </p:nvSpPr>
        <p:spPr>
          <a:xfrm>
            <a:off x="13248968" y="4611701"/>
            <a:ext cx="3874893" cy="907171"/>
          </a:xfrm>
          <a:prstGeom prst="rect">
            <a:avLst/>
          </a:prstGeom>
          <a:noFill/>
          <a:ln>
            <a:noFill/>
          </a:ln>
        </p:spPr>
        <p:txBody>
          <a:bodyPr wrap="square" lIns="0" tIns="0" rIns="0" bIns="0" anchor="t">
            <a:spAutoFit/>
          </a:bodyPr>
          <a:lstStyle/>
          <a:p>
            <a:pPr algn="l">
              <a:lnSpc>
                <a:spcPct val="110000"/>
              </a:lnSpc>
              <a:spcBef>
                <a:spcPts val="0"/>
              </a:spcBef>
              <a:spcAft>
                <a:spcPts val="0"/>
              </a:spcAft>
            </a:pPr>
            <a:r>
              <a:rPr dirty="0">
                <a:solidFill>
                  <a:srgbClr val="202020"/>
                </a:solidFill>
                <a:latin typeface="TT Fors"/>
              </a:rPr>
              <a:t>Run validation with clinician review and test a baseline SQL/ML risk model.</a:t>
            </a:r>
          </a:p>
        </p:txBody>
      </p:sp>
      <p:sp>
        <p:nvSpPr>
          <p:cNvPr id="49" name="Rounded Rectangle 48"/>
          <p:cNvSpPr/>
          <p:nvPr/>
        </p:nvSpPr>
        <p:spPr>
          <a:xfrm>
            <a:off x="13045440" y="5987005"/>
            <a:ext cx="4023360" cy="1422027"/>
          </a:xfrm>
          <a:prstGeom prst="roundRect">
            <a:avLst/>
          </a:prstGeom>
          <a:solidFill>
            <a:srgbClr val="E9ECF4"/>
          </a:solidFill>
          <a:ln w="1016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TextBox 49"/>
          <p:cNvSpPr txBox="1"/>
          <p:nvPr/>
        </p:nvSpPr>
        <p:spPr>
          <a:xfrm>
            <a:off x="13234220" y="6055462"/>
            <a:ext cx="2743200" cy="297774"/>
          </a:xfrm>
          <a:prstGeom prst="rect">
            <a:avLst/>
          </a:prstGeom>
          <a:noFill/>
          <a:ln>
            <a:noFill/>
          </a:ln>
        </p:spPr>
        <p:txBody>
          <a:bodyPr wrap="square" lIns="0" tIns="0" rIns="0" bIns="0" anchor="t">
            <a:spAutoFit/>
          </a:bodyPr>
          <a:lstStyle/>
          <a:p>
            <a:pPr algn="l">
              <a:lnSpc>
                <a:spcPct val="110000"/>
              </a:lnSpc>
              <a:spcBef>
                <a:spcPts val="0"/>
              </a:spcBef>
              <a:spcAft>
                <a:spcPts val="0"/>
              </a:spcAft>
            </a:pPr>
            <a:r>
              <a:rPr b="1" dirty="0">
                <a:solidFill>
                  <a:srgbClr val="2F57A1"/>
                </a:solidFill>
                <a:latin typeface="TT Fors Bold"/>
              </a:rPr>
              <a:t>Ongoing</a:t>
            </a:r>
          </a:p>
        </p:txBody>
      </p:sp>
      <p:sp>
        <p:nvSpPr>
          <p:cNvPr id="51" name="TextBox 50"/>
          <p:cNvSpPr txBox="1"/>
          <p:nvPr/>
        </p:nvSpPr>
        <p:spPr>
          <a:xfrm>
            <a:off x="13162198" y="6344805"/>
            <a:ext cx="3906602" cy="907171"/>
          </a:xfrm>
          <a:prstGeom prst="rect">
            <a:avLst/>
          </a:prstGeom>
          <a:noFill/>
          <a:ln>
            <a:noFill/>
          </a:ln>
        </p:spPr>
        <p:txBody>
          <a:bodyPr wrap="square" lIns="0" tIns="0" rIns="0" bIns="0" anchor="t">
            <a:spAutoFit/>
          </a:bodyPr>
          <a:lstStyle/>
          <a:p>
            <a:pPr algn="l">
              <a:lnSpc>
                <a:spcPct val="110000"/>
              </a:lnSpc>
              <a:spcBef>
                <a:spcPts val="0"/>
              </a:spcBef>
              <a:spcAft>
                <a:spcPts val="0"/>
              </a:spcAft>
            </a:pPr>
            <a:r>
              <a:rPr b="0" dirty="0">
                <a:solidFill>
                  <a:srgbClr val="202020"/>
                </a:solidFill>
                <a:latin typeface="TT Fors"/>
              </a:rPr>
              <a:t>Track recurrence, false negatives and diagnosis turnaround to improve screening performance.</a:t>
            </a:r>
          </a:p>
        </p:txBody>
      </p:sp>
      <p:sp>
        <p:nvSpPr>
          <p:cNvPr id="52" name="Rounded Rectangle 51"/>
          <p:cNvSpPr/>
          <p:nvPr/>
        </p:nvSpPr>
        <p:spPr>
          <a:xfrm>
            <a:off x="13244052" y="7731997"/>
            <a:ext cx="3781978" cy="822960"/>
          </a:xfrm>
          <a:prstGeom prst="round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3" name="TextBox 52"/>
          <p:cNvSpPr txBox="1"/>
          <p:nvPr/>
        </p:nvSpPr>
        <p:spPr>
          <a:xfrm>
            <a:off x="13350240" y="7734300"/>
            <a:ext cx="3413760" cy="806375"/>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1600" b="0" dirty="0">
                <a:solidFill>
                  <a:srgbClr val="FFFFFF"/>
                </a:solidFill>
                <a:latin typeface="TT Fors"/>
              </a:rPr>
              <a:t>Important: </a:t>
            </a:r>
            <a:r>
              <a:rPr lang="en-GB" sz="1600" b="0" dirty="0">
                <a:solidFill>
                  <a:srgbClr val="FFFFFF"/>
                </a:solidFill>
                <a:latin typeface="TT Fors"/>
              </a:rPr>
              <a:t>Use</a:t>
            </a:r>
            <a:r>
              <a:rPr sz="1600" b="0" dirty="0">
                <a:solidFill>
                  <a:srgbClr val="FFFFFF"/>
                </a:solidFill>
                <a:latin typeface="TT Fors"/>
              </a:rPr>
              <a:t> these findings as decision support and validate clinically before deployment.</a:t>
            </a:r>
          </a:p>
        </p:txBody>
      </p:sp>
      <p:sp>
        <p:nvSpPr>
          <p:cNvPr id="54" name="TextBox 53"/>
          <p:cNvSpPr txBox="1"/>
          <p:nvPr/>
        </p:nvSpPr>
        <p:spPr>
          <a:xfrm>
            <a:off x="685800" y="8869680"/>
            <a:ext cx="16459200" cy="397032"/>
          </a:xfrm>
          <a:prstGeom prst="rect">
            <a:avLst/>
          </a:prstGeom>
          <a:noFill/>
          <a:ln>
            <a:noFill/>
          </a:ln>
        </p:spPr>
        <p:txBody>
          <a:bodyPr wrap="square" lIns="0" tIns="0" rIns="0" bIns="0" anchor="t">
            <a:spAutoFit/>
          </a:bodyPr>
          <a:lstStyle/>
          <a:p>
            <a:pPr algn="ctr">
              <a:lnSpc>
                <a:spcPct val="110000"/>
              </a:lnSpc>
              <a:spcBef>
                <a:spcPts val="0"/>
              </a:spcBef>
              <a:spcAft>
                <a:spcPts val="0"/>
              </a:spcAft>
            </a:pPr>
            <a:r>
              <a:rPr sz="2400" b="0" dirty="0">
                <a:latin typeface="TT Fors"/>
              </a:rPr>
              <a:t>Based on the uploaded SQL summary deck: patient-level totals n=458; lesion-level totals n=1,089.</a:t>
            </a:r>
          </a:p>
        </p:txBody>
      </p:sp>
      <p:sp>
        <p:nvSpPr>
          <p:cNvPr id="55" name="Rounded Rectangle 38">
            <a:extLst>
              <a:ext uri="{FF2B5EF4-FFF2-40B4-BE49-F238E27FC236}">
                <a16:creationId xmlns:a16="http://schemas.microsoft.com/office/drawing/2014/main" id="{B14C3BDB-51AC-C7FB-555E-3A544F78A742}"/>
              </a:ext>
            </a:extLst>
          </p:cNvPr>
          <p:cNvSpPr/>
          <p:nvPr/>
        </p:nvSpPr>
        <p:spPr>
          <a:xfrm>
            <a:off x="10887505" y="5849310"/>
            <a:ext cx="1371600" cy="258394"/>
          </a:xfrm>
          <a:prstGeom prst="roundRect">
            <a:avLst/>
          </a:prstGeom>
          <a:solidFill>
            <a:srgbClr val="112F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6" name="TextBox 55">
            <a:extLst>
              <a:ext uri="{FF2B5EF4-FFF2-40B4-BE49-F238E27FC236}">
                <a16:creationId xmlns:a16="http://schemas.microsoft.com/office/drawing/2014/main" id="{38199A1E-9C74-4A26-39A3-BBECC776BB51}"/>
              </a:ext>
            </a:extLst>
          </p:cNvPr>
          <p:cNvSpPr txBox="1"/>
          <p:nvPr/>
        </p:nvSpPr>
        <p:spPr>
          <a:xfrm>
            <a:off x="11008196" y="5833529"/>
            <a:ext cx="1027963" cy="297774"/>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b="1" dirty="0">
                <a:solidFill>
                  <a:srgbClr val="FFFFFF"/>
                </a:solidFill>
                <a:latin typeface="TT Fors Bold"/>
              </a:rPr>
              <a:t>Medium</a:t>
            </a:r>
          </a:p>
        </p:txBody>
      </p:sp>
      <p:sp>
        <p:nvSpPr>
          <p:cNvPr id="57" name="Rounded Rectangle 38">
            <a:extLst>
              <a:ext uri="{FF2B5EF4-FFF2-40B4-BE49-F238E27FC236}">
                <a16:creationId xmlns:a16="http://schemas.microsoft.com/office/drawing/2014/main" id="{8B71C454-ECC3-1019-C42E-B366B4A5C00F}"/>
              </a:ext>
            </a:extLst>
          </p:cNvPr>
          <p:cNvSpPr/>
          <p:nvPr/>
        </p:nvSpPr>
        <p:spPr>
          <a:xfrm>
            <a:off x="10879394" y="4410061"/>
            <a:ext cx="1371600" cy="258394"/>
          </a:xfrm>
          <a:prstGeom prst="round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8" name="TextBox 57">
            <a:extLst>
              <a:ext uri="{FF2B5EF4-FFF2-40B4-BE49-F238E27FC236}">
                <a16:creationId xmlns:a16="http://schemas.microsoft.com/office/drawing/2014/main" id="{D2786070-53D8-FDB9-ABB4-FF8881318AE7}"/>
              </a:ext>
            </a:extLst>
          </p:cNvPr>
          <p:cNvSpPr txBox="1"/>
          <p:nvPr/>
        </p:nvSpPr>
        <p:spPr>
          <a:xfrm>
            <a:off x="11016994" y="4381500"/>
            <a:ext cx="1027963" cy="297774"/>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lang="en-GB" b="1" dirty="0">
                <a:solidFill>
                  <a:srgbClr val="FFFFFF"/>
                </a:solidFill>
                <a:latin typeface="TT Fors Bold"/>
              </a:rPr>
              <a:t>High</a:t>
            </a:r>
            <a:endParaRPr b="1" dirty="0">
              <a:solidFill>
                <a:srgbClr val="FFFFFF"/>
              </a:solidFill>
              <a:latin typeface="TT Fors Bold"/>
            </a:endParaRPr>
          </a:p>
        </p:txBody>
      </p:sp>
      <p:sp>
        <p:nvSpPr>
          <p:cNvPr id="59" name="Rounded Rectangle 38">
            <a:extLst>
              <a:ext uri="{FF2B5EF4-FFF2-40B4-BE49-F238E27FC236}">
                <a16:creationId xmlns:a16="http://schemas.microsoft.com/office/drawing/2014/main" id="{6145F7D0-E8CA-DE14-44AA-B6FF512FB4E8}"/>
              </a:ext>
            </a:extLst>
          </p:cNvPr>
          <p:cNvSpPr/>
          <p:nvPr/>
        </p:nvSpPr>
        <p:spPr>
          <a:xfrm>
            <a:off x="10840702" y="2837459"/>
            <a:ext cx="1371600" cy="258394"/>
          </a:xfrm>
          <a:prstGeom prst="round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0" name="TextBox 59">
            <a:extLst>
              <a:ext uri="{FF2B5EF4-FFF2-40B4-BE49-F238E27FC236}">
                <a16:creationId xmlns:a16="http://schemas.microsoft.com/office/drawing/2014/main" id="{C2D311AF-DAFB-0A99-D0D1-A1E576A52336}"/>
              </a:ext>
            </a:extLst>
          </p:cNvPr>
          <p:cNvSpPr txBox="1"/>
          <p:nvPr/>
        </p:nvSpPr>
        <p:spPr>
          <a:xfrm>
            <a:off x="10963459" y="2840548"/>
            <a:ext cx="1027963" cy="297774"/>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lang="en-GB" b="1" dirty="0">
                <a:solidFill>
                  <a:srgbClr val="FFFFFF"/>
                </a:solidFill>
                <a:latin typeface="TT Fors Bold"/>
              </a:rPr>
              <a:t>High</a:t>
            </a:r>
            <a:endParaRPr b="1" dirty="0">
              <a:solidFill>
                <a:srgbClr val="FFFFFF"/>
              </a:solidFill>
              <a:latin typeface="TT Fors Bold"/>
            </a:endParaRPr>
          </a:p>
        </p:txBody>
      </p:sp>
      <p:sp>
        <p:nvSpPr>
          <p:cNvPr id="61" name="Rounded Rectangle 38">
            <a:extLst>
              <a:ext uri="{FF2B5EF4-FFF2-40B4-BE49-F238E27FC236}">
                <a16:creationId xmlns:a16="http://schemas.microsoft.com/office/drawing/2014/main" id="{B1CDA5C5-A0D2-2CAB-E0BC-B7FC89DD47D5}"/>
              </a:ext>
            </a:extLst>
          </p:cNvPr>
          <p:cNvSpPr/>
          <p:nvPr/>
        </p:nvSpPr>
        <p:spPr>
          <a:xfrm>
            <a:off x="10849897" y="1471365"/>
            <a:ext cx="1371600" cy="258394"/>
          </a:xfrm>
          <a:prstGeom prst="round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2" name="TextBox 61">
            <a:extLst>
              <a:ext uri="{FF2B5EF4-FFF2-40B4-BE49-F238E27FC236}">
                <a16:creationId xmlns:a16="http://schemas.microsoft.com/office/drawing/2014/main" id="{216E08C1-8FBD-B721-53A1-DA3E63F5BF95}"/>
              </a:ext>
            </a:extLst>
          </p:cNvPr>
          <p:cNvSpPr txBox="1"/>
          <p:nvPr/>
        </p:nvSpPr>
        <p:spPr>
          <a:xfrm>
            <a:off x="11002000" y="1488128"/>
            <a:ext cx="1027963" cy="297774"/>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lang="en-GB" b="1" dirty="0">
                <a:solidFill>
                  <a:srgbClr val="FFFFFF"/>
                </a:solidFill>
                <a:latin typeface="TT Fors Bold"/>
              </a:rPr>
              <a:t>High</a:t>
            </a:r>
            <a:endParaRPr b="1" dirty="0">
              <a:solidFill>
                <a:srgbClr val="FFFFFF"/>
              </a:solidFill>
              <a:latin typeface="TT Fors Bo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647E7306-B609-7211-84CA-B97F2C98AB4D}"/>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0B0998EA-AED8-F1A1-B8BB-613CB72DC696}"/>
              </a:ext>
            </a:extLst>
          </p:cNvPr>
          <p:cNvSpPr/>
          <p:nvPr/>
        </p:nvSpPr>
        <p:spPr>
          <a:xfrm>
            <a:off x="16184880" y="-1097280"/>
            <a:ext cx="3474720" cy="347472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Oval 2">
            <a:extLst>
              <a:ext uri="{FF2B5EF4-FFF2-40B4-BE49-F238E27FC236}">
                <a16:creationId xmlns:a16="http://schemas.microsoft.com/office/drawing/2014/main" id="{83260AFD-8016-C62B-1120-38B8CEEDABF1}"/>
              </a:ext>
            </a:extLst>
          </p:cNvPr>
          <p:cNvSpPr/>
          <p:nvPr/>
        </p:nvSpPr>
        <p:spPr>
          <a:xfrm>
            <a:off x="16550640" y="-548640"/>
            <a:ext cx="2377440" cy="2377440"/>
          </a:xfrm>
          <a:prstGeom prst="ellipse">
            <a:avLst/>
          </a:prstGeom>
          <a:noFill/>
          <a:ln w="15240">
            <a:solidFill>
              <a:srgbClr val="D6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5">
            <a:extLst>
              <a:ext uri="{FF2B5EF4-FFF2-40B4-BE49-F238E27FC236}">
                <a16:creationId xmlns:a16="http://schemas.microsoft.com/office/drawing/2014/main" id="{A356B3E8-0A05-44FD-C5C8-F18F78F192DA}"/>
              </a:ext>
            </a:extLst>
          </p:cNvPr>
          <p:cNvSpPr txBox="1"/>
          <p:nvPr/>
        </p:nvSpPr>
        <p:spPr>
          <a:xfrm>
            <a:off x="4929692" y="1145061"/>
            <a:ext cx="8528457" cy="4896973"/>
          </a:xfrm>
          <a:prstGeom prst="rect">
            <a:avLst/>
          </a:prstGeom>
        </p:spPr>
        <p:txBody>
          <a:bodyPr lIns="50800" tIns="50800" rIns="50800" bIns="50800" rtlCol="0" anchor="ctr"/>
          <a:lstStyle/>
          <a:p>
            <a:pPr marL="0" lvl="0" indent="0" algn="ctr">
              <a:lnSpc>
                <a:spcPts val="2520"/>
              </a:lnSpc>
              <a:spcBef>
                <a:spcPct val="0"/>
              </a:spcBef>
            </a:pPr>
            <a:endParaRPr lang="en-US" sz="5400" b="1" dirty="0">
              <a:solidFill>
                <a:srgbClr val="122359"/>
              </a:solidFill>
              <a:latin typeface="TT Fors Bold"/>
              <a:ea typeface="TT Fors Bold"/>
              <a:cs typeface="TT Fors Bold"/>
              <a:sym typeface="TT Fors Bold"/>
            </a:endParaRPr>
          </a:p>
          <a:p>
            <a:pPr marL="0" lvl="0" indent="0" algn="ctr">
              <a:lnSpc>
                <a:spcPts val="2520"/>
              </a:lnSpc>
              <a:spcBef>
                <a:spcPct val="0"/>
              </a:spcBef>
            </a:pPr>
            <a:endParaRPr lang="en-US" sz="5400" b="1" dirty="0">
              <a:solidFill>
                <a:srgbClr val="122359"/>
              </a:solidFill>
              <a:latin typeface="TT Fors Bold"/>
              <a:ea typeface="TT Fors Bold"/>
              <a:cs typeface="TT Fors Bold"/>
              <a:sym typeface="TT Fors Bold"/>
            </a:endParaRPr>
          </a:p>
          <a:p>
            <a:pPr marL="0" lvl="0" indent="0" algn="ctr">
              <a:lnSpc>
                <a:spcPts val="2520"/>
              </a:lnSpc>
              <a:spcBef>
                <a:spcPct val="0"/>
              </a:spcBef>
            </a:pPr>
            <a:endParaRPr lang="en-US" sz="5400" b="1" dirty="0">
              <a:solidFill>
                <a:srgbClr val="122359"/>
              </a:solidFill>
              <a:latin typeface="TT Fors Bold"/>
              <a:ea typeface="TT Fors Bold"/>
              <a:cs typeface="TT Fors Bold"/>
              <a:sym typeface="TT Fors Bold"/>
            </a:endParaRPr>
          </a:p>
          <a:p>
            <a:pPr marL="0" lvl="0" indent="0" algn="ctr">
              <a:lnSpc>
                <a:spcPts val="2520"/>
              </a:lnSpc>
              <a:spcBef>
                <a:spcPct val="0"/>
              </a:spcBef>
            </a:pPr>
            <a:r>
              <a:rPr lang="en-US" sz="5400" b="1" dirty="0">
                <a:solidFill>
                  <a:srgbClr val="122359"/>
                </a:solidFill>
                <a:latin typeface="TT Fors Bold"/>
                <a:ea typeface="TT Fors Bold"/>
                <a:cs typeface="TT Fors Bold"/>
                <a:sym typeface="TT Fors Bold"/>
              </a:rPr>
              <a:t>Thank you.</a:t>
            </a:r>
            <a:endParaRPr lang="en-US" sz="5400" b="1" u="none" strike="noStrike" dirty="0">
              <a:solidFill>
                <a:srgbClr val="122359"/>
              </a:solidFill>
              <a:latin typeface="TT Fors Bold"/>
              <a:ea typeface="TT Fors Bold"/>
              <a:cs typeface="TT Fors Bold"/>
              <a:sym typeface="TT Fors Bold"/>
            </a:endParaRPr>
          </a:p>
        </p:txBody>
      </p:sp>
      <p:grpSp>
        <p:nvGrpSpPr>
          <p:cNvPr id="5" name="Group 33">
            <a:extLst>
              <a:ext uri="{FF2B5EF4-FFF2-40B4-BE49-F238E27FC236}">
                <a16:creationId xmlns:a16="http://schemas.microsoft.com/office/drawing/2014/main" id="{23FBD89B-248B-DC81-7C50-46724F05D407}"/>
              </a:ext>
            </a:extLst>
          </p:cNvPr>
          <p:cNvGrpSpPr/>
          <p:nvPr/>
        </p:nvGrpSpPr>
        <p:grpSpPr>
          <a:xfrm>
            <a:off x="4929692" y="1806561"/>
            <a:ext cx="8528457" cy="4235473"/>
            <a:chOff x="0" y="0"/>
            <a:chExt cx="1095521" cy="243948"/>
          </a:xfrm>
        </p:grpSpPr>
        <p:sp>
          <p:nvSpPr>
            <p:cNvPr id="6" name="Freeform 34">
              <a:extLst>
                <a:ext uri="{FF2B5EF4-FFF2-40B4-BE49-F238E27FC236}">
                  <a16:creationId xmlns:a16="http://schemas.microsoft.com/office/drawing/2014/main" id="{D3AE4C8D-D79C-68FF-5B45-DE4FB88C92D2}"/>
                </a:ext>
              </a:extLst>
            </p:cNvPr>
            <p:cNvSpPr/>
            <p:nvPr/>
          </p:nvSpPr>
          <p:spPr>
            <a:xfrm>
              <a:off x="0" y="0"/>
              <a:ext cx="1095522" cy="243948"/>
            </a:xfrm>
            <a:custGeom>
              <a:avLst/>
              <a:gdLst/>
              <a:ahLst/>
              <a:cxnLst/>
              <a:rect l="l" t="t" r="r" b="b"/>
              <a:pathLst>
                <a:path w="1095522" h="243948">
                  <a:moveTo>
                    <a:pt x="121974" y="0"/>
                  </a:moveTo>
                  <a:lnTo>
                    <a:pt x="973548" y="0"/>
                  </a:lnTo>
                  <a:cubicBezTo>
                    <a:pt x="1040912" y="0"/>
                    <a:pt x="1095522" y="54610"/>
                    <a:pt x="1095522" y="121974"/>
                  </a:cubicBezTo>
                  <a:lnTo>
                    <a:pt x="1095522" y="121974"/>
                  </a:lnTo>
                  <a:cubicBezTo>
                    <a:pt x="1095522" y="154323"/>
                    <a:pt x="1082671" y="185348"/>
                    <a:pt x="1059796" y="208223"/>
                  </a:cubicBezTo>
                  <a:cubicBezTo>
                    <a:pt x="1036922" y="231097"/>
                    <a:pt x="1005897" y="243948"/>
                    <a:pt x="973548" y="243948"/>
                  </a:cubicBezTo>
                  <a:lnTo>
                    <a:pt x="121974" y="243948"/>
                  </a:lnTo>
                  <a:cubicBezTo>
                    <a:pt x="89624" y="243948"/>
                    <a:pt x="58600" y="231097"/>
                    <a:pt x="35725" y="208223"/>
                  </a:cubicBezTo>
                  <a:cubicBezTo>
                    <a:pt x="12851" y="185348"/>
                    <a:pt x="0" y="154323"/>
                    <a:pt x="0" y="121974"/>
                  </a:cubicBezTo>
                  <a:lnTo>
                    <a:pt x="0" y="121974"/>
                  </a:lnTo>
                  <a:cubicBezTo>
                    <a:pt x="0" y="89624"/>
                    <a:pt x="12851" y="58600"/>
                    <a:pt x="35725" y="35725"/>
                  </a:cubicBezTo>
                  <a:cubicBezTo>
                    <a:pt x="58600" y="12851"/>
                    <a:pt x="89624" y="0"/>
                    <a:pt x="121974" y="0"/>
                  </a:cubicBezTo>
                  <a:close/>
                </a:path>
              </a:pathLst>
            </a:custGeom>
            <a:solidFill>
              <a:srgbClr val="F68D55"/>
            </a:solidFill>
          </p:spPr>
          <p:txBody>
            <a:bodyPr/>
            <a:lstStyle/>
            <a:p>
              <a:endParaRPr lang="en-GB"/>
            </a:p>
          </p:txBody>
        </p:sp>
        <p:sp>
          <p:nvSpPr>
            <p:cNvPr id="7" name="TextBox 35">
              <a:extLst>
                <a:ext uri="{FF2B5EF4-FFF2-40B4-BE49-F238E27FC236}">
                  <a16:creationId xmlns:a16="http://schemas.microsoft.com/office/drawing/2014/main" id="{7938E3F5-A3BB-F2B1-EBE3-4989CF7ABA5B}"/>
                </a:ext>
              </a:extLst>
            </p:cNvPr>
            <p:cNvSpPr txBox="1"/>
            <p:nvPr/>
          </p:nvSpPr>
          <p:spPr>
            <a:xfrm>
              <a:off x="0" y="-38100"/>
              <a:ext cx="1095521" cy="282048"/>
            </a:xfrm>
            <a:prstGeom prst="rect">
              <a:avLst/>
            </a:prstGeom>
          </p:spPr>
          <p:txBody>
            <a:bodyPr lIns="50800" tIns="50800" rIns="50800" bIns="50800" rtlCol="0" anchor="ctr"/>
            <a:lstStyle/>
            <a:p>
              <a:pPr marL="0" lvl="0" indent="0" algn="ctr">
                <a:lnSpc>
                  <a:spcPts val="2520"/>
                </a:lnSpc>
                <a:spcBef>
                  <a:spcPct val="0"/>
                </a:spcBef>
              </a:pPr>
              <a:endParaRPr lang="en-US" sz="5400" b="1" dirty="0">
                <a:solidFill>
                  <a:srgbClr val="122359"/>
                </a:solidFill>
                <a:latin typeface="TT Fors Bold"/>
                <a:ea typeface="TT Fors Bold"/>
                <a:cs typeface="TT Fors Bold"/>
                <a:sym typeface="TT Fors Bold"/>
              </a:endParaRPr>
            </a:p>
            <a:p>
              <a:pPr marL="0" lvl="0" indent="0" algn="ctr">
                <a:lnSpc>
                  <a:spcPts val="2520"/>
                </a:lnSpc>
                <a:spcBef>
                  <a:spcPct val="0"/>
                </a:spcBef>
              </a:pPr>
              <a:endParaRPr lang="en-US" sz="5400" b="1" dirty="0">
                <a:solidFill>
                  <a:srgbClr val="122359"/>
                </a:solidFill>
                <a:latin typeface="TT Fors Bold"/>
                <a:ea typeface="TT Fors Bold"/>
                <a:cs typeface="TT Fors Bold"/>
                <a:sym typeface="TT Fors Bold"/>
              </a:endParaRPr>
            </a:p>
            <a:p>
              <a:pPr marL="0" lvl="0" indent="0" algn="ctr">
                <a:lnSpc>
                  <a:spcPts val="2520"/>
                </a:lnSpc>
                <a:spcBef>
                  <a:spcPct val="0"/>
                </a:spcBef>
              </a:pPr>
              <a:endParaRPr lang="en-US" sz="5400" b="1" dirty="0">
                <a:solidFill>
                  <a:srgbClr val="122359"/>
                </a:solidFill>
                <a:latin typeface="TT Fors Bold"/>
                <a:ea typeface="TT Fors Bold"/>
                <a:cs typeface="TT Fors Bold"/>
                <a:sym typeface="TT Fors Bold"/>
              </a:endParaRPr>
            </a:p>
            <a:p>
              <a:pPr marL="0" lvl="0" indent="0" algn="ctr">
                <a:lnSpc>
                  <a:spcPts val="2520"/>
                </a:lnSpc>
                <a:spcBef>
                  <a:spcPct val="0"/>
                </a:spcBef>
              </a:pPr>
              <a:r>
                <a:rPr lang="en-US" sz="5400" b="1" dirty="0">
                  <a:solidFill>
                    <a:srgbClr val="122359"/>
                  </a:solidFill>
                  <a:latin typeface="TT Fors Bold"/>
                  <a:ea typeface="TT Fors Bold"/>
                  <a:cs typeface="TT Fors Bold"/>
                  <a:sym typeface="TT Fors Bold"/>
                </a:rPr>
                <a:t>Thank you.</a:t>
              </a:r>
              <a:endParaRPr lang="en-US" sz="5400" b="1" u="none" strike="noStrike" dirty="0">
                <a:solidFill>
                  <a:srgbClr val="122359"/>
                </a:solidFill>
                <a:latin typeface="TT Fors Bold"/>
                <a:ea typeface="TT Fors Bold"/>
                <a:cs typeface="TT Fors Bold"/>
                <a:sym typeface="TT Fors Bold"/>
              </a:endParaRPr>
            </a:p>
          </p:txBody>
        </p:sp>
      </p:grpSp>
      <p:grpSp>
        <p:nvGrpSpPr>
          <p:cNvPr id="8" name="Group 5">
            <a:extLst>
              <a:ext uri="{FF2B5EF4-FFF2-40B4-BE49-F238E27FC236}">
                <a16:creationId xmlns:a16="http://schemas.microsoft.com/office/drawing/2014/main" id="{473D810C-6666-AFF2-06FB-5F74B08281F9}"/>
              </a:ext>
            </a:extLst>
          </p:cNvPr>
          <p:cNvGrpSpPr/>
          <p:nvPr/>
        </p:nvGrpSpPr>
        <p:grpSpPr>
          <a:xfrm rot="5400000">
            <a:off x="8996502" y="-2481400"/>
            <a:ext cx="142598" cy="17830802"/>
            <a:chOff x="0" y="0"/>
            <a:chExt cx="57626" cy="2693278"/>
          </a:xfrm>
        </p:grpSpPr>
        <p:sp>
          <p:nvSpPr>
            <p:cNvPr id="9" name="Freeform 6">
              <a:extLst>
                <a:ext uri="{FF2B5EF4-FFF2-40B4-BE49-F238E27FC236}">
                  <a16:creationId xmlns:a16="http://schemas.microsoft.com/office/drawing/2014/main" id="{6743FB36-EE66-2AFA-27E5-D657538A790A}"/>
                </a:ext>
              </a:extLst>
            </p:cNvPr>
            <p:cNvSpPr/>
            <p:nvPr/>
          </p:nvSpPr>
          <p:spPr>
            <a:xfrm>
              <a:off x="0" y="0"/>
              <a:ext cx="57626" cy="2693278"/>
            </a:xfrm>
            <a:custGeom>
              <a:avLst/>
              <a:gdLst/>
              <a:ahLst/>
              <a:cxnLst/>
              <a:rect l="l" t="t" r="r" b="b"/>
              <a:pathLst>
                <a:path w="57626" h="2693278">
                  <a:moveTo>
                    <a:pt x="0" y="0"/>
                  </a:moveTo>
                  <a:lnTo>
                    <a:pt x="57626" y="0"/>
                  </a:lnTo>
                  <a:lnTo>
                    <a:pt x="57626" y="2693278"/>
                  </a:lnTo>
                  <a:lnTo>
                    <a:pt x="0" y="2693278"/>
                  </a:lnTo>
                  <a:close/>
                </a:path>
              </a:pathLst>
            </a:custGeom>
            <a:solidFill>
              <a:srgbClr val="BEC8D9"/>
            </a:solidFill>
          </p:spPr>
          <p:txBody>
            <a:bodyPr/>
            <a:lstStyle/>
            <a:p>
              <a:endParaRPr lang="en-GB"/>
            </a:p>
          </p:txBody>
        </p:sp>
        <p:sp>
          <p:nvSpPr>
            <p:cNvPr id="10" name="TextBox 7">
              <a:extLst>
                <a:ext uri="{FF2B5EF4-FFF2-40B4-BE49-F238E27FC236}">
                  <a16:creationId xmlns:a16="http://schemas.microsoft.com/office/drawing/2014/main" id="{6FEAACC3-92B8-4555-B4E7-0B72A056F489}"/>
                </a:ext>
              </a:extLst>
            </p:cNvPr>
            <p:cNvSpPr txBox="1"/>
            <p:nvPr/>
          </p:nvSpPr>
          <p:spPr>
            <a:xfrm>
              <a:off x="0" y="-38100"/>
              <a:ext cx="57626" cy="2731378"/>
            </a:xfrm>
            <a:prstGeom prst="rect">
              <a:avLst/>
            </a:prstGeom>
          </p:spPr>
          <p:txBody>
            <a:bodyPr lIns="50800" tIns="50800" rIns="50800" bIns="50800" rtlCol="0" anchor="ctr"/>
            <a:lstStyle/>
            <a:p>
              <a:pPr algn="ctr">
                <a:lnSpc>
                  <a:spcPts val="2520"/>
                </a:lnSpc>
              </a:pPr>
              <a:endParaRPr/>
            </a:p>
          </p:txBody>
        </p:sp>
      </p:grpSp>
    </p:spTree>
    <p:extLst>
      <p:ext uri="{BB962C8B-B14F-4D97-AF65-F5344CB8AC3E}">
        <p14:creationId xmlns:p14="http://schemas.microsoft.com/office/powerpoint/2010/main" val="16210600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1907</Words>
  <Application>Microsoft Office PowerPoint</Application>
  <PresentationFormat>Custom</PresentationFormat>
  <Paragraphs>270</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TT Fors Bold</vt:lpstr>
      <vt:lpstr>TT Fors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Product Feature Comparison Infographic Presentation</dc:title>
  <cp:lastModifiedBy>Prisca Muoghalu</cp:lastModifiedBy>
  <cp:revision>21</cp:revision>
  <dcterms:created xsi:type="dcterms:W3CDTF">2006-08-16T00:00:00Z</dcterms:created>
  <dcterms:modified xsi:type="dcterms:W3CDTF">2026-06-11T16:09:06Z</dcterms:modified>
  <dc:identifier>DAHEbDfB4Uc</dc:identifier>
</cp:coreProperties>
</file>