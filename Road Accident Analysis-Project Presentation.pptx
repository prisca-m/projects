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8" r:id="rId6"/>
    <p:sldId id="264" r:id="rId7"/>
    <p:sldId id="269" r:id="rId8"/>
    <p:sldId id="270" r:id="rId9"/>
    <p:sldId id="276" r:id="rId10"/>
    <p:sldId id="286" r:id="rId11"/>
    <p:sldId id="271" r:id="rId12"/>
    <p:sldId id="277" r:id="rId13"/>
    <p:sldId id="272" r:id="rId14"/>
    <p:sldId id="278" r:id="rId15"/>
    <p:sldId id="282" r:id="rId16"/>
    <p:sldId id="280" r:id="rId17"/>
    <p:sldId id="274" r:id="rId18"/>
    <p:sldId id="281" r:id="rId19"/>
    <p:sldId id="283" r:id="rId20"/>
    <p:sldId id="284" r:id="rId21"/>
    <p:sldId id="285"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Muoghalu\Downloads\DATA%20SCIENCE%20TRAINING%20BY%2010ALYTICS\Road%20Accidents.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dirty="0"/>
              <a:t>Accident</a:t>
            </a:r>
            <a:r>
              <a:rPr lang="en-US" sz="1400" b="1" baseline="0" dirty="0"/>
              <a:t> Severity</a:t>
            </a:r>
            <a:endParaRPr lang="en-US" sz="1400" b="1" dirty="0"/>
          </a:p>
        </c:rich>
      </c:tx>
      <c:layout>
        <c:manualLayout>
          <c:xMode val="edge"/>
          <c:yMode val="edge"/>
          <c:x val="5.6168371805427234E-2"/>
          <c:y val="5.601308682848170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dLbls>
          <c:showLegendKey val="0"/>
          <c:showVal val="1"/>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a:t>Accident</a:t>
            </a:r>
            <a:r>
              <a:rPr lang="en-US" sz="1600" b="1" baseline="0"/>
              <a:t> Severity</a:t>
            </a:r>
            <a:endParaRPr lang="en-US" sz="1600" b="1"/>
          </a:p>
        </c:rich>
      </c:tx>
      <c:layout>
        <c:manualLayout>
          <c:xMode val="edge"/>
          <c:yMode val="edge"/>
          <c:x val="3.5562210627493231E-3"/>
          <c:y val="2.5287061825079622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'Total Number of Accidents'!$D$16</c:f>
              <c:strCache>
                <c:ptCount val="1"/>
                <c:pt idx="0">
                  <c:v>Relative 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DC4-4CE2-833E-F6DF24298F5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DC4-4CE2-833E-F6DF24298F5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DC4-4CE2-833E-F6DF24298F56}"/>
              </c:ext>
            </c:extLst>
          </c:dPt>
          <c:dLbls>
            <c:dLbl>
              <c:idx val="0"/>
              <c:layout>
                <c:manualLayout>
                  <c:x val="8.444444444444453E-2"/>
                  <c:y val="-8.29875518672199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C4-4CE2-833E-F6DF24298F56}"/>
                </c:ext>
              </c:extLst>
            </c:dLbl>
            <c:dLbl>
              <c:idx val="1"/>
              <c:layout>
                <c:manualLayout>
                  <c:x val="-0.12888888888888894"/>
                  <c:y val="7.19225449515904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C4-4CE2-833E-F6DF24298F56}"/>
                </c:ext>
              </c:extLst>
            </c:dLbl>
            <c:dLbl>
              <c:idx val="2"/>
              <c:layout>
                <c:manualLayout>
                  <c:x val="-4.4444444444444444E-3"/>
                  <c:y val="-0.1217150760719225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C4-4CE2-833E-F6DF24298F56}"/>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'Total Number of Accidents'!$B$17:$B$19</c:f>
              <c:strCache>
                <c:ptCount val="3"/>
                <c:pt idx="0">
                  <c:v>Serious</c:v>
                </c:pt>
                <c:pt idx="1">
                  <c:v>Slight</c:v>
                </c:pt>
                <c:pt idx="2">
                  <c:v>Fatal</c:v>
                </c:pt>
              </c:strCache>
            </c:strRef>
          </c:cat>
          <c:val>
            <c:numRef>
              <c:f>'Total Number of Accidents'!$D$17:$D$19</c:f>
              <c:numCache>
                <c:formatCode>0.00%</c:formatCode>
                <c:ptCount val="3"/>
                <c:pt idx="0">
                  <c:v>0.13187562505682335</c:v>
                </c:pt>
                <c:pt idx="1">
                  <c:v>0.85190861506890236</c:v>
                </c:pt>
                <c:pt idx="2">
                  <c:v>1.6215759874274285E-2</c:v>
                </c:pt>
              </c:numCache>
            </c:numRef>
          </c:val>
          <c:extLst>
            <c:ext xmlns:c16="http://schemas.microsoft.com/office/drawing/2014/chart" uri="{C3380CC4-5D6E-409C-BE32-E72D297353CC}">
              <c16:uniqueId val="{00000006-9DC4-4CE2-833E-F6DF24298F56}"/>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24652912990043774"/>
          <c:y val="0.88172371339515154"/>
          <c:w val="0.58585932861068535"/>
          <c:h val="8.7253158496428673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a:t>2021</a:t>
            </a:r>
            <a:r>
              <a:rPr lang="en-US" sz="1600" b="1" baseline="0"/>
              <a:t> vs 2022</a:t>
            </a:r>
            <a:endParaRPr lang="en-US" sz="1600" b="1"/>
          </a:p>
        </c:rich>
      </c:tx>
      <c:layout>
        <c:manualLayout>
          <c:xMode val="edge"/>
          <c:yMode val="edge"/>
          <c:x val="0.15416763726551475"/>
          <c:y val="2.7777777777777776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9163511599822939"/>
          <c:y val="0.22004447360746568"/>
          <c:w val="0.42807937006297819"/>
          <c:h val="0.52386883931175265"/>
        </c:manualLayout>
      </c:layout>
      <c:doughnutChart>
        <c:varyColors val="1"/>
        <c:ser>
          <c:idx val="0"/>
          <c:order val="0"/>
          <c:tx>
            <c:strRef>
              <c:f>'Total Number of Accidents'!$B$12</c:f>
              <c:strCache>
                <c:ptCount val="1"/>
                <c:pt idx="0">
                  <c:v>Relative 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9AF-43CA-9731-EDA63447892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9AF-43CA-9731-EDA63447892E}"/>
              </c:ext>
            </c:extLst>
          </c:dPt>
          <c:dLbls>
            <c:dLbl>
              <c:idx val="0"/>
              <c:layout>
                <c:manualLayout>
                  <c:x val="0.1000000000000001"/>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9AF-43CA-9731-EDA63447892E}"/>
                </c:ext>
              </c:extLst>
            </c:dLbl>
            <c:dLbl>
              <c:idx val="1"/>
              <c:layout>
                <c:manualLayout>
                  <c:x val="-9.7222222222222224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9AF-43CA-9731-EDA63447892E}"/>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'Total Number of Accidents'!$C$10:$D$10</c:f>
              <c:numCache>
                <c:formatCode>General</c:formatCode>
                <c:ptCount val="2"/>
                <c:pt idx="0">
                  <c:v>2021</c:v>
                </c:pt>
                <c:pt idx="1">
                  <c:v>2022</c:v>
                </c:pt>
              </c:numCache>
            </c:numRef>
          </c:cat>
          <c:val>
            <c:numRef>
              <c:f>'Total Number of Accidents'!$C$12:$D$12</c:f>
              <c:numCache>
                <c:formatCode>0.00%</c:formatCode>
                <c:ptCount val="2"/>
                <c:pt idx="0">
                  <c:v>0.53106451235826635</c:v>
                </c:pt>
                <c:pt idx="1">
                  <c:v>0.46893548764173365</c:v>
                </c:pt>
              </c:numCache>
            </c:numRef>
          </c:val>
          <c:extLst>
            <c:ext xmlns:c16="http://schemas.microsoft.com/office/drawing/2014/chart" uri="{C3380CC4-5D6E-409C-BE32-E72D297353CC}">
              <c16:uniqueId val="{00000004-F9AF-43CA-9731-EDA63447892E}"/>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1" dirty="0"/>
              <a:t>Casualties</a:t>
            </a:r>
            <a:r>
              <a:rPr lang="en-US" sz="1600" b="1" baseline="0" dirty="0"/>
              <a:t> by Vehicle Type</a:t>
            </a:r>
            <a:endParaRPr lang="en-US" sz="1600" b="1" dirty="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6061152484978461E-2"/>
          <c:y val="0.1628247902625112"/>
          <c:w val="0.80098756284198269"/>
          <c:h val="0.60169774903762541"/>
        </c:manualLayout>
      </c:layout>
      <c:barChart>
        <c:barDir val="col"/>
        <c:grouping val="clustered"/>
        <c:varyColors val="0"/>
        <c:ser>
          <c:idx val="0"/>
          <c:order val="0"/>
          <c:tx>
            <c:strRef>
              <c:f>'Accident Severity Factors 1'!$C$23</c:f>
              <c:strCache>
                <c:ptCount val="1"/>
                <c:pt idx="0">
                  <c:v>Frequency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'Accident Severity Factors 1'!$A$24:$A$28</c:f>
              <c:strCache>
                <c:ptCount val="5"/>
                <c:pt idx="0">
                  <c:v>Bus or coach (17 or more pass seats)</c:v>
                </c:pt>
                <c:pt idx="1">
                  <c:v>Car</c:v>
                </c:pt>
                <c:pt idx="2">
                  <c:v>Motorcycle 125cc and under</c:v>
                </c:pt>
                <c:pt idx="3">
                  <c:v>Motorcycle over 500cc</c:v>
                </c:pt>
                <c:pt idx="4">
                  <c:v>Van / Goods 3.5 tonnes mgw or under</c:v>
                </c:pt>
              </c:strCache>
            </c:strRef>
          </c:cat>
          <c:val>
            <c:numRef>
              <c:f>'Accident Severity Factors 1'!$C$24:$C$28</c:f>
              <c:numCache>
                <c:formatCode>0%</c:formatCode>
                <c:ptCount val="5"/>
                <c:pt idx="0">
                  <c:v>2.8022264658444249E-2</c:v>
                </c:pt>
                <c:pt idx="1">
                  <c:v>0.77993548417974456</c:v>
                </c:pt>
                <c:pt idx="2">
                  <c:v>2.1798019536615601E-2</c:v>
                </c:pt>
                <c:pt idx="3">
                  <c:v>3.6256646613158736E-2</c:v>
                </c:pt>
                <c:pt idx="4">
                  <c:v>5.0966540793812611E-2</c:v>
                </c:pt>
              </c:numCache>
            </c:numRef>
          </c:val>
          <c:extLst>
            <c:ext xmlns:c16="http://schemas.microsoft.com/office/drawing/2014/chart" uri="{C3380CC4-5D6E-409C-BE32-E72D297353CC}">
              <c16:uniqueId val="{00000000-F360-4D59-B8F1-B566AD89ADCD}"/>
            </c:ext>
          </c:extLst>
        </c:ser>
        <c:dLbls>
          <c:dLblPos val="outEnd"/>
          <c:showLegendKey val="0"/>
          <c:showVal val="1"/>
          <c:showCatName val="0"/>
          <c:showSerName val="0"/>
          <c:showPercent val="0"/>
          <c:showBubbleSize val="0"/>
        </c:dLbls>
        <c:gapWidth val="219"/>
        <c:overlap val="-27"/>
        <c:axId val="139633408"/>
        <c:axId val="139651712"/>
      </c:barChart>
      <c:catAx>
        <c:axId val="13963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39651712"/>
        <c:crosses val="autoZero"/>
        <c:auto val="1"/>
        <c:lblAlgn val="ctr"/>
        <c:lblOffset val="100"/>
        <c:noMultiLvlLbl val="0"/>
      </c:catAx>
      <c:valAx>
        <c:axId val="139651712"/>
        <c:scaling>
          <c:orientation val="minMax"/>
        </c:scaling>
        <c:delete val="1"/>
        <c:axPos val="l"/>
        <c:numFmt formatCode="0%" sourceLinked="1"/>
        <c:majorTickMark val="none"/>
        <c:minorTickMark val="none"/>
        <c:tickLblPos val="nextTo"/>
        <c:crossAx val="1396334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dirty="0"/>
              <a:t>Time</a:t>
            </a:r>
            <a:r>
              <a:rPr lang="en-US" sz="1600" b="1" baseline="0" dirty="0"/>
              <a:t> vs Accident Severity</a:t>
            </a:r>
            <a:endParaRPr lang="en-US" sz="1600" b="1" dirty="0"/>
          </a:p>
        </c:rich>
      </c:tx>
      <c:layout>
        <c:manualLayout>
          <c:xMode val="edge"/>
          <c:yMode val="edge"/>
          <c:x val="0.18301886792452826"/>
          <c:y val="5.997001499250374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36219228520604"/>
          <c:y val="0.1944429882044561"/>
          <c:w val="0.74268878054051124"/>
          <c:h val="0.60742442938504737"/>
        </c:manualLayout>
      </c:layout>
      <c:barChart>
        <c:barDir val="col"/>
        <c:grouping val="stacked"/>
        <c:varyColors val="0"/>
        <c:ser>
          <c:idx val="0"/>
          <c:order val="0"/>
          <c:tx>
            <c:strRef>
              <c:f>'Hotspots and Heatmaps 1'!$B$1</c:f>
              <c:strCache>
                <c:ptCount val="1"/>
                <c:pt idx="0">
                  <c:v>Fatal</c:v>
                </c:pt>
              </c:strCache>
            </c:strRef>
          </c:tx>
          <c:spPr>
            <a:solidFill>
              <a:schemeClr val="accent1"/>
            </a:solidFill>
            <a:ln>
              <a:noFill/>
            </a:ln>
            <a:effectLst/>
          </c:spPr>
          <c:invertIfNegative val="0"/>
          <c:cat>
            <c:strRef>
              <c:f>'Hotspots and Heatmaps 1'!$A$2:$A$5</c:f>
              <c:strCache>
                <c:ptCount val="4"/>
                <c:pt idx="0">
                  <c:v>Morning</c:v>
                </c:pt>
                <c:pt idx="1">
                  <c:v>Afternoon</c:v>
                </c:pt>
                <c:pt idx="2">
                  <c:v>Evening</c:v>
                </c:pt>
                <c:pt idx="3">
                  <c:v>Night</c:v>
                </c:pt>
              </c:strCache>
            </c:strRef>
          </c:cat>
          <c:val>
            <c:numRef>
              <c:f>'Hotspots and Heatmaps 1'!$B$2:$B$5</c:f>
              <c:numCache>
                <c:formatCode>General</c:formatCode>
                <c:ptCount val="4"/>
                <c:pt idx="0">
                  <c:v>1213</c:v>
                </c:pt>
                <c:pt idx="1">
                  <c:v>1791</c:v>
                </c:pt>
                <c:pt idx="2">
                  <c:v>1322</c:v>
                </c:pt>
                <c:pt idx="3">
                  <c:v>668</c:v>
                </c:pt>
              </c:numCache>
            </c:numRef>
          </c:val>
          <c:extLst>
            <c:ext xmlns:c16="http://schemas.microsoft.com/office/drawing/2014/chart" uri="{C3380CC4-5D6E-409C-BE32-E72D297353CC}">
              <c16:uniqueId val="{00000000-440E-473E-9DE2-939DD0F1C232}"/>
            </c:ext>
          </c:extLst>
        </c:ser>
        <c:ser>
          <c:idx val="1"/>
          <c:order val="1"/>
          <c:tx>
            <c:strRef>
              <c:f>'Hotspots and Heatmaps 1'!$C$1</c:f>
              <c:strCache>
                <c:ptCount val="1"/>
                <c:pt idx="0">
                  <c:v>Serious</c:v>
                </c:pt>
              </c:strCache>
            </c:strRef>
          </c:tx>
          <c:spPr>
            <a:solidFill>
              <a:schemeClr val="accent2"/>
            </a:solidFill>
            <a:ln>
              <a:noFill/>
            </a:ln>
            <a:effectLst/>
          </c:spPr>
          <c:invertIfNegative val="0"/>
          <c:cat>
            <c:strRef>
              <c:f>'Hotspots and Heatmaps 1'!$A$2:$A$5</c:f>
              <c:strCache>
                <c:ptCount val="4"/>
                <c:pt idx="0">
                  <c:v>Morning</c:v>
                </c:pt>
                <c:pt idx="1">
                  <c:v>Afternoon</c:v>
                </c:pt>
                <c:pt idx="2">
                  <c:v>Evening</c:v>
                </c:pt>
                <c:pt idx="3">
                  <c:v>Night</c:v>
                </c:pt>
              </c:strCache>
            </c:strRef>
          </c:cat>
          <c:val>
            <c:numRef>
              <c:f>'Hotspots and Heatmaps 1'!$C$2:$C$5</c:f>
              <c:numCache>
                <c:formatCode>General</c:formatCode>
                <c:ptCount val="4"/>
                <c:pt idx="0">
                  <c:v>10116</c:v>
                </c:pt>
                <c:pt idx="1">
                  <c:v>16752</c:v>
                </c:pt>
                <c:pt idx="2">
                  <c:v>10508</c:v>
                </c:pt>
                <c:pt idx="3">
                  <c:v>3238</c:v>
                </c:pt>
              </c:numCache>
            </c:numRef>
          </c:val>
          <c:extLst>
            <c:ext xmlns:c16="http://schemas.microsoft.com/office/drawing/2014/chart" uri="{C3380CC4-5D6E-409C-BE32-E72D297353CC}">
              <c16:uniqueId val="{00000001-440E-473E-9DE2-939DD0F1C232}"/>
            </c:ext>
          </c:extLst>
        </c:ser>
        <c:ser>
          <c:idx val="2"/>
          <c:order val="2"/>
          <c:tx>
            <c:strRef>
              <c:f>'Hotspots and Heatmaps 1'!$D$1</c:f>
              <c:strCache>
                <c:ptCount val="1"/>
                <c:pt idx="0">
                  <c:v>Slight</c:v>
                </c:pt>
              </c:strCache>
            </c:strRef>
          </c:tx>
          <c:spPr>
            <a:solidFill>
              <a:schemeClr val="accent3"/>
            </a:solidFill>
            <a:ln>
              <a:noFill/>
            </a:ln>
            <a:effectLst/>
          </c:spPr>
          <c:invertIfNegative val="0"/>
          <c:cat>
            <c:strRef>
              <c:f>'Hotspots and Heatmaps 1'!$A$2:$A$5</c:f>
              <c:strCache>
                <c:ptCount val="4"/>
                <c:pt idx="0">
                  <c:v>Morning</c:v>
                </c:pt>
                <c:pt idx="1">
                  <c:v>Afternoon</c:v>
                </c:pt>
                <c:pt idx="2">
                  <c:v>Evening</c:v>
                </c:pt>
                <c:pt idx="3">
                  <c:v>Night</c:v>
                </c:pt>
              </c:strCache>
            </c:strRef>
          </c:cat>
          <c:val>
            <c:numRef>
              <c:f>'Hotspots and Heatmaps 1'!$D$2:$D$5</c:f>
              <c:numCache>
                <c:formatCode>General</c:formatCode>
                <c:ptCount val="4"/>
                <c:pt idx="0">
                  <c:v>74549</c:v>
                </c:pt>
                <c:pt idx="1">
                  <c:v>113854</c:v>
                </c:pt>
                <c:pt idx="2">
                  <c:v>60475</c:v>
                </c:pt>
                <c:pt idx="3">
                  <c:v>13486</c:v>
                </c:pt>
              </c:numCache>
            </c:numRef>
          </c:val>
          <c:extLst>
            <c:ext xmlns:c16="http://schemas.microsoft.com/office/drawing/2014/chart" uri="{C3380CC4-5D6E-409C-BE32-E72D297353CC}">
              <c16:uniqueId val="{00000002-440E-473E-9DE2-939DD0F1C232}"/>
            </c:ext>
          </c:extLst>
        </c:ser>
        <c:dLbls>
          <c:showLegendKey val="0"/>
          <c:showVal val="0"/>
          <c:showCatName val="0"/>
          <c:showSerName val="0"/>
          <c:showPercent val="0"/>
          <c:showBubbleSize val="0"/>
        </c:dLbls>
        <c:gapWidth val="150"/>
        <c:overlap val="100"/>
        <c:axId val="1071651904"/>
        <c:axId val="1071651072"/>
      </c:barChart>
      <c:catAx>
        <c:axId val="1071651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071651072"/>
        <c:crosses val="autoZero"/>
        <c:auto val="1"/>
        <c:lblAlgn val="ctr"/>
        <c:lblOffset val="100"/>
        <c:noMultiLvlLbl val="0"/>
      </c:catAx>
      <c:valAx>
        <c:axId val="10716510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0716519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a:latin typeface="Georgia" panose="02040502050405020303" pitchFamily="18" charset="0"/>
              </a:rPr>
              <a:t>Road</a:t>
            </a:r>
            <a:r>
              <a:rPr lang="en-US" sz="1400" b="1" baseline="0">
                <a:latin typeface="Georgia" panose="02040502050405020303" pitchFamily="18" charset="0"/>
              </a:rPr>
              <a:t> Surface conditions vs Accident Severity</a:t>
            </a:r>
            <a:endParaRPr lang="en-US" sz="1400" b="1">
              <a:latin typeface="Georgia" panose="02040502050405020303" pitchFamily="18" charset="0"/>
            </a:endParaRPr>
          </a:p>
        </c:rich>
      </c:tx>
      <c:layout>
        <c:manualLayout>
          <c:xMode val="edge"/>
          <c:yMode val="edge"/>
          <c:x val="0.15994202360620183"/>
          <c:y val="6.3439689623189799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103663057859226"/>
          <c:y val="6.2149767440265666E-2"/>
          <c:w val="0.68815321997793755"/>
          <c:h val="0.72576224041599202"/>
        </c:manualLayout>
      </c:layout>
      <c:barChart>
        <c:barDir val="col"/>
        <c:grouping val="stacked"/>
        <c:varyColors val="0"/>
        <c:ser>
          <c:idx val="0"/>
          <c:order val="0"/>
          <c:tx>
            <c:strRef>
              <c:f>'Accident Severity Factors 1'!$B$14</c:f>
              <c:strCache>
                <c:ptCount val="1"/>
                <c:pt idx="0">
                  <c:v>Fatal</c:v>
                </c:pt>
              </c:strCache>
            </c:strRef>
          </c:tx>
          <c:spPr>
            <a:solidFill>
              <a:schemeClr val="accent1"/>
            </a:solidFill>
            <a:ln>
              <a:noFill/>
            </a:ln>
            <a:effectLst/>
          </c:spPr>
          <c:invertIfNegative val="0"/>
          <c:cat>
            <c:strRef>
              <c:f>'Accident Severity Factors 1'!$A$15:$A$20</c:f>
              <c:strCache>
                <c:ptCount val="6"/>
                <c:pt idx="0">
                  <c:v>Dry</c:v>
                </c:pt>
                <c:pt idx="1">
                  <c:v>Wet or damp</c:v>
                </c:pt>
                <c:pt idx="2">
                  <c:v>Frost or ice</c:v>
                </c:pt>
                <c:pt idx="3">
                  <c:v>Snow</c:v>
                </c:pt>
                <c:pt idx="4">
                  <c:v>Normal</c:v>
                </c:pt>
                <c:pt idx="5">
                  <c:v>Flood over 3cm. deep</c:v>
                </c:pt>
              </c:strCache>
            </c:strRef>
          </c:cat>
          <c:val>
            <c:numRef>
              <c:f>'Accident Severity Factors 1'!$B$15:$B$20</c:f>
              <c:numCache>
                <c:formatCode>General</c:formatCode>
                <c:ptCount val="6"/>
                <c:pt idx="0">
                  <c:v>3004</c:v>
                </c:pt>
                <c:pt idx="1">
                  <c:v>1667</c:v>
                </c:pt>
                <c:pt idx="2">
                  <c:v>238</c:v>
                </c:pt>
                <c:pt idx="3">
                  <c:v>69</c:v>
                </c:pt>
                <c:pt idx="4">
                  <c:v>2</c:v>
                </c:pt>
                <c:pt idx="5">
                  <c:v>14</c:v>
                </c:pt>
              </c:numCache>
            </c:numRef>
          </c:val>
          <c:extLst>
            <c:ext xmlns:c16="http://schemas.microsoft.com/office/drawing/2014/chart" uri="{C3380CC4-5D6E-409C-BE32-E72D297353CC}">
              <c16:uniqueId val="{00000000-1D43-400A-AE3E-7DBFE7E18114}"/>
            </c:ext>
          </c:extLst>
        </c:ser>
        <c:ser>
          <c:idx val="1"/>
          <c:order val="1"/>
          <c:tx>
            <c:strRef>
              <c:f>'Accident Severity Factors 1'!$C$14</c:f>
              <c:strCache>
                <c:ptCount val="1"/>
                <c:pt idx="0">
                  <c:v>Serious</c:v>
                </c:pt>
              </c:strCache>
            </c:strRef>
          </c:tx>
          <c:spPr>
            <a:solidFill>
              <a:schemeClr val="accent2"/>
            </a:solidFill>
            <a:ln>
              <a:noFill/>
            </a:ln>
            <a:effectLst/>
          </c:spPr>
          <c:invertIfNegative val="0"/>
          <c:cat>
            <c:strRef>
              <c:f>'Accident Severity Factors 1'!$A$15:$A$20</c:f>
              <c:strCache>
                <c:ptCount val="6"/>
                <c:pt idx="0">
                  <c:v>Dry</c:v>
                </c:pt>
                <c:pt idx="1">
                  <c:v>Wet or damp</c:v>
                </c:pt>
                <c:pt idx="2">
                  <c:v>Frost or ice</c:v>
                </c:pt>
                <c:pt idx="3">
                  <c:v>Snow</c:v>
                </c:pt>
                <c:pt idx="4">
                  <c:v>Normal</c:v>
                </c:pt>
                <c:pt idx="5">
                  <c:v>Flood over 3cm. deep</c:v>
                </c:pt>
              </c:strCache>
            </c:strRef>
          </c:cat>
          <c:val>
            <c:numRef>
              <c:f>'Accident Severity Factors 1'!$C$15:$C$20</c:f>
              <c:numCache>
                <c:formatCode>General</c:formatCode>
                <c:ptCount val="6"/>
                <c:pt idx="0">
                  <c:v>28662</c:v>
                </c:pt>
                <c:pt idx="1">
                  <c:v>10196</c:v>
                </c:pt>
                <c:pt idx="2">
                  <c:v>1246</c:v>
                </c:pt>
                <c:pt idx="3">
                  <c:v>438</c:v>
                </c:pt>
                <c:pt idx="4">
                  <c:v>19</c:v>
                </c:pt>
                <c:pt idx="5">
                  <c:v>53</c:v>
                </c:pt>
              </c:numCache>
            </c:numRef>
          </c:val>
          <c:extLst>
            <c:ext xmlns:c16="http://schemas.microsoft.com/office/drawing/2014/chart" uri="{C3380CC4-5D6E-409C-BE32-E72D297353CC}">
              <c16:uniqueId val="{00000001-1D43-400A-AE3E-7DBFE7E18114}"/>
            </c:ext>
          </c:extLst>
        </c:ser>
        <c:ser>
          <c:idx val="2"/>
          <c:order val="2"/>
          <c:tx>
            <c:strRef>
              <c:f>'Accident Severity Factors 1'!$D$14</c:f>
              <c:strCache>
                <c:ptCount val="1"/>
                <c:pt idx="0">
                  <c:v>Slight</c:v>
                </c:pt>
              </c:strCache>
            </c:strRef>
          </c:tx>
          <c:spPr>
            <a:solidFill>
              <a:schemeClr val="accent3"/>
            </a:solidFill>
            <a:ln>
              <a:noFill/>
            </a:ln>
            <a:effectLst/>
          </c:spPr>
          <c:invertIfNegative val="0"/>
          <c:cat>
            <c:strRef>
              <c:f>'Accident Severity Factors 1'!$A$15:$A$20</c:f>
              <c:strCache>
                <c:ptCount val="6"/>
                <c:pt idx="0">
                  <c:v>Dry</c:v>
                </c:pt>
                <c:pt idx="1">
                  <c:v>Wet or damp</c:v>
                </c:pt>
                <c:pt idx="2">
                  <c:v>Frost or ice</c:v>
                </c:pt>
                <c:pt idx="3">
                  <c:v>Snow</c:v>
                </c:pt>
                <c:pt idx="4">
                  <c:v>Normal</c:v>
                </c:pt>
                <c:pt idx="5">
                  <c:v>Flood over 3cm. deep</c:v>
                </c:pt>
              </c:strCache>
            </c:strRef>
          </c:cat>
          <c:val>
            <c:numRef>
              <c:f>'Accident Severity Factors 1'!$D$15:$D$20</c:f>
              <c:numCache>
                <c:formatCode>General</c:formatCode>
                <c:ptCount val="6"/>
                <c:pt idx="0">
                  <c:v>177301</c:v>
                </c:pt>
                <c:pt idx="1">
                  <c:v>69616</c:v>
                </c:pt>
                <c:pt idx="2">
                  <c:v>10593</c:v>
                </c:pt>
                <c:pt idx="3">
                  <c:v>4251</c:v>
                </c:pt>
                <c:pt idx="4">
                  <c:v>296</c:v>
                </c:pt>
                <c:pt idx="5">
                  <c:v>307</c:v>
                </c:pt>
              </c:numCache>
            </c:numRef>
          </c:val>
          <c:extLst>
            <c:ext xmlns:c16="http://schemas.microsoft.com/office/drawing/2014/chart" uri="{C3380CC4-5D6E-409C-BE32-E72D297353CC}">
              <c16:uniqueId val="{00000002-1D43-400A-AE3E-7DBFE7E18114}"/>
            </c:ext>
          </c:extLst>
        </c:ser>
        <c:dLbls>
          <c:showLegendKey val="0"/>
          <c:showVal val="0"/>
          <c:showCatName val="0"/>
          <c:showSerName val="0"/>
          <c:showPercent val="0"/>
          <c:showBubbleSize val="0"/>
        </c:dLbls>
        <c:gapWidth val="150"/>
        <c:overlap val="100"/>
        <c:axId val="139331840"/>
        <c:axId val="139337728"/>
      </c:barChart>
      <c:catAx>
        <c:axId val="139331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337728"/>
        <c:crosses val="autoZero"/>
        <c:auto val="1"/>
        <c:lblAlgn val="ctr"/>
        <c:lblOffset val="100"/>
        <c:noMultiLvlLbl val="0"/>
      </c:catAx>
      <c:valAx>
        <c:axId val="1393377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331840"/>
        <c:crosses val="autoZero"/>
        <c:crossBetween val="between"/>
      </c:valAx>
      <c:spPr>
        <a:noFill/>
        <a:ln>
          <a:noFill/>
        </a:ln>
        <a:effectLst/>
      </c:spPr>
    </c:plotArea>
    <c:legend>
      <c:legendPos val="b"/>
      <c:layout>
        <c:manualLayout>
          <c:xMode val="edge"/>
          <c:yMode val="edge"/>
          <c:x val="0.34460985278543171"/>
          <c:y val="0.91251462410956674"/>
          <c:w val="0.32191680369907488"/>
          <c:h val="6.4538510531617438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1" dirty="0"/>
              <a:t>Weather</a:t>
            </a:r>
            <a:r>
              <a:rPr lang="en-US" sz="1600" b="1" baseline="0" dirty="0"/>
              <a:t> conditions vs Accident Severity</a:t>
            </a:r>
            <a:endParaRPr lang="en-US" sz="1600" b="1" dirty="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151290463692046"/>
          <c:y val="0.20794074074074073"/>
          <c:w val="0.65645235868454777"/>
          <c:h val="0.55707867331723737"/>
        </c:manualLayout>
      </c:layout>
      <c:barChart>
        <c:barDir val="bar"/>
        <c:grouping val="stacked"/>
        <c:varyColors val="0"/>
        <c:ser>
          <c:idx val="0"/>
          <c:order val="0"/>
          <c:tx>
            <c:strRef>
              <c:f>'Accident Severity Factors 1'!$H$1</c:f>
              <c:strCache>
                <c:ptCount val="1"/>
                <c:pt idx="0">
                  <c:v>Fatal</c:v>
                </c:pt>
              </c:strCache>
            </c:strRef>
          </c:tx>
          <c:spPr>
            <a:solidFill>
              <a:schemeClr val="accent1"/>
            </a:solidFill>
            <a:ln>
              <a:noFill/>
            </a:ln>
            <a:effectLst/>
          </c:spPr>
          <c:invertIfNegative val="0"/>
          <c:cat>
            <c:strRef>
              <c:f>'Accident Severity Factors 1'!$G$2:$G$9</c:f>
              <c:strCache>
                <c:ptCount val="8"/>
                <c:pt idx="0">
                  <c:v>Fine no high winds</c:v>
                </c:pt>
                <c:pt idx="1">
                  <c:v>Raining no high winds</c:v>
                </c:pt>
                <c:pt idx="2">
                  <c:v>Other</c:v>
                </c:pt>
                <c:pt idx="3">
                  <c:v>Fog or mist</c:v>
                </c:pt>
                <c:pt idx="4">
                  <c:v>Raining + high winds</c:v>
                </c:pt>
                <c:pt idx="5">
                  <c:v>Fine + high winds</c:v>
                </c:pt>
                <c:pt idx="6">
                  <c:v>Snowing no high winds</c:v>
                </c:pt>
                <c:pt idx="7">
                  <c:v>Snowing + high winds</c:v>
                </c:pt>
              </c:strCache>
            </c:strRef>
          </c:cat>
          <c:val>
            <c:numRef>
              <c:f>'Accident Severity Factors 1'!$H$2:$H$9</c:f>
              <c:numCache>
                <c:formatCode>General</c:formatCode>
                <c:ptCount val="8"/>
                <c:pt idx="0">
                  <c:v>3964</c:v>
                </c:pt>
                <c:pt idx="1">
                  <c:v>497</c:v>
                </c:pt>
                <c:pt idx="2">
                  <c:v>236</c:v>
                </c:pt>
                <c:pt idx="3">
                  <c:v>136</c:v>
                </c:pt>
                <c:pt idx="4">
                  <c:v>54</c:v>
                </c:pt>
                <c:pt idx="5">
                  <c:v>57</c:v>
                </c:pt>
                <c:pt idx="6">
                  <c:v>46</c:v>
                </c:pt>
                <c:pt idx="7">
                  <c:v>4</c:v>
                </c:pt>
              </c:numCache>
            </c:numRef>
          </c:val>
          <c:extLst>
            <c:ext xmlns:c16="http://schemas.microsoft.com/office/drawing/2014/chart" uri="{C3380CC4-5D6E-409C-BE32-E72D297353CC}">
              <c16:uniqueId val="{00000000-C6BF-46F8-AD2D-872B18FA738D}"/>
            </c:ext>
          </c:extLst>
        </c:ser>
        <c:ser>
          <c:idx val="1"/>
          <c:order val="1"/>
          <c:tx>
            <c:strRef>
              <c:f>'Accident Severity Factors 1'!$I$1</c:f>
              <c:strCache>
                <c:ptCount val="1"/>
                <c:pt idx="0">
                  <c:v>Serious</c:v>
                </c:pt>
              </c:strCache>
            </c:strRef>
          </c:tx>
          <c:spPr>
            <a:solidFill>
              <a:schemeClr val="accent2"/>
            </a:solidFill>
            <a:ln>
              <a:noFill/>
            </a:ln>
            <a:effectLst/>
          </c:spPr>
          <c:invertIfNegative val="0"/>
          <c:cat>
            <c:strRef>
              <c:f>'Accident Severity Factors 1'!$G$2:$G$9</c:f>
              <c:strCache>
                <c:ptCount val="8"/>
                <c:pt idx="0">
                  <c:v>Fine no high winds</c:v>
                </c:pt>
                <c:pt idx="1">
                  <c:v>Raining no high winds</c:v>
                </c:pt>
                <c:pt idx="2">
                  <c:v>Other</c:v>
                </c:pt>
                <c:pt idx="3">
                  <c:v>Fog or mist</c:v>
                </c:pt>
                <c:pt idx="4">
                  <c:v>Raining + high winds</c:v>
                </c:pt>
                <c:pt idx="5">
                  <c:v>Fine + high winds</c:v>
                </c:pt>
                <c:pt idx="6">
                  <c:v>Snowing no high winds</c:v>
                </c:pt>
                <c:pt idx="7">
                  <c:v>Snowing + high winds</c:v>
                </c:pt>
              </c:strCache>
            </c:strRef>
          </c:cat>
          <c:val>
            <c:numRef>
              <c:f>'Accident Severity Factors 1'!$I$2:$I$9</c:f>
              <c:numCache>
                <c:formatCode>General</c:formatCode>
                <c:ptCount val="8"/>
                <c:pt idx="0">
                  <c:v>33577</c:v>
                </c:pt>
                <c:pt idx="1">
                  <c:v>4083</c:v>
                </c:pt>
                <c:pt idx="2">
                  <c:v>1396</c:v>
                </c:pt>
                <c:pt idx="3">
                  <c:v>211</c:v>
                </c:pt>
                <c:pt idx="4">
                  <c:v>440</c:v>
                </c:pt>
                <c:pt idx="5">
                  <c:v>431</c:v>
                </c:pt>
                <c:pt idx="6">
                  <c:v>416</c:v>
                </c:pt>
                <c:pt idx="7">
                  <c:v>60</c:v>
                </c:pt>
              </c:numCache>
            </c:numRef>
          </c:val>
          <c:extLst>
            <c:ext xmlns:c16="http://schemas.microsoft.com/office/drawing/2014/chart" uri="{C3380CC4-5D6E-409C-BE32-E72D297353CC}">
              <c16:uniqueId val="{00000001-C6BF-46F8-AD2D-872B18FA738D}"/>
            </c:ext>
          </c:extLst>
        </c:ser>
        <c:ser>
          <c:idx val="2"/>
          <c:order val="2"/>
          <c:tx>
            <c:strRef>
              <c:f>'Accident Severity Factors 1'!$J$1</c:f>
              <c:strCache>
                <c:ptCount val="1"/>
                <c:pt idx="0">
                  <c:v>Slight</c:v>
                </c:pt>
              </c:strCache>
            </c:strRef>
          </c:tx>
          <c:spPr>
            <a:solidFill>
              <a:schemeClr val="accent3"/>
            </a:solidFill>
            <a:ln>
              <a:noFill/>
            </a:ln>
            <a:effectLst/>
          </c:spPr>
          <c:invertIfNegative val="0"/>
          <c:cat>
            <c:strRef>
              <c:f>'Accident Severity Factors 1'!$G$2:$G$9</c:f>
              <c:strCache>
                <c:ptCount val="8"/>
                <c:pt idx="0">
                  <c:v>Fine no high winds</c:v>
                </c:pt>
                <c:pt idx="1">
                  <c:v>Raining no high winds</c:v>
                </c:pt>
                <c:pt idx="2">
                  <c:v>Other</c:v>
                </c:pt>
                <c:pt idx="3">
                  <c:v>Fog or mist</c:v>
                </c:pt>
                <c:pt idx="4">
                  <c:v>Raining + high winds</c:v>
                </c:pt>
                <c:pt idx="5">
                  <c:v>Fine + high winds</c:v>
                </c:pt>
                <c:pt idx="6">
                  <c:v>Snowing no high winds</c:v>
                </c:pt>
                <c:pt idx="7">
                  <c:v>Snowing + high winds</c:v>
                </c:pt>
              </c:strCache>
            </c:strRef>
          </c:cat>
          <c:val>
            <c:numRef>
              <c:f>'Accident Severity Factors 1'!$J$2:$J$9</c:f>
              <c:numCache>
                <c:formatCode>General</c:formatCode>
                <c:ptCount val="8"/>
                <c:pt idx="0">
                  <c:v>206954</c:v>
                </c:pt>
                <c:pt idx="1">
                  <c:v>30297</c:v>
                </c:pt>
                <c:pt idx="2">
                  <c:v>13227</c:v>
                </c:pt>
                <c:pt idx="3">
                  <c:v>1343</c:v>
                </c:pt>
                <c:pt idx="4">
                  <c:v>3032</c:v>
                </c:pt>
                <c:pt idx="5">
                  <c:v>2660</c:v>
                </c:pt>
                <c:pt idx="6">
                  <c:v>4377</c:v>
                </c:pt>
                <c:pt idx="7">
                  <c:v>474</c:v>
                </c:pt>
              </c:numCache>
            </c:numRef>
          </c:val>
          <c:extLst>
            <c:ext xmlns:c16="http://schemas.microsoft.com/office/drawing/2014/chart" uri="{C3380CC4-5D6E-409C-BE32-E72D297353CC}">
              <c16:uniqueId val="{00000002-C6BF-46F8-AD2D-872B18FA738D}"/>
            </c:ext>
          </c:extLst>
        </c:ser>
        <c:ser>
          <c:idx val="3"/>
          <c:order val="3"/>
          <c:tx>
            <c:strRef>
              <c:f>'Accident Severity Factors 1'!$K$1</c:f>
              <c:strCache>
                <c:ptCount val="1"/>
                <c:pt idx="0">
                  <c:v>Total</c:v>
                </c:pt>
              </c:strCache>
            </c:strRef>
          </c:tx>
          <c:spPr>
            <a:solidFill>
              <a:schemeClr val="accent4"/>
            </a:solidFill>
            <a:ln>
              <a:noFill/>
            </a:ln>
            <a:effectLst/>
          </c:spPr>
          <c:invertIfNegative val="0"/>
          <c:cat>
            <c:strRef>
              <c:f>'Accident Severity Factors 1'!$G$2:$G$9</c:f>
              <c:strCache>
                <c:ptCount val="8"/>
                <c:pt idx="0">
                  <c:v>Fine no high winds</c:v>
                </c:pt>
                <c:pt idx="1">
                  <c:v>Raining no high winds</c:v>
                </c:pt>
                <c:pt idx="2">
                  <c:v>Other</c:v>
                </c:pt>
                <c:pt idx="3">
                  <c:v>Fog or mist</c:v>
                </c:pt>
                <c:pt idx="4">
                  <c:v>Raining + high winds</c:v>
                </c:pt>
                <c:pt idx="5">
                  <c:v>Fine + high winds</c:v>
                </c:pt>
                <c:pt idx="6">
                  <c:v>Snowing no high winds</c:v>
                </c:pt>
                <c:pt idx="7">
                  <c:v>Snowing + high winds</c:v>
                </c:pt>
              </c:strCache>
            </c:strRef>
          </c:cat>
          <c:val>
            <c:numRef>
              <c:f>'Accident Severity Factors 1'!$K$2:$K$9</c:f>
              <c:numCache>
                <c:formatCode>General</c:formatCode>
                <c:ptCount val="8"/>
                <c:pt idx="0">
                  <c:v>244495</c:v>
                </c:pt>
                <c:pt idx="1">
                  <c:v>34877</c:v>
                </c:pt>
                <c:pt idx="2">
                  <c:v>14859</c:v>
                </c:pt>
                <c:pt idx="3">
                  <c:v>1690</c:v>
                </c:pt>
                <c:pt idx="4">
                  <c:v>3526</c:v>
                </c:pt>
                <c:pt idx="5">
                  <c:v>3148</c:v>
                </c:pt>
                <c:pt idx="6">
                  <c:v>4839</c:v>
                </c:pt>
                <c:pt idx="7">
                  <c:v>538</c:v>
                </c:pt>
              </c:numCache>
            </c:numRef>
          </c:val>
          <c:extLst>
            <c:ext xmlns:c16="http://schemas.microsoft.com/office/drawing/2014/chart" uri="{C3380CC4-5D6E-409C-BE32-E72D297353CC}">
              <c16:uniqueId val="{00000003-C6BF-46F8-AD2D-872B18FA738D}"/>
            </c:ext>
          </c:extLst>
        </c:ser>
        <c:dLbls>
          <c:showLegendKey val="0"/>
          <c:showVal val="0"/>
          <c:showCatName val="0"/>
          <c:showSerName val="0"/>
          <c:showPercent val="0"/>
          <c:showBubbleSize val="0"/>
        </c:dLbls>
        <c:gapWidth val="150"/>
        <c:overlap val="100"/>
        <c:axId val="139489664"/>
        <c:axId val="139491200"/>
      </c:barChart>
      <c:catAx>
        <c:axId val="139489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91200"/>
        <c:crosses val="autoZero"/>
        <c:auto val="1"/>
        <c:lblAlgn val="ctr"/>
        <c:lblOffset val="100"/>
        <c:noMultiLvlLbl val="0"/>
      </c:catAx>
      <c:valAx>
        <c:axId val="13949120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89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a:latin typeface="Georgia" panose="02040502050405020303" pitchFamily="18" charset="0"/>
              </a:rPr>
              <a:t>Speed</a:t>
            </a:r>
            <a:r>
              <a:rPr lang="en-US" sz="1400" b="1" baseline="0">
                <a:latin typeface="Georgia" panose="02040502050405020303" pitchFamily="18" charset="0"/>
              </a:rPr>
              <a:t> Limit vs Accident Severity</a:t>
            </a:r>
            <a:endParaRPr lang="en-US" sz="1400" b="1">
              <a:latin typeface="Georgia" panose="02040502050405020303" pitchFamily="18" charset="0"/>
            </a:endParaRPr>
          </a:p>
        </c:rich>
      </c:tx>
      <c:layout>
        <c:manualLayout>
          <c:xMode val="edge"/>
          <c:yMode val="edge"/>
          <c:x val="7.4112987283718998E-2"/>
          <c:y val="8.9696400780613139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'Accident Severity Factors 1'!$I$14</c:f>
              <c:strCache>
                <c:ptCount val="1"/>
                <c:pt idx="0">
                  <c:v>Fatal</c:v>
                </c:pt>
              </c:strCache>
            </c:strRef>
          </c:tx>
          <c:spPr>
            <a:solidFill>
              <a:schemeClr val="accent1"/>
            </a:solidFill>
            <a:ln>
              <a:noFill/>
            </a:ln>
            <a:effectLst/>
          </c:spPr>
          <c:invertIfNegative val="0"/>
          <c:cat>
            <c:numRef>
              <c:f>'Accident Severity Factors 1'!$H$15:$H$22</c:f>
              <c:numCache>
                <c:formatCode>General</c:formatCode>
                <c:ptCount val="8"/>
                <c:pt idx="0">
                  <c:v>10</c:v>
                </c:pt>
                <c:pt idx="1">
                  <c:v>15</c:v>
                </c:pt>
                <c:pt idx="2">
                  <c:v>20</c:v>
                </c:pt>
                <c:pt idx="3">
                  <c:v>30</c:v>
                </c:pt>
                <c:pt idx="4">
                  <c:v>40</c:v>
                </c:pt>
                <c:pt idx="5">
                  <c:v>50</c:v>
                </c:pt>
                <c:pt idx="6">
                  <c:v>60</c:v>
                </c:pt>
                <c:pt idx="7">
                  <c:v>70</c:v>
                </c:pt>
              </c:numCache>
            </c:numRef>
          </c:cat>
          <c:val>
            <c:numRef>
              <c:f>'Accident Severity Factors 1'!$I$15:$I$22</c:f>
              <c:numCache>
                <c:formatCode>0</c:formatCode>
                <c:ptCount val="8"/>
                <c:pt idx="0">
                  <c:v>0</c:v>
                </c:pt>
                <c:pt idx="1">
                  <c:v>0</c:v>
                </c:pt>
                <c:pt idx="2">
                  <c:v>20</c:v>
                </c:pt>
                <c:pt idx="3">
                  <c:v>2186</c:v>
                </c:pt>
                <c:pt idx="4">
                  <c:v>457</c:v>
                </c:pt>
                <c:pt idx="5">
                  <c:v>247</c:v>
                </c:pt>
                <c:pt idx="6">
                  <c:v>1473</c:v>
                </c:pt>
                <c:pt idx="7">
                  <c:v>611</c:v>
                </c:pt>
              </c:numCache>
            </c:numRef>
          </c:val>
          <c:extLst>
            <c:ext xmlns:c16="http://schemas.microsoft.com/office/drawing/2014/chart" uri="{C3380CC4-5D6E-409C-BE32-E72D297353CC}">
              <c16:uniqueId val="{00000000-0ABD-418B-8E9D-19F21F937854}"/>
            </c:ext>
          </c:extLst>
        </c:ser>
        <c:ser>
          <c:idx val="1"/>
          <c:order val="1"/>
          <c:tx>
            <c:strRef>
              <c:f>'Accident Severity Factors 1'!$J$14</c:f>
              <c:strCache>
                <c:ptCount val="1"/>
                <c:pt idx="0">
                  <c:v>Serious</c:v>
                </c:pt>
              </c:strCache>
            </c:strRef>
          </c:tx>
          <c:spPr>
            <a:solidFill>
              <a:schemeClr val="accent2"/>
            </a:solidFill>
            <a:ln>
              <a:noFill/>
            </a:ln>
            <a:effectLst/>
          </c:spPr>
          <c:invertIfNegative val="0"/>
          <c:cat>
            <c:numRef>
              <c:f>'Accident Severity Factors 1'!$H$15:$H$22</c:f>
              <c:numCache>
                <c:formatCode>General</c:formatCode>
                <c:ptCount val="8"/>
                <c:pt idx="0">
                  <c:v>10</c:v>
                </c:pt>
                <c:pt idx="1">
                  <c:v>15</c:v>
                </c:pt>
                <c:pt idx="2">
                  <c:v>20</c:v>
                </c:pt>
                <c:pt idx="3">
                  <c:v>30</c:v>
                </c:pt>
                <c:pt idx="4">
                  <c:v>40</c:v>
                </c:pt>
                <c:pt idx="5">
                  <c:v>50</c:v>
                </c:pt>
                <c:pt idx="6">
                  <c:v>60</c:v>
                </c:pt>
                <c:pt idx="7">
                  <c:v>70</c:v>
                </c:pt>
              </c:numCache>
            </c:numRef>
          </c:cat>
          <c:val>
            <c:numRef>
              <c:f>'Accident Severity Factors 1'!$J$15:$J$22</c:f>
              <c:numCache>
                <c:formatCode>General</c:formatCode>
                <c:ptCount val="8"/>
                <c:pt idx="0">
                  <c:v>0</c:v>
                </c:pt>
                <c:pt idx="1">
                  <c:v>0</c:v>
                </c:pt>
                <c:pt idx="2">
                  <c:v>377</c:v>
                </c:pt>
                <c:pt idx="3">
                  <c:v>23998</c:v>
                </c:pt>
                <c:pt idx="4">
                  <c:v>3285</c:v>
                </c:pt>
                <c:pt idx="5">
                  <c:v>1462</c:v>
                </c:pt>
                <c:pt idx="6">
                  <c:v>8793</c:v>
                </c:pt>
                <c:pt idx="7">
                  <c:v>2699</c:v>
                </c:pt>
              </c:numCache>
            </c:numRef>
          </c:val>
          <c:extLst>
            <c:ext xmlns:c16="http://schemas.microsoft.com/office/drawing/2014/chart" uri="{C3380CC4-5D6E-409C-BE32-E72D297353CC}">
              <c16:uniqueId val="{00000001-0ABD-418B-8E9D-19F21F937854}"/>
            </c:ext>
          </c:extLst>
        </c:ser>
        <c:ser>
          <c:idx val="2"/>
          <c:order val="2"/>
          <c:tx>
            <c:strRef>
              <c:f>'Accident Severity Factors 1'!$K$14</c:f>
              <c:strCache>
                <c:ptCount val="1"/>
                <c:pt idx="0">
                  <c:v>Slight</c:v>
                </c:pt>
              </c:strCache>
            </c:strRef>
          </c:tx>
          <c:spPr>
            <a:solidFill>
              <a:schemeClr val="accent3"/>
            </a:solidFill>
            <a:ln>
              <a:noFill/>
            </a:ln>
            <a:effectLst/>
          </c:spPr>
          <c:invertIfNegative val="0"/>
          <c:cat>
            <c:numRef>
              <c:f>'Accident Severity Factors 1'!$H$15:$H$22</c:f>
              <c:numCache>
                <c:formatCode>General</c:formatCode>
                <c:ptCount val="8"/>
                <c:pt idx="0">
                  <c:v>10</c:v>
                </c:pt>
                <c:pt idx="1">
                  <c:v>15</c:v>
                </c:pt>
                <c:pt idx="2">
                  <c:v>20</c:v>
                </c:pt>
                <c:pt idx="3">
                  <c:v>30</c:v>
                </c:pt>
                <c:pt idx="4">
                  <c:v>40</c:v>
                </c:pt>
                <c:pt idx="5">
                  <c:v>50</c:v>
                </c:pt>
                <c:pt idx="6">
                  <c:v>60</c:v>
                </c:pt>
                <c:pt idx="7">
                  <c:v>70</c:v>
                </c:pt>
              </c:numCache>
            </c:numRef>
          </c:cat>
          <c:val>
            <c:numRef>
              <c:f>'Accident Severity Factors 1'!$K$15:$K$22</c:f>
              <c:numCache>
                <c:formatCode>General</c:formatCode>
                <c:ptCount val="8"/>
                <c:pt idx="0">
                  <c:v>3</c:v>
                </c:pt>
                <c:pt idx="1">
                  <c:v>2</c:v>
                </c:pt>
                <c:pt idx="2">
                  <c:v>2502</c:v>
                </c:pt>
                <c:pt idx="3">
                  <c:v>173856</c:v>
                </c:pt>
                <c:pt idx="4">
                  <c:v>21908</c:v>
                </c:pt>
                <c:pt idx="5">
                  <c:v>8481</c:v>
                </c:pt>
                <c:pt idx="6">
                  <c:v>36560</c:v>
                </c:pt>
                <c:pt idx="7">
                  <c:v>19052</c:v>
                </c:pt>
              </c:numCache>
            </c:numRef>
          </c:val>
          <c:extLst>
            <c:ext xmlns:c16="http://schemas.microsoft.com/office/drawing/2014/chart" uri="{C3380CC4-5D6E-409C-BE32-E72D297353CC}">
              <c16:uniqueId val="{00000002-0ABD-418B-8E9D-19F21F937854}"/>
            </c:ext>
          </c:extLst>
        </c:ser>
        <c:dLbls>
          <c:showLegendKey val="0"/>
          <c:showVal val="0"/>
          <c:showCatName val="0"/>
          <c:showSerName val="0"/>
          <c:showPercent val="0"/>
          <c:showBubbleSize val="0"/>
        </c:dLbls>
        <c:gapWidth val="150"/>
        <c:overlap val="100"/>
        <c:axId val="139352704"/>
        <c:axId val="139362688"/>
      </c:barChart>
      <c:catAx>
        <c:axId val="13935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362688"/>
        <c:crosses val="autoZero"/>
        <c:auto val="1"/>
        <c:lblAlgn val="ctr"/>
        <c:lblOffset val="100"/>
        <c:noMultiLvlLbl val="0"/>
      </c:catAx>
      <c:valAx>
        <c:axId val="139362688"/>
        <c:scaling>
          <c:orientation val="minMax"/>
        </c:scaling>
        <c:delete val="1"/>
        <c:axPos val="l"/>
        <c:numFmt formatCode="0" sourceLinked="1"/>
        <c:majorTickMark val="none"/>
        <c:minorTickMark val="none"/>
        <c:tickLblPos val="nextTo"/>
        <c:crossAx val="1393527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a:latin typeface="Georgia" panose="02040502050405020303" pitchFamily="18" charset="0"/>
              </a:rPr>
              <a:t>Road</a:t>
            </a:r>
            <a:r>
              <a:rPr lang="en-US" sz="1400" b="1" baseline="0">
                <a:latin typeface="Georgia" panose="02040502050405020303" pitchFamily="18" charset="0"/>
              </a:rPr>
              <a:t> Type vs Accident Severity</a:t>
            </a:r>
            <a:endParaRPr lang="en-US" sz="1400" b="1">
              <a:latin typeface="Georgia" panose="02040502050405020303" pitchFamily="18" charset="0"/>
            </a:endParaRPr>
          </a:p>
        </c:rich>
      </c:tx>
      <c:layout>
        <c:manualLayout>
          <c:xMode val="edge"/>
          <c:yMode val="edge"/>
          <c:x val="2.4703296703296702E-2"/>
          <c:y val="2.5740025740025738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6439352773211042"/>
          <c:y val="0.12473616473616474"/>
          <c:w val="0.52712295578437307"/>
          <c:h val="0.60718977695355647"/>
        </c:manualLayout>
      </c:layout>
      <c:barChart>
        <c:barDir val="bar"/>
        <c:grouping val="stacked"/>
        <c:varyColors val="0"/>
        <c:ser>
          <c:idx val="0"/>
          <c:order val="0"/>
          <c:tx>
            <c:strRef>
              <c:f>'Accident Severity Factors 2'!$B$1</c:f>
              <c:strCache>
                <c:ptCount val="1"/>
                <c:pt idx="0">
                  <c:v>Fatal</c:v>
                </c:pt>
              </c:strCache>
            </c:strRef>
          </c:tx>
          <c:spPr>
            <a:solidFill>
              <a:schemeClr val="accent1"/>
            </a:solidFill>
            <a:ln>
              <a:noFill/>
            </a:ln>
            <a:effectLst/>
          </c:spPr>
          <c:invertIfNegative val="0"/>
          <c:cat>
            <c:strRef>
              <c:f>'Accident Severity Factors 2'!$A$2:$A$7</c:f>
              <c:strCache>
                <c:ptCount val="6"/>
                <c:pt idx="0">
                  <c:v>One way street</c:v>
                </c:pt>
                <c:pt idx="1">
                  <c:v>Single carriageway</c:v>
                </c:pt>
                <c:pt idx="2">
                  <c:v>Dual carriageway</c:v>
                </c:pt>
                <c:pt idx="3">
                  <c:v>Roundabout</c:v>
                </c:pt>
                <c:pt idx="4">
                  <c:v>Other</c:v>
                </c:pt>
                <c:pt idx="5">
                  <c:v>Slip road</c:v>
                </c:pt>
              </c:strCache>
            </c:strRef>
          </c:cat>
          <c:val>
            <c:numRef>
              <c:f>'Accident Severity Factors 2'!$B$2:$B$7</c:f>
              <c:numCache>
                <c:formatCode>General</c:formatCode>
                <c:ptCount val="6"/>
                <c:pt idx="0">
                  <c:v>72</c:v>
                </c:pt>
                <c:pt idx="1">
                  <c:v>3720</c:v>
                </c:pt>
                <c:pt idx="2">
                  <c:v>1020</c:v>
                </c:pt>
                <c:pt idx="3">
                  <c:v>140</c:v>
                </c:pt>
                <c:pt idx="4">
                  <c:v>10</c:v>
                </c:pt>
                <c:pt idx="5">
                  <c:v>32</c:v>
                </c:pt>
              </c:numCache>
            </c:numRef>
          </c:val>
          <c:extLst>
            <c:ext xmlns:c16="http://schemas.microsoft.com/office/drawing/2014/chart" uri="{C3380CC4-5D6E-409C-BE32-E72D297353CC}">
              <c16:uniqueId val="{00000000-735C-49BA-A593-E832DE0E629E}"/>
            </c:ext>
          </c:extLst>
        </c:ser>
        <c:ser>
          <c:idx val="1"/>
          <c:order val="1"/>
          <c:tx>
            <c:strRef>
              <c:f>'Accident Severity Factors 2'!$C$1</c:f>
              <c:strCache>
                <c:ptCount val="1"/>
                <c:pt idx="0">
                  <c:v>Serious</c:v>
                </c:pt>
              </c:strCache>
            </c:strRef>
          </c:tx>
          <c:spPr>
            <a:solidFill>
              <a:schemeClr val="accent2"/>
            </a:solidFill>
            <a:ln>
              <a:noFill/>
            </a:ln>
            <a:effectLst/>
          </c:spPr>
          <c:invertIfNegative val="0"/>
          <c:cat>
            <c:strRef>
              <c:f>'Accident Severity Factors 2'!$A$2:$A$7</c:f>
              <c:strCache>
                <c:ptCount val="6"/>
                <c:pt idx="0">
                  <c:v>One way street</c:v>
                </c:pt>
                <c:pt idx="1">
                  <c:v>Single carriageway</c:v>
                </c:pt>
                <c:pt idx="2">
                  <c:v>Dual carriageway</c:v>
                </c:pt>
                <c:pt idx="3">
                  <c:v>Roundabout</c:v>
                </c:pt>
                <c:pt idx="4">
                  <c:v>Other</c:v>
                </c:pt>
                <c:pt idx="5">
                  <c:v>Slip road</c:v>
                </c:pt>
              </c:strCache>
            </c:strRef>
          </c:cat>
          <c:val>
            <c:numRef>
              <c:f>'Accident Severity Factors 2'!$C$2:$C$7</c:f>
              <c:numCache>
                <c:formatCode>General</c:formatCode>
                <c:ptCount val="6"/>
                <c:pt idx="0">
                  <c:v>741</c:v>
                </c:pt>
                <c:pt idx="1">
                  <c:v>32347</c:v>
                </c:pt>
                <c:pt idx="2">
                  <c:v>5311</c:v>
                </c:pt>
                <c:pt idx="3">
                  <c:v>1777</c:v>
                </c:pt>
                <c:pt idx="4">
                  <c:v>164</c:v>
                </c:pt>
                <c:pt idx="5">
                  <c:v>274</c:v>
                </c:pt>
              </c:numCache>
            </c:numRef>
          </c:val>
          <c:extLst>
            <c:ext xmlns:c16="http://schemas.microsoft.com/office/drawing/2014/chart" uri="{C3380CC4-5D6E-409C-BE32-E72D297353CC}">
              <c16:uniqueId val="{00000001-735C-49BA-A593-E832DE0E629E}"/>
            </c:ext>
          </c:extLst>
        </c:ser>
        <c:ser>
          <c:idx val="2"/>
          <c:order val="2"/>
          <c:tx>
            <c:strRef>
              <c:f>'Accident Severity Factors 2'!$D$1</c:f>
              <c:strCache>
                <c:ptCount val="1"/>
                <c:pt idx="0">
                  <c:v>Slight</c:v>
                </c:pt>
              </c:strCache>
            </c:strRef>
          </c:tx>
          <c:spPr>
            <a:solidFill>
              <a:schemeClr val="accent3"/>
            </a:solidFill>
            <a:ln>
              <a:noFill/>
            </a:ln>
            <a:effectLst/>
          </c:spPr>
          <c:invertIfNegative val="0"/>
          <c:cat>
            <c:strRef>
              <c:f>'Accident Severity Factors 2'!$A$2:$A$7</c:f>
              <c:strCache>
                <c:ptCount val="6"/>
                <c:pt idx="0">
                  <c:v>One way street</c:v>
                </c:pt>
                <c:pt idx="1">
                  <c:v>Single carriageway</c:v>
                </c:pt>
                <c:pt idx="2">
                  <c:v>Dual carriageway</c:v>
                </c:pt>
                <c:pt idx="3">
                  <c:v>Roundabout</c:v>
                </c:pt>
                <c:pt idx="4">
                  <c:v>Other</c:v>
                </c:pt>
                <c:pt idx="5">
                  <c:v>Slip road</c:v>
                </c:pt>
              </c:strCache>
            </c:strRef>
          </c:cat>
          <c:val>
            <c:numRef>
              <c:f>'Accident Severity Factors 2'!$D$2:$D$7</c:f>
              <c:numCache>
                <c:formatCode>General</c:formatCode>
                <c:ptCount val="6"/>
                <c:pt idx="0">
                  <c:v>5384</c:v>
                </c:pt>
                <c:pt idx="1">
                  <c:v>194544</c:v>
                </c:pt>
                <c:pt idx="2">
                  <c:v>39136</c:v>
                </c:pt>
                <c:pt idx="3">
                  <c:v>19012</c:v>
                </c:pt>
                <c:pt idx="4">
                  <c:v>1360</c:v>
                </c:pt>
                <c:pt idx="5">
                  <c:v>2928</c:v>
                </c:pt>
              </c:numCache>
            </c:numRef>
          </c:val>
          <c:extLst>
            <c:ext xmlns:c16="http://schemas.microsoft.com/office/drawing/2014/chart" uri="{C3380CC4-5D6E-409C-BE32-E72D297353CC}">
              <c16:uniqueId val="{00000002-735C-49BA-A593-E832DE0E629E}"/>
            </c:ext>
          </c:extLst>
        </c:ser>
        <c:dLbls>
          <c:showLegendKey val="0"/>
          <c:showVal val="0"/>
          <c:showCatName val="0"/>
          <c:showSerName val="0"/>
          <c:showPercent val="0"/>
          <c:showBubbleSize val="0"/>
        </c:dLbls>
        <c:gapWidth val="150"/>
        <c:overlap val="100"/>
        <c:axId val="139412992"/>
        <c:axId val="139414528"/>
      </c:barChart>
      <c:catAx>
        <c:axId val="1394129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14528"/>
        <c:crosses val="autoZero"/>
        <c:auto val="1"/>
        <c:lblAlgn val="ctr"/>
        <c:lblOffset val="100"/>
        <c:noMultiLvlLbl val="0"/>
      </c:catAx>
      <c:valAx>
        <c:axId val="13941452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12992"/>
        <c:crosses val="autoZero"/>
        <c:crossBetween val="between"/>
      </c:valAx>
      <c:spPr>
        <a:noFill/>
        <a:ln>
          <a:noFill/>
        </a:ln>
        <a:effectLst/>
      </c:spPr>
    </c:plotArea>
    <c:legend>
      <c:legendPos val="b"/>
      <c:layout>
        <c:manualLayout>
          <c:xMode val="edge"/>
          <c:yMode val="edge"/>
          <c:x val="0.29205937009105687"/>
          <c:y val="0.894844212240123"/>
          <c:w val="0.41588097121568196"/>
          <c:h val="7.7574084202380211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a:latin typeface="Georgia" panose="02040502050405020303" pitchFamily="18" charset="0"/>
              </a:rPr>
              <a:t>Light</a:t>
            </a:r>
            <a:r>
              <a:rPr lang="en-US" sz="1400" b="1" baseline="0">
                <a:latin typeface="Georgia" panose="02040502050405020303" pitchFamily="18" charset="0"/>
              </a:rPr>
              <a:t> conditions vs Accident Severity</a:t>
            </a:r>
            <a:endParaRPr lang="en-US" sz="1400" b="1">
              <a:latin typeface="Georgia" panose="02040502050405020303" pitchFamily="18" charset="0"/>
            </a:endParaRPr>
          </a:p>
        </c:rich>
      </c:tx>
      <c:layout>
        <c:manualLayout>
          <c:xMode val="edge"/>
          <c:yMode val="edge"/>
          <c:x val="6.2864329458817647E-2"/>
          <c:y val="4.5845251519413613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7934675449411485"/>
          <c:y val="0.15259238282161189"/>
          <c:w val="0.44485589510576701"/>
          <c:h val="0.59755637420802743"/>
        </c:manualLayout>
      </c:layout>
      <c:barChart>
        <c:barDir val="bar"/>
        <c:grouping val="clustered"/>
        <c:varyColors val="0"/>
        <c:ser>
          <c:idx val="0"/>
          <c:order val="0"/>
          <c:tx>
            <c:strRef>
              <c:f>'Accident Severity Factors 2'!$I$1</c:f>
              <c:strCache>
                <c:ptCount val="1"/>
                <c:pt idx="0">
                  <c:v>Fatal</c:v>
                </c:pt>
              </c:strCache>
            </c:strRef>
          </c:tx>
          <c:spPr>
            <a:solidFill>
              <a:schemeClr val="accent1"/>
            </a:solidFill>
            <a:ln>
              <a:noFill/>
            </a:ln>
            <a:effectLst/>
          </c:spPr>
          <c:invertIfNegative val="0"/>
          <c:cat>
            <c:strRef>
              <c:f>'Accident Severity Factors 2'!$H$2:$H$6</c:f>
              <c:strCache>
                <c:ptCount val="5"/>
                <c:pt idx="0">
                  <c:v>Daylight</c:v>
                </c:pt>
                <c:pt idx="1">
                  <c:v>Darkness - lights lit</c:v>
                </c:pt>
                <c:pt idx="2">
                  <c:v>Darkness - no lighting</c:v>
                </c:pt>
                <c:pt idx="3">
                  <c:v>Darkness - lights unlit</c:v>
                </c:pt>
                <c:pt idx="4">
                  <c:v>Darkness - lighting unknown</c:v>
                </c:pt>
              </c:strCache>
            </c:strRef>
          </c:cat>
          <c:val>
            <c:numRef>
              <c:f>'Accident Severity Factors 2'!$I$2:$I$6</c:f>
              <c:numCache>
                <c:formatCode>General</c:formatCode>
                <c:ptCount val="5"/>
                <c:pt idx="0">
                  <c:v>2898</c:v>
                </c:pt>
                <c:pt idx="1">
                  <c:v>1252</c:v>
                </c:pt>
                <c:pt idx="2">
                  <c:v>774</c:v>
                </c:pt>
                <c:pt idx="3">
                  <c:v>19</c:v>
                </c:pt>
                <c:pt idx="4">
                  <c:v>51</c:v>
                </c:pt>
              </c:numCache>
            </c:numRef>
          </c:val>
          <c:extLst>
            <c:ext xmlns:c16="http://schemas.microsoft.com/office/drawing/2014/chart" uri="{C3380CC4-5D6E-409C-BE32-E72D297353CC}">
              <c16:uniqueId val="{00000000-59AE-4722-A418-C3969F534893}"/>
            </c:ext>
          </c:extLst>
        </c:ser>
        <c:ser>
          <c:idx val="1"/>
          <c:order val="1"/>
          <c:tx>
            <c:strRef>
              <c:f>'Accident Severity Factors 2'!$J$1</c:f>
              <c:strCache>
                <c:ptCount val="1"/>
                <c:pt idx="0">
                  <c:v>Serious</c:v>
                </c:pt>
              </c:strCache>
            </c:strRef>
          </c:tx>
          <c:spPr>
            <a:solidFill>
              <a:schemeClr val="accent2"/>
            </a:solidFill>
            <a:ln>
              <a:noFill/>
            </a:ln>
            <a:effectLst/>
          </c:spPr>
          <c:invertIfNegative val="0"/>
          <c:cat>
            <c:strRef>
              <c:f>'Accident Severity Factors 2'!$H$2:$H$6</c:f>
              <c:strCache>
                <c:ptCount val="5"/>
                <c:pt idx="0">
                  <c:v>Daylight</c:v>
                </c:pt>
                <c:pt idx="1">
                  <c:v>Darkness - lights lit</c:v>
                </c:pt>
                <c:pt idx="2">
                  <c:v>Darkness - no lighting</c:v>
                </c:pt>
                <c:pt idx="3">
                  <c:v>Darkness - lights unlit</c:v>
                </c:pt>
                <c:pt idx="4">
                  <c:v>Darkness - lighting unknown</c:v>
                </c:pt>
              </c:strCache>
            </c:strRef>
          </c:cat>
          <c:val>
            <c:numRef>
              <c:f>'Accident Severity Factors 2'!$J$2:$J$6</c:f>
              <c:numCache>
                <c:formatCode>General</c:formatCode>
                <c:ptCount val="5"/>
                <c:pt idx="0">
                  <c:v>28589</c:v>
                </c:pt>
                <c:pt idx="1">
                  <c:v>8470</c:v>
                </c:pt>
                <c:pt idx="2">
                  <c:v>3057</c:v>
                </c:pt>
                <c:pt idx="3">
                  <c:v>145</c:v>
                </c:pt>
                <c:pt idx="4">
                  <c:v>353</c:v>
                </c:pt>
              </c:numCache>
            </c:numRef>
          </c:val>
          <c:extLst>
            <c:ext xmlns:c16="http://schemas.microsoft.com/office/drawing/2014/chart" uri="{C3380CC4-5D6E-409C-BE32-E72D297353CC}">
              <c16:uniqueId val="{00000001-59AE-4722-A418-C3969F534893}"/>
            </c:ext>
          </c:extLst>
        </c:ser>
        <c:ser>
          <c:idx val="2"/>
          <c:order val="2"/>
          <c:tx>
            <c:strRef>
              <c:f>'Accident Severity Factors 2'!$K$1</c:f>
              <c:strCache>
                <c:ptCount val="1"/>
                <c:pt idx="0">
                  <c:v>Slight</c:v>
                </c:pt>
              </c:strCache>
            </c:strRef>
          </c:tx>
          <c:spPr>
            <a:solidFill>
              <a:schemeClr val="accent3"/>
            </a:solidFill>
            <a:ln>
              <a:noFill/>
            </a:ln>
            <a:effectLst/>
          </c:spPr>
          <c:invertIfNegative val="0"/>
          <c:cat>
            <c:strRef>
              <c:f>'Accident Severity Factors 2'!$H$2:$H$6</c:f>
              <c:strCache>
                <c:ptCount val="5"/>
                <c:pt idx="0">
                  <c:v>Daylight</c:v>
                </c:pt>
                <c:pt idx="1">
                  <c:v>Darkness - lights lit</c:v>
                </c:pt>
                <c:pt idx="2">
                  <c:v>Darkness - no lighting</c:v>
                </c:pt>
                <c:pt idx="3">
                  <c:v>Darkness - lights unlit</c:v>
                </c:pt>
                <c:pt idx="4">
                  <c:v>Darkness - lighting unknown</c:v>
                </c:pt>
              </c:strCache>
            </c:strRef>
          </c:cat>
          <c:val>
            <c:numRef>
              <c:f>'Accident Severity Factors 2'!$K$2:$K$6</c:f>
              <c:numCache>
                <c:formatCode>General</c:formatCode>
                <c:ptCount val="5"/>
                <c:pt idx="0">
                  <c:v>195798</c:v>
                </c:pt>
                <c:pt idx="1">
                  <c:v>50371</c:v>
                </c:pt>
                <c:pt idx="2">
                  <c:v>12697</c:v>
                </c:pt>
                <c:pt idx="3">
                  <c:v>978</c:v>
                </c:pt>
                <c:pt idx="4">
                  <c:v>2520</c:v>
                </c:pt>
              </c:numCache>
            </c:numRef>
          </c:val>
          <c:extLst>
            <c:ext xmlns:c16="http://schemas.microsoft.com/office/drawing/2014/chart" uri="{C3380CC4-5D6E-409C-BE32-E72D297353CC}">
              <c16:uniqueId val="{00000002-59AE-4722-A418-C3969F534893}"/>
            </c:ext>
          </c:extLst>
        </c:ser>
        <c:dLbls>
          <c:showLegendKey val="0"/>
          <c:showVal val="0"/>
          <c:showCatName val="0"/>
          <c:showSerName val="0"/>
          <c:showPercent val="0"/>
          <c:showBubbleSize val="0"/>
        </c:dLbls>
        <c:gapWidth val="182"/>
        <c:axId val="139450240"/>
        <c:axId val="139451776"/>
      </c:barChart>
      <c:catAx>
        <c:axId val="1394502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51776"/>
        <c:crosses val="autoZero"/>
        <c:auto val="1"/>
        <c:lblAlgn val="ctr"/>
        <c:lblOffset val="100"/>
        <c:noMultiLvlLbl val="0"/>
      </c:catAx>
      <c:valAx>
        <c:axId val="13945177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450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a:latin typeface="Georgia" panose="02040502050405020303" pitchFamily="18" charset="0"/>
              </a:rPr>
              <a:t>Urban</a:t>
            </a:r>
            <a:r>
              <a:rPr lang="en-US" sz="1400" b="1" baseline="0">
                <a:latin typeface="Georgia" panose="02040502050405020303" pitchFamily="18" charset="0"/>
              </a:rPr>
              <a:t> or Rural Area vs Accident Severity</a:t>
            </a:r>
            <a:endParaRPr lang="en-US" sz="1400" b="1">
              <a:latin typeface="Georgia" panose="02040502050405020303" pitchFamily="18" charset="0"/>
            </a:endParaRPr>
          </a:p>
        </c:rich>
      </c:tx>
      <c:layout>
        <c:manualLayout>
          <c:xMode val="edge"/>
          <c:yMode val="edge"/>
          <c:x val="8.2732256590793057E-2"/>
          <c:y val="3.8337124413713189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031903648562702"/>
          <c:y val="0.1034331791155688"/>
          <c:w val="0.80948756192165394"/>
          <c:h val="0.72323289607856611"/>
        </c:manualLayout>
      </c:layout>
      <c:barChart>
        <c:barDir val="bar"/>
        <c:grouping val="clustered"/>
        <c:varyColors val="0"/>
        <c:ser>
          <c:idx val="0"/>
          <c:order val="0"/>
          <c:tx>
            <c:strRef>
              <c:f>'Accident Severity Factors 2'!$A$23</c:f>
              <c:strCache>
                <c:ptCount val="1"/>
                <c:pt idx="0">
                  <c:v>Urban</c:v>
                </c:pt>
              </c:strCache>
            </c:strRef>
          </c:tx>
          <c:spPr>
            <a:solidFill>
              <a:schemeClr val="accent1"/>
            </a:solidFill>
            <a:ln>
              <a:noFill/>
            </a:ln>
            <a:effectLst/>
          </c:spPr>
          <c:invertIfNegative val="0"/>
          <c:cat>
            <c:strRef>
              <c:f>'Accident Severity Factors 2'!$B$22:$D$22</c:f>
              <c:strCache>
                <c:ptCount val="3"/>
                <c:pt idx="0">
                  <c:v>Fatal</c:v>
                </c:pt>
                <c:pt idx="1">
                  <c:v>Serious</c:v>
                </c:pt>
                <c:pt idx="2">
                  <c:v>Slight</c:v>
                </c:pt>
              </c:strCache>
            </c:strRef>
          </c:cat>
          <c:val>
            <c:numRef>
              <c:f>'Accident Severity Factors 2'!$B$23:$D$23</c:f>
              <c:numCache>
                <c:formatCode>General</c:formatCode>
                <c:ptCount val="3"/>
                <c:pt idx="0">
                  <c:v>2254</c:v>
                </c:pt>
                <c:pt idx="1">
                  <c:v>23438</c:v>
                </c:pt>
                <c:pt idx="2">
                  <c:v>172840</c:v>
                </c:pt>
              </c:numCache>
            </c:numRef>
          </c:val>
          <c:extLst>
            <c:ext xmlns:c16="http://schemas.microsoft.com/office/drawing/2014/chart" uri="{C3380CC4-5D6E-409C-BE32-E72D297353CC}">
              <c16:uniqueId val="{00000000-10DE-44A9-8EDD-54E814B079F4}"/>
            </c:ext>
          </c:extLst>
        </c:ser>
        <c:ser>
          <c:idx val="1"/>
          <c:order val="1"/>
          <c:tx>
            <c:strRef>
              <c:f>'Accident Severity Factors 2'!$A$24</c:f>
              <c:strCache>
                <c:ptCount val="1"/>
                <c:pt idx="0">
                  <c:v>Rural</c:v>
                </c:pt>
              </c:strCache>
            </c:strRef>
          </c:tx>
          <c:spPr>
            <a:solidFill>
              <a:schemeClr val="accent2"/>
            </a:solidFill>
            <a:ln>
              <a:noFill/>
            </a:ln>
            <a:effectLst/>
          </c:spPr>
          <c:invertIfNegative val="0"/>
          <c:cat>
            <c:strRef>
              <c:f>'Accident Severity Factors 2'!$B$22:$D$22</c:f>
              <c:strCache>
                <c:ptCount val="3"/>
                <c:pt idx="0">
                  <c:v>Fatal</c:v>
                </c:pt>
                <c:pt idx="1">
                  <c:v>Serious</c:v>
                </c:pt>
                <c:pt idx="2">
                  <c:v>Slight</c:v>
                </c:pt>
              </c:strCache>
            </c:strRef>
          </c:cat>
          <c:val>
            <c:numRef>
              <c:f>'Accident Severity Factors 2'!$B$24:$D$24</c:f>
              <c:numCache>
                <c:formatCode>General</c:formatCode>
                <c:ptCount val="3"/>
                <c:pt idx="0">
                  <c:v>2740</c:v>
                </c:pt>
                <c:pt idx="1">
                  <c:v>17176</c:v>
                </c:pt>
                <c:pt idx="2">
                  <c:v>89524</c:v>
                </c:pt>
              </c:numCache>
            </c:numRef>
          </c:val>
          <c:extLst>
            <c:ext xmlns:c16="http://schemas.microsoft.com/office/drawing/2014/chart" uri="{C3380CC4-5D6E-409C-BE32-E72D297353CC}">
              <c16:uniqueId val="{00000001-10DE-44A9-8EDD-54E814B079F4}"/>
            </c:ext>
          </c:extLst>
        </c:ser>
        <c:dLbls>
          <c:showLegendKey val="0"/>
          <c:showVal val="0"/>
          <c:showCatName val="0"/>
          <c:showSerName val="0"/>
          <c:showPercent val="0"/>
          <c:showBubbleSize val="0"/>
        </c:dLbls>
        <c:gapWidth val="182"/>
        <c:axId val="139543680"/>
        <c:axId val="139545216"/>
      </c:barChart>
      <c:catAx>
        <c:axId val="1395436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545216"/>
        <c:crosses val="autoZero"/>
        <c:auto val="1"/>
        <c:lblAlgn val="ctr"/>
        <c:lblOffset val="100"/>
        <c:noMultiLvlLbl val="0"/>
      </c:catAx>
      <c:valAx>
        <c:axId val="1395452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395436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1" dirty="0"/>
              <a:t>Junction</a:t>
            </a:r>
            <a:r>
              <a:rPr lang="en-US" sz="1800" b="1" baseline="0" dirty="0"/>
              <a:t> Control</a:t>
            </a:r>
            <a:endParaRPr lang="en-US" sz="1800" b="1" dirty="0"/>
          </a:p>
        </c:rich>
      </c:tx>
      <c:layout>
        <c:manualLayout>
          <c:xMode val="edge"/>
          <c:yMode val="edge"/>
          <c:x val="0.14485139035547323"/>
          <c:y val="0"/>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7753606121791869"/>
          <c:y val="0.19546700296336156"/>
          <c:w val="0.49692631011679694"/>
          <c:h val="0.75014045889859193"/>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'Hotspots and Heatmaps 2'!$G$4:$G$9</c:f>
              <c:strCache>
                <c:ptCount val="6"/>
                <c:pt idx="0">
                  <c:v>Authorised person</c:v>
                </c:pt>
                <c:pt idx="1">
                  <c:v>Auto traffic signal</c:v>
                </c:pt>
                <c:pt idx="2">
                  <c:v>Data missing or out of range</c:v>
                </c:pt>
                <c:pt idx="3">
                  <c:v>Give way or uncontrolled</c:v>
                </c:pt>
                <c:pt idx="4">
                  <c:v>Not at junction or within 20 metres</c:v>
                </c:pt>
                <c:pt idx="5">
                  <c:v>Stop sign</c:v>
                </c:pt>
              </c:strCache>
            </c:strRef>
          </c:cat>
          <c:val>
            <c:numRef>
              <c:f>'Hotspots and Heatmaps 2'!$H$4:$H$9</c:f>
              <c:numCache>
                <c:formatCode>General</c:formatCode>
                <c:ptCount val="6"/>
                <c:pt idx="0">
                  <c:v>460</c:v>
                </c:pt>
                <c:pt idx="1">
                  <c:v>32349</c:v>
                </c:pt>
                <c:pt idx="2">
                  <c:v>98055</c:v>
                </c:pt>
                <c:pt idx="3">
                  <c:v>150045</c:v>
                </c:pt>
                <c:pt idx="4">
                  <c:v>25378</c:v>
                </c:pt>
                <c:pt idx="5">
                  <c:v>1685</c:v>
                </c:pt>
              </c:numCache>
            </c:numRef>
          </c:val>
          <c:extLst>
            <c:ext xmlns:c16="http://schemas.microsoft.com/office/drawing/2014/chart" uri="{C3380CC4-5D6E-409C-BE32-E72D297353CC}">
              <c16:uniqueId val="{00000000-65CD-4FC2-8342-FCDF50399DD7}"/>
            </c:ext>
          </c:extLst>
        </c:ser>
        <c:dLbls>
          <c:dLblPos val="outEnd"/>
          <c:showLegendKey val="0"/>
          <c:showVal val="1"/>
          <c:showCatName val="0"/>
          <c:showSerName val="0"/>
          <c:showPercent val="0"/>
          <c:showBubbleSize val="0"/>
        </c:dLbls>
        <c:gapWidth val="182"/>
        <c:axId val="1820842799"/>
        <c:axId val="1820839887"/>
      </c:barChart>
      <c:catAx>
        <c:axId val="18208427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820839887"/>
        <c:crosses val="autoZero"/>
        <c:auto val="1"/>
        <c:lblAlgn val="ctr"/>
        <c:lblOffset val="100"/>
        <c:noMultiLvlLbl val="0"/>
      </c:catAx>
      <c:valAx>
        <c:axId val="1820839887"/>
        <c:scaling>
          <c:orientation val="minMax"/>
        </c:scaling>
        <c:delete val="1"/>
        <c:axPos val="b"/>
        <c:numFmt formatCode="General" sourceLinked="1"/>
        <c:majorTickMark val="none"/>
        <c:minorTickMark val="none"/>
        <c:tickLblPos val="nextTo"/>
        <c:crossAx val="182084279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 </a:t>
            </a:r>
            <a:r>
              <a:rPr lang="en-US" sz="1800" b="1" dirty="0"/>
              <a:t>Junction</a:t>
            </a:r>
            <a:r>
              <a:rPr lang="en-US" sz="1800" b="1" baseline="0" dirty="0"/>
              <a:t> Detail</a:t>
            </a:r>
            <a:endParaRPr lang="en-US" sz="1800" b="1" dirty="0"/>
          </a:p>
        </c:rich>
      </c:tx>
      <c:layout>
        <c:manualLayout>
          <c:xMode val="edge"/>
          <c:yMode val="edge"/>
          <c:x val="8.954725071617313E-2"/>
          <c:y val="3.5821096774285605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060399857425231"/>
          <c:y val="0.13501421839871056"/>
          <c:w val="0.33821587116425256"/>
          <c:h val="0.42861255120163427"/>
        </c:manualLayout>
      </c:layout>
      <c:doughnutChart>
        <c:varyColors val="1"/>
        <c:ser>
          <c:idx val="0"/>
          <c:order val="0"/>
          <c:tx>
            <c:strRef>
              <c:f>'Hotspots and Heatmaps 2'!$H$13</c:f>
              <c:strCache>
                <c:ptCount val="1"/>
                <c:pt idx="0">
                  <c:v> Accident_Severity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75-43B5-8603-FBF5861CC36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75-43B5-8603-FBF5861CC36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75-43B5-8603-FBF5861CC36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75-43B5-8603-FBF5861CC36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475-43B5-8603-FBF5861CC365}"/>
              </c:ext>
            </c:extLst>
          </c:dPt>
          <c:dLbls>
            <c:dLbl>
              <c:idx val="0"/>
              <c:layout>
                <c:manualLayout>
                  <c:x val="8.6419753086419748E-2"/>
                  <c:y val="-4.69361147327249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75-43B5-8603-FBF5861CC365}"/>
                </c:ext>
              </c:extLst>
            </c:dLbl>
            <c:dLbl>
              <c:idx val="1"/>
              <c:layout>
                <c:manualLayout>
                  <c:x val="9.4650205761316941E-2"/>
                  <c:y val="2.08604954367665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75-43B5-8603-FBF5861CC365}"/>
                </c:ext>
              </c:extLst>
            </c:dLbl>
            <c:dLbl>
              <c:idx val="2"/>
              <c:layout>
                <c:manualLayout>
                  <c:x val="-4.9382716049382755E-2"/>
                  <c:y val="7.30117340286831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475-43B5-8603-FBF5861CC365}"/>
                </c:ext>
              </c:extLst>
            </c:dLbl>
            <c:dLbl>
              <c:idx val="3"/>
              <c:layout>
                <c:manualLayout>
                  <c:x val="-0.16049382716049382"/>
                  <c:y val="4.69361147327249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475-43B5-8603-FBF5861CC365}"/>
                </c:ext>
              </c:extLst>
            </c:dLbl>
            <c:dLbl>
              <c:idx val="4"/>
              <c:layout>
                <c:manualLayout>
                  <c:x val="-0.11522633744855967"/>
                  <c:y val="2.08604954367666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475-43B5-8603-FBF5861CC365}"/>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'Hotspots and Heatmaps 2'!$G$14:$G$18</c:f>
              <c:strCache>
                <c:ptCount val="5"/>
                <c:pt idx="0">
                  <c:v>Crossroads</c:v>
                </c:pt>
                <c:pt idx="1">
                  <c:v>Not at junction or within 20 metres</c:v>
                </c:pt>
                <c:pt idx="2">
                  <c:v>Private drive or entrance</c:v>
                </c:pt>
                <c:pt idx="3">
                  <c:v>Roundabout</c:v>
                </c:pt>
                <c:pt idx="4">
                  <c:v>T or staggered junction</c:v>
                </c:pt>
              </c:strCache>
            </c:strRef>
          </c:cat>
          <c:val>
            <c:numRef>
              <c:f>'Hotspots and Heatmaps 2'!$H$14:$H$18</c:f>
              <c:numCache>
                <c:formatCode>General</c:formatCode>
                <c:ptCount val="5"/>
                <c:pt idx="0">
                  <c:v>29948</c:v>
                </c:pt>
                <c:pt idx="1">
                  <c:v>123093</c:v>
                </c:pt>
                <c:pt idx="2">
                  <c:v>10875</c:v>
                </c:pt>
                <c:pt idx="3">
                  <c:v>27264</c:v>
                </c:pt>
                <c:pt idx="4">
                  <c:v>96718</c:v>
                </c:pt>
              </c:numCache>
            </c:numRef>
          </c:val>
          <c:extLst>
            <c:ext xmlns:c16="http://schemas.microsoft.com/office/drawing/2014/chart" uri="{C3380CC4-5D6E-409C-BE32-E72D297353CC}">
              <c16:uniqueId val="{0000000A-C475-43B5-8603-FBF5861CC365}"/>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12215644340753704"/>
          <c:y val="0.61994476896385342"/>
          <c:w val="0.75085307674722357"/>
          <c:h val="0.34909383788531878"/>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AF14-2CE3-456D-A2BC-B287D9F08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9693EC-75D3-4D7F-BAC1-59A9B981F7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DF972D-DBC2-4A11-9AB4-EB1991BE6E32}"/>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52E7EB01-CAF4-4413-854E-1DA7C3471D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124F3-9DE5-4054-B80D-90DA2DB0D9AE}"/>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54628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5129-A54C-48D9-B838-669A800BB4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632E97-6408-4A9D-9E6B-18F61CD65A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C1F2BA-3C4C-469C-A522-ABC7E2306094}"/>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383F7611-4EA3-44A6-A13C-E70C30515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A10BC-BF6C-444B-9AAA-2E7BAEA01AEB}"/>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2850552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06DA-B28C-4083-91A5-96DE54526A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A7E671-BB9D-4762-8982-3B4A7FC071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D3BBA1-8F1C-49A4-96A0-63DFCD71C6BE}"/>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20385456-5DA5-497F-8FFE-7E7347135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0C505-215C-4752-BF41-7CCA8412848F}"/>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3796062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A9B5C-79E4-4C4C-A151-DDFF0216C4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1AA2CF-D7B5-47B6-8C9F-0E4B3AB618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354F46-BB75-4444-A3D9-931CD5A122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2C20C1-198B-4370-9C04-274444FBBB63}"/>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6" name="Footer Placeholder 5">
            <a:extLst>
              <a:ext uri="{FF2B5EF4-FFF2-40B4-BE49-F238E27FC236}">
                <a16:creationId xmlns:a16="http://schemas.microsoft.com/office/drawing/2014/main" id="{4DF34243-799E-4B21-83EA-BE1F05757B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014C79-C0FC-40BD-8F3D-C11B9480907E}"/>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292342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C4FB4-9227-40C9-B9D6-7D77A0D19E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892C85-F922-4A05-B0CF-A4498F44BE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18D2D6-ECB1-43F1-BF06-BC46827CBD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3197C4-5A5A-4F47-95F7-5917C3B31A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FB7BFB-130F-4D67-BFD7-6E714763F0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988378-74C0-4A25-994A-FADC408C3EAF}"/>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8" name="Footer Placeholder 7">
            <a:extLst>
              <a:ext uri="{FF2B5EF4-FFF2-40B4-BE49-F238E27FC236}">
                <a16:creationId xmlns:a16="http://schemas.microsoft.com/office/drawing/2014/main" id="{3704518B-EA00-4C09-8671-79E01010F0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93C462-E455-4027-97D4-A0DE695B209D}"/>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997386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60B7-707A-4F57-BCE5-0BF4407DC7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C293AF-9225-4E81-8910-AA87309D40BA}"/>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4" name="Footer Placeholder 3">
            <a:extLst>
              <a:ext uri="{FF2B5EF4-FFF2-40B4-BE49-F238E27FC236}">
                <a16:creationId xmlns:a16="http://schemas.microsoft.com/office/drawing/2014/main" id="{9EFBC5A3-7C2F-4520-A8F9-27A385187C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DBB3E7-8ADA-46A1-B17D-1E7220464148}"/>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699400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DF5A9-95C6-4B6D-91D1-8116280E6335}"/>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3" name="Footer Placeholder 2">
            <a:extLst>
              <a:ext uri="{FF2B5EF4-FFF2-40B4-BE49-F238E27FC236}">
                <a16:creationId xmlns:a16="http://schemas.microsoft.com/office/drawing/2014/main" id="{B2DA14C7-A0D4-411F-8ECC-DCD9E120E6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C6930E-188B-4D6D-A600-40F1FD969B78}"/>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4222490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BBB8C-FD69-42B0-802F-AE1CAD570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7F970A-251B-46CC-8987-A8CAE4C0E4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FCF629-E720-4435-9ED1-76ABE2E300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04BE3-6943-4277-8C65-444AD1639023}"/>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6" name="Footer Placeholder 5">
            <a:extLst>
              <a:ext uri="{FF2B5EF4-FFF2-40B4-BE49-F238E27FC236}">
                <a16:creationId xmlns:a16="http://schemas.microsoft.com/office/drawing/2014/main" id="{0DDD7018-B4D6-46AF-BF2F-9EDEF94B43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536CA0-AF3F-47F2-8FFD-EF5ABD9D36AA}"/>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2233277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3ACB-F6C7-4832-9201-7CB46318D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33F482-70F5-46F8-9C3C-2220F4747C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BC6659-19F5-4352-AB8C-B740C6767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7985D-52D5-47E5-9CD2-6C75A341DB9E}"/>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6" name="Footer Placeholder 5">
            <a:extLst>
              <a:ext uri="{FF2B5EF4-FFF2-40B4-BE49-F238E27FC236}">
                <a16:creationId xmlns:a16="http://schemas.microsoft.com/office/drawing/2014/main" id="{691BBC6C-3861-4953-AE8B-F1D996BA1E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11B26A-3E77-489E-A19E-6A360C8416C3}"/>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606109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6F199-09EA-4D1D-A94E-26EC976DB9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E42EC5-6FD6-41E9-B409-3E268E3C94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84E0A-70C3-49BC-B3A1-7AB7D96CE4D0}"/>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B1D16BB0-892B-4542-8F1D-6C006227D9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CD266C-BEDE-4F07-992A-5B834C9488A3}"/>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96536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3E0DC4-3CDF-4AB0-BFAF-5BF3E36172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A44A6A-0E4D-4149-B2C1-06FB2141A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6249E-1554-4B76-B3B2-EA799BAE6026}"/>
              </a:ext>
            </a:extLst>
          </p:cNvPr>
          <p:cNvSpPr>
            <a:spLocks noGrp="1"/>
          </p:cNvSpPr>
          <p:nvPr>
            <p:ph type="dt" sz="half" idx="10"/>
          </p:nvPr>
        </p:nvSpPr>
        <p:spPr/>
        <p:txBody>
          <a:body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46364F83-AD6D-4583-BF9F-A938D51C9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9A6E6-EA69-497A-A2F0-4B357E58EFA5}"/>
              </a:ext>
            </a:extLst>
          </p:cNvPr>
          <p:cNvSpPr>
            <a:spLocks noGrp="1"/>
          </p:cNvSpPr>
          <p:nvPr>
            <p:ph type="sldNum" sz="quarter" idx="12"/>
          </p:nvPr>
        </p:nvSpPr>
        <p:spPr/>
        <p:txBody>
          <a:bodyPr/>
          <a:lstStyle/>
          <a:p>
            <a:fld id="{8B199FBB-C967-430E-8A0D-9F5BDA7F5014}" type="slidenum">
              <a:rPr lang="en-US" smtClean="0"/>
              <a:t>‹#›</a:t>
            </a:fld>
            <a:endParaRPr lang="en-US"/>
          </a:p>
        </p:txBody>
      </p:sp>
    </p:spTree>
    <p:extLst>
      <p:ext uri="{BB962C8B-B14F-4D97-AF65-F5344CB8AC3E}">
        <p14:creationId xmlns:p14="http://schemas.microsoft.com/office/powerpoint/2010/main" val="2189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8000"/>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D4D6E0-AC46-485A-8AEC-AD13BFADCA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AC9C8E-6C56-4F84-8F90-078B529DAD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787E7C-6839-4D0C-A7F6-E428070E9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F4E44-FAAF-4655-AF7F-62E51D35A0DB}" type="datetimeFigureOut">
              <a:rPr lang="en-US" smtClean="0"/>
              <a:t>3/8/2026</a:t>
            </a:fld>
            <a:endParaRPr lang="en-US"/>
          </a:p>
        </p:txBody>
      </p:sp>
      <p:sp>
        <p:nvSpPr>
          <p:cNvPr id="5" name="Footer Placeholder 4">
            <a:extLst>
              <a:ext uri="{FF2B5EF4-FFF2-40B4-BE49-F238E27FC236}">
                <a16:creationId xmlns:a16="http://schemas.microsoft.com/office/drawing/2014/main" id="{9D2B560E-CED3-41D3-BF2A-D8180E63DD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A13949-E5EA-4550-9DFD-9F6CD19F5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199FBB-C967-430E-8A0D-9F5BDA7F5014}" type="slidenum">
              <a:rPr lang="en-US" smtClean="0"/>
              <a:t>‹#›</a:t>
            </a:fld>
            <a:endParaRPr lang="en-US"/>
          </a:p>
        </p:txBody>
      </p:sp>
    </p:spTree>
    <p:extLst>
      <p:ext uri="{BB962C8B-B14F-4D97-AF65-F5344CB8AC3E}">
        <p14:creationId xmlns:p14="http://schemas.microsoft.com/office/powerpoint/2010/main" val="986146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79E0-EAD0-455A-A378-9CFD1AE53EC7}"/>
              </a:ext>
            </a:extLst>
          </p:cNvPr>
          <p:cNvSpPr>
            <a:spLocks noGrp="1"/>
          </p:cNvSpPr>
          <p:nvPr>
            <p:ph type="title"/>
          </p:nvPr>
        </p:nvSpPr>
        <p:spPr>
          <a:xfrm>
            <a:off x="6172199" y="336250"/>
            <a:ext cx="5181600" cy="1011288"/>
          </a:xfrm>
        </p:spPr>
        <p:txBody>
          <a:bodyPr/>
          <a:lstStyle/>
          <a:p>
            <a:r>
              <a:rPr lang="en-US" b="1" dirty="0"/>
              <a:t>Business Introduction</a:t>
            </a:r>
          </a:p>
        </p:txBody>
      </p:sp>
      <p:pic>
        <p:nvPicPr>
          <p:cNvPr id="6" name="Content Placeholder 5">
            <a:extLst>
              <a:ext uri="{FF2B5EF4-FFF2-40B4-BE49-F238E27FC236}">
                <a16:creationId xmlns:a16="http://schemas.microsoft.com/office/drawing/2014/main" id="{F8237EC6-D60D-4B48-A08C-1A191BFDA490}"/>
              </a:ext>
            </a:extLst>
          </p:cNvPr>
          <p:cNvPicPr>
            <a:picLocks noGrp="1" noChangeAspect="1"/>
          </p:cNvPicPr>
          <p:nvPr>
            <p:ph sz="half" idx="1"/>
          </p:nvPr>
        </p:nvPicPr>
        <p:blipFill>
          <a:blip r:embed="rId2"/>
          <a:stretch>
            <a:fillRect/>
          </a:stretch>
        </p:blipFill>
        <p:spPr>
          <a:xfrm>
            <a:off x="613085" y="577516"/>
            <a:ext cx="5152448" cy="5599447"/>
          </a:xfrm>
        </p:spPr>
      </p:pic>
      <p:sp>
        <p:nvSpPr>
          <p:cNvPr id="4" name="Content Placeholder 3">
            <a:extLst>
              <a:ext uri="{FF2B5EF4-FFF2-40B4-BE49-F238E27FC236}">
                <a16:creationId xmlns:a16="http://schemas.microsoft.com/office/drawing/2014/main" id="{3516FEAE-CC3A-46E8-9D71-044189FAAD8B}"/>
              </a:ext>
            </a:extLst>
          </p:cNvPr>
          <p:cNvSpPr>
            <a:spLocks noGrp="1"/>
          </p:cNvSpPr>
          <p:nvPr>
            <p:ph sz="half" idx="2"/>
          </p:nvPr>
        </p:nvSpPr>
        <p:spPr>
          <a:xfrm>
            <a:off x="6019802" y="1848050"/>
            <a:ext cx="5655642" cy="4644823"/>
          </a:xfrm>
        </p:spPr>
        <p:txBody>
          <a:bodyPr>
            <a:normAutofit/>
          </a:bodyPr>
          <a:lstStyle/>
          <a:p>
            <a:pPr marL="0" indent="0" algn="just">
              <a:lnSpc>
                <a:spcPct val="100000"/>
              </a:lnSpc>
              <a:buNone/>
            </a:pPr>
            <a:r>
              <a:rPr lang="en-US" dirty="0"/>
              <a:t>At </a:t>
            </a:r>
            <a:r>
              <a:rPr lang="en-US" b="1" dirty="0" err="1"/>
              <a:t>CoreTech</a:t>
            </a:r>
            <a:r>
              <a:rPr lang="en-US" b="1" dirty="0"/>
              <a:t> Labs </a:t>
            </a:r>
            <a:r>
              <a:rPr lang="en-US" dirty="0"/>
              <a:t>,we are at the forefront of cutting edge solutions specializing in software development, AI integration, and data-driven innovations.</a:t>
            </a:r>
          </a:p>
          <a:p>
            <a:pPr marL="0" indent="0" algn="just">
              <a:lnSpc>
                <a:spcPct val="100000"/>
              </a:lnSpc>
              <a:buNone/>
            </a:pPr>
            <a:r>
              <a:rPr lang="en-US" b="1" dirty="0"/>
              <a:t>Our Mission</a:t>
            </a:r>
            <a:r>
              <a:rPr lang="en-US" dirty="0"/>
              <a:t>: To empower businesses with scalable, intelligent, and efficient digital solutions that drive growth and operational excellence.</a:t>
            </a:r>
          </a:p>
          <a:p>
            <a:pPr marL="0" indent="0" algn="just">
              <a:lnSpc>
                <a:spcPct val="100000"/>
              </a:lnSpc>
              <a:buNone/>
            </a:pPr>
            <a:r>
              <a:rPr lang="en-US" dirty="0"/>
              <a:t> </a:t>
            </a:r>
          </a:p>
        </p:txBody>
      </p:sp>
    </p:spTree>
    <p:extLst>
      <p:ext uri="{BB962C8B-B14F-4D97-AF65-F5344CB8AC3E}">
        <p14:creationId xmlns:p14="http://schemas.microsoft.com/office/powerpoint/2010/main" val="379026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DC686-E838-470F-B729-3966698278A8}"/>
              </a:ext>
            </a:extLst>
          </p:cNvPr>
          <p:cNvSpPr>
            <a:spLocks noGrp="1"/>
          </p:cNvSpPr>
          <p:nvPr>
            <p:ph type="title"/>
          </p:nvPr>
        </p:nvSpPr>
        <p:spPr>
          <a:xfrm>
            <a:off x="838200" y="182246"/>
            <a:ext cx="10515600" cy="799532"/>
          </a:xfrm>
        </p:spPr>
        <p:txBody>
          <a:bodyPr/>
          <a:lstStyle/>
          <a:p>
            <a:r>
              <a:rPr lang="en-US" b="1" dirty="0" err="1"/>
              <a:t>CoreTech</a:t>
            </a:r>
            <a:r>
              <a:rPr lang="en-US" b="1" dirty="0"/>
              <a:t> Labs </a:t>
            </a:r>
            <a:r>
              <a:rPr lang="en-US" dirty="0"/>
              <a:t>provides the following services</a:t>
            </a:r>
          </a:p>
        </p:txBody>
      </p:sp>
      <p:sp>
        <p:nvSpPr>
          <p:cNvPr id="3" name="Content Placeholder 2">
            <a:extLst>
              <a:ext uri="{FF2B5EF4-FFF2-40B4-BE49-F238E27FC236}">
                <a16:creationId xmlns:a16="http://schemas.microsoft.com/office/drawing/2014/main" id="{F760BAD3-6194-4DD8-8023-EF7B1CCBB511}"/>
              </a:ext>
            </a:extLst>
          </p:cNvPr>
          <p:cNvSpPr>
            <a:spLocks noGrp="1"/>
          </p:cNvSpPr>
          <p:nvPr>
            <p:ph idx="1"/>
          </p:nvPr>
        </p:nvSpPr>
        <p:spPr>
          <a:xfrm>
            <a:off x="702645" y="1357162"/>
            <a:ext cx="10915048" cy="5120639"/>
          </a:xfrm>
        </p:spPr>
        <p:txBody>
          <a:bodyPr/>
          <a:lstStyle/>
          <a:p>
            <a:pPr>
              <a:lnSpc>
                <a:spcPct val="200000"/>
              </a:lnSpc>
              <a:buFont typeface="Wingdings" panose="05000000000000000000" pitchFamily="2" charset="2"/>
              <a:buChar char="Ø"/>
            </a:pPr>
            <a:r>
              <a:rPr lang="en-US" b="1" dirty="0"/>
              <a:t>Software Development</a:t>
            </a:r>
            <a:r>
              <a:rPr lang="en-US" dirty="0"/>
              <a:t>-Tailored solutions for web, mobile, and enterprise applications.</a:t>
            </a:r>
          </a:p>
          <a:p>
            <a:pPr>
              <a:lnSpc>
                <a:spcPct val="200000"/>
              </a:lnSpc>
              <a:buFont typeface="Wingdings" panose="05000000000000000000" pitchFamily="2" charset="2"/>
              <a:buChar char="Ø"/>
            </a:pPr>
            <a:r>
              <a:rPr lang="en-US" b="1" dirty="0"/>
              <a:t>AI &amp; Machine Learning</a:t>
            </a:r>
            <a:r>
              <a:rPr lang="en-US" dirty="0"/>
              <a:t>-Smart automation and predictable insights.</a:t>
            </a:r>
          </a:p>
          <a:p>
            <a:pPr>
              <a:lnSpc>
                <a:spcPct val="200000"/>
              </a:lnSpc>
              <a:buFont typeface="Wingdings" panose="05000000000000000000" pitchFamily="2" charset="2"/>
              <a:buChar char="Ø"/>
            </a:pPr>
            <a:r>
              <a:rPr lang="en-US" b="1" dirty="0"/>
              <a:t>Data Analytics &amp; Business Intelligence</a:t>
            </a:r>
            <a:r>
              <a:rPr lang="en-US" dirty="0"/>
              <a:t>- Turning data into actionable decisions.</a:t>
            </a:r>
          </a:p>
        </p:txBody>
      </p:sp>
    </p:spTree>
    <p:extLst>
      <p:ext uri="{BB962C8B-B14F-4D97-AF65-F5344CB8AC3E}">
        <p14:creationId xmlns:p14="http://schemas.microsoft.com/office/powerpoint/2010/main" val="2466795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8EBF3C-893E-4457-82D4-41EE327121E5}"/>
              </a:ext>
            </a:extLst>
          </p:cNvPr>
          <p:cNvSpPr>
            <a:spLocks noGrp="1"/>
          </p:cNvSpPr>
          <p:nvPr>
            <p:ph type="title"/>
          </p:nvPr>
        </p:nvSpPr>
        <p:spPr>
          <a:xfrm>
            <a:off x="838200" y="365125"/>
            <a:ext cx="10515600" cy="732155"/>
          </a:xfrm>
        </p:spPr>
        <p:txBody>
          <a:bodyPr/>
          <a:lstStyle/>
          <a:p>
            <a:pPr algn="ctr"/>
            <a:r>
              <a:rPr lang="en-US" b="1" dirty="0"/>
              <a:t>ROAD ACCIDENT ANALYSIS</a:t>
            </a:r>
          </a:p>
        </p:txBody>
      </p:sp>
      <p:sp>
        <p:nvSpPr>
          <p:cNvPr id="3" name="Content Placeholder 2">
            <a:extLst>
              <a:ext uri="{FF2B5EF4-FFF2-40B4-BE49-F238E27FC236}">
                <a16:creationId xmlns:a16="http://schemas.microsoft.com/office/drawing/2014/main" id="{2F551124-0503-4E58-B8D0-8E064430D69C}"/>
              </a:ext>
            </a:extLst>
          </p:cNvPr>
          <p:cNvSpPr>
            <a:spLocks noGrp="1"/>
          </p:cNvSpPr>
          <p:nvPr>
            <p:ph idx="1"/>
          </p:nvPr>
        </p:nvSpPr>
        <p:spPr>
          <a:xfrm>
            <a:off x="838200" y="1511167"/>
            <a:ext cx="10105724" cy="2906830"/>
          </a:xfrm>
        </p:spPr>
        <p:txBody>
          <a:bodyPr>
            <a:normAutofit/>
          </a:bodyPr>
          <a:lstStyle/>
          <a:p>
            <a:pPr marL="0" indent="0">
              <a:lnSpc>
                <a:spcPct val="150000"/>
              </a:lnSpc>
              <a:buNone/>
            </a:pPr>
            <a:r>
              <a:rPr lang="en-US" dirty="0"/>
              <a:t>Road accident remain a critical public safety concern, with multiple factors such as weather conditions, road surface conditions, speed limits, and traffic controls influencing accident severity.</a:t>
            </a:r>
          </a:p>
          <a:p>
            <a:endParaRPr lang="en-US" dirty="0"/>
          </a:p>
        </p:txBody>
      </p:sp>
    </p:spTree>
    <p:extLst>
      <p:ext uri="{BB962C8B-B14F-4D97-AF65-F5344CB8AC3E}">
        <p14:creationId xmlns:p14="http://schemas.microsoft.com/office/powerpoint/2010/main" val="417538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61BB-F4B2-453F-BAE7-A167E4180039}"/>
              </a:ext>
            </a:extLst>
          </p:cNvPr>
          <p:cNvSpPr>
            <a:spLocks noGrp="1"/>
          </p:cNvSpPr>
          <p:nvPr>
            <p:ph type="title"/>
          </p:nvPr>
        </p:nvSpPr>
        <p:spPr>
          <a:xfrm>
            <a:off x="4062664" y="382336"/>
            <a:ext cx="6014987" cy="753445"/>
          </a:xfrm>
        </p:spPr>
        <p:txBody>
          <a:bodyPr>
            <a:normAutofit/>
          </a:bodyPr>
          <a:lstStyle/>
          <a:p>
            <a:r>
              <a:rPr lang="en-US" b="1" dirty="0"/>
              <a:t>Project Rationale</a:t>
            </a:r>
          </a:p>
        </p:txBody>
      </p:sp>
      <p:sp>
        <p:nvSpPr>
          <p:cNvPr id="3" name="Content Placeholder 2">
            <a:extLst>
              <a:ext uri="{FF2B5EF4-FFF2-40B4-BE49-F238E27FC236}">
                <a16:creationId xmlns:a16="http://schemas.microsoft.com/office/drawing/2014/main" id="{CE3A6CD9-DF92-4DE9-B7E2-6FFA3767CCB3}"/>
              </a:ext>
            </a:extLst>
          </p:cNvPr>
          <p:cNvSpPr>
            <a:spLocks noGrp="1"/>
          </p:cNvSpPr>
          <p:nvPr>
            <p:ph idx="1"/>
          </p:nvPr>
        </p:nvSpPr>
        <p:spPr>
          <a:xfrm>
            <a:off x="490888" y="1655545"/>
            <a:ext cx="10953550" cy="4848994"/>
          </a:xfrm>
        </p:spPr>
        <p:txBody>
          <a:bodyPr>
            <a:normAutofit lnSpcReduction="10000"/>
          </a:bodyPr>
          <a:lstStyle/>
          <a:p>
            <a:pPr>
              <a:lnSpc>
                <a:spcPct val="200000"/>
              </a:lnSpc>
              <a:buFont typeface="Wingdings" panose="05000000000000000000" pitchFamily="2" charset="2"/>
              <a:buChar char="Ø"/>
            </a:pPr>
            <a:r>
              <a:rPr lang="en-US" dirty="0"/>
              <a:t>Importance of Analyzing Road Traffic Accidents.</a:t>
            </a:r>
          </a:p>
          <a:p>
            <a:pPr>
              <a:lnSpc>
                <a:spcPct val="200000"/>
              </a:lnSpc>
              <a:buFont typeface="Wingdings" panose="05000000000000000000" pitchFamily="2" charset="2"/>
              <a:buChar char="Ø"/>
            </a:pPr>
            <a:r>
              <a:rPr lang="en-US" dirty="0"/>
              <a:t>Need for Data-Driven Decision Making.</a:t>
            </a:r>
          </a:p>
          <a:p>
            <a:pPr>
              <a:lnSpc>
                <a:spcPct val="200000"/>
              </a:lnSpc>
              <a:buFont typeface="Wingdings" panose="05000000000000000000" pitchFamily="2" charset="2"/>
              <a:buChar char="Ø"/>
            </a:pPr>
            <a:r>
              <a:rPr lang="en-US" dirty="0"/>
              <a:t>Addressing Key Road Safety Challenges.</a:t>
            </a:r>
          </a:p>
          <a:p>
            <a:pPr>
              <a:lnSpc>
                <a:spcPct val="200000"/>
              </a:lnSpc>
              <a:buFont typeface="Wingdings" panose="05000000000000000000" pitchFamily="2" charset="2"/>
              <a:buChar char="Ø"/>
            </a:pPr>
            <a:r>
              <a:rPr lang="en-US" dirty="0"/>
              <a:t>Enhanced Road Safety Policies.</a:t>
            </a:r>
          </a:p>
          <a:p>
            <a:pPr>
              <a:lnSpc>
                <a:spcPct val="200000"/>
              </a:lnSpc>
              <a:buFont typeface="Wingdings" panose="05000000000000000000" pitchFamily="2" charset="2"/>
              <a:buChar char="Ø"/>
            </a:pPr>
            <a:r>
              <a:rPr lang="en-US" dirty="0"/>
              <a:t>Optimized Resource Allocation.</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772573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1306-E3A6-4F0A-96D2-7A3CE91FBBE9}"/>
              </a:ext>
            </a:extLst>
          </p:cNvPr>
          <p:cNvSpPr>
            <a:spLocks noGrp="1"/>
          </p:cNvSpPr>
          <p:nvPr>
            <p:ph type="title"/>
          </p:nvPr>
        </p:nvSpPr>
        <p:spPr>
          <a:xfrm>
            <a:off x="838200" y="365126"/>
            <a:ext cx="10515600" cy="833220"/>
          </a:xfrm>
        </p:spPr>
        <p:txBody>
          <a:bodyPr/>
          <a:lstStyle/>
          <a:p>
            <a:pPr algn="ctr"/>
            <a:r>
              <a:rPr lang="en-US" b="1" dirty="0"/>
              <a:t>Project Workflow</a:t>
            </a:r>
          </a:p>
        </p:txBody>
      </p:sp>
      <p:sp>
        <p:nvSpPr>
          <p:cNvPr id="3" name="Content Placeholder 2">
            <a:extLst>
              <a:ext uri="{FF2B5EF4-FFF2-40B4-BE49-F238E27FC236}">
                <a16:creationId xmlns:a16="http://schemas.microsoft.com/office/drawing/2014/main" id="{BC125CC5-6D0F-4F19-855E-FEB71FC0B53D}"/>
              </a:ext>
            </a:extLst>
          </p:cNvPr>
          <p:cNvSpPr>
            <a:spLocks noGrp="1"/>
          </p:cNvSpPr>
          <p:nvPr>
            <p:ph idx="1"/>
          </p:nvPr>
        </p:nvSpPr>
        <p:spPr>
          <a:xfrm>
            <a:off x="838200" y="1607419"/>
            <a:ext cx="10515600" cy="4052236"/>
          </a:xfrm>
        </p:spPr>
        <p:txBody>
          <a:bodyPr/>
          <a:lstStyle/>
          <a:p>
            <a:pPr>
              <a:lnSpc>
                <a:spcPct val="250000"/>
              </a:lnSpc>
              <a:buFont typeface="Wingdings" panose="05000000000000000000" pitchFamily="2" charset="2"/>
              <a:buChar char="ü"/>
            </a:pPr>
            <a:r>
              <a:rPr lang="en-US" dirty="0"/>
              <a:t>Data Cleaning</a:t>
            </a:r>
          </a:p>
          <a:p>
            <a:pPr>
              <a:lnSpc>
                <a:spcPct val="250000"/>
              </a:lnSpc>
              <a:buFont typeface="Wingdings" panose="05000000000000000000" pitchFamily="2" charset="2"/>
              <a:buChar char="ü"/>
            </a:pPr>
            <a:r>
              <a:rPr lang="en-US" dirty="0"/>
              <a:t>Charts Creation</a:t>
            </a:r>
          </a:p>
          <a:p>
            <a:pPr>
              <a:lnSpc>
                <a:spcPct val="250000"/>
              </a:lnSpc>
              <a:buFont typeface="Wingdings" panose="05000000000000000000" pitchFamily="2" charset="2"/>
              <a:buChar char="ü"/>
            </a:pPr>
            <a:r>
              <a:rPr lang="en-US" dirty="0"/>
              <a:t>Dashboard Development (Excel)</a:t>
            </a:r>
          </a:p>
        </p:txBody>
      </p:sp>
    </p:spTree>
    <p:extLst>
      <p:ext uri="{BB962C8B-B14F-4D97-AF65-F5344CB8AC3E}">
        <p14:creationId xmlns:p14="http://schemas.microsoft.com/office/powerpoint/2010/main" val="332993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1EFD-74AD-4EFE-ABEE-F83EA8AD307B}"/>
              </a:ext>
            </a:extLst>
          </p:cNvPr>
          <p:cNvSpPr>
            <a:spLocks noGrp="1"/>
          </p:cNvSpPr>
          <p:nvPr>
            <p:ph type="title"/>
          </p:nvPr>
        </p:nvSpPr>
        <p:spPr>
          <a:xfrm>
            <a:off x="838200" y="365126"/>
            <a:ext cx="10515600" cy="876534"/>
          </a:xfrm>
        </p:spPr>
        <p:txBody>
          <a:bodyPr/>
          <a:lstStyle/>
          <a:p>
            <a:r>
              <a:rPr lang="en-US" b="1" dirty="0"/>
              <a:t>Questions the Data can Answer</a:t>
            </a:r>
          </a:p>
        </p:txBody>
      </p:sp>
      <p:sp>
        <p:nvSpPr>
          <p:cNvPr id="3" name="Content Placeholder 2">
            <a:extLst>
              <a:ext uri="{FF2B5EF4-FFF2-40B4-BE49-F238E27FC236}">
                <a16:creationId xmlns:a16="http://schemas.microsoft.com/office/drawing/2014/main" id="{8D0AF061-7C8B-45DC-ACC7-1E9837639337}"/>
              </a:ext>
            </a:extLst>
          </p:cNvPr>
          <p:cNvSpPr>
            <a:spLocks noGrp="1"/>
          </p:cNvSpPr>
          <p:nvPr>
            <p:ph idx="1"/>
          </p:nvPr>
        </p:nvSpPr>
        <p:spPr>
          <a:xfrm>
            <a:off x="838200" y="1665171"/>
            <a:ext cx="10336731" cy="4485372"/>
          </a:xfrm>
        </p:spPr>
        <p:txBody>
          <a:bodyPr>
            <a:normAutofit fontScale="92500"/>
          </a:bodyPr>
          <a:lstStyle/>
          <a:p>
            <a:pPr>
              <a:lnSpc>
                <a:spcPct val="200000"/>
              </a:lnSpc>
              <a:buFont typeface="Wingdings" panose="05000000000000000000" pitchFamily="2" charset="2"/>
              <a:buChar char="Ø"/>
            </a:pPr>
            <a:r>
              <a:rPr lang="en-US" sz="2400" dirty="0"/>
              <a:t>Trend of Accidents by Year, Month, and Day of the week, and the Severity of Accidents.</a:t>
            </a:r>
          </a:p>
          <a:p>
            <a:pPr>
              <a:lnSpc>
                <a:spcPct val="200000"/>
              </a:lnSpc>
              <a:buFont typeface="Wingdings" panose="05000000000000000000" pitchFamily="2" charset="2"/>
              <a:buChar char="Ø"/>
            </a:pPr>
            <a:r>
              <a:rPr lang="en-US" sz="2400" dirty="0"/>
              <a:t>High-Risk Factors Contributing to Accidents- Speed Limits, Road Conditions, Weather Conditions, Light Conditions, Time of Day, Urban vs Rural Areas.</a:t>
            </a:r>
          </a:p>
          <a:p>
            <a:pPr>
              <a:lnSpc>
                <a:spcPct val="200000"/>
              </a:lnSpc>
              <a:buFont typeface="Wingdings" panose="05000000000000000000" pitchFamily="2" charset="2"/>
              <a:buChar char="Ø"/>
            </a:pPr>
            <a:r>
              <a:rPr lang="en-US" sz="2400" dirty="0"/>
              <a:t>Accident Hotspots For Traffic Safety Interventions.</a:t>
            </a:r>
          </a:p>
          <a:p>
            <a:pPr>
              <a:lnSpc>
                <a:spcPct val="200000"/>
              </a:lnSpc>
              <a:buFont typeface="Wingdings" panose="05000000000000000000" pitchFamily="2" charset="2"/>
              <a:buChar char="Ø"/>
            </a:pPr>
            <a:r>
              <a:rPr lang="en-US" sz="2400" dirty="0"/>
              <a:t>Recommendations.</a:t>
            </a:r>
          </a:p>
          <a:p>
            <a:pPr marL="0" indent="0">
              <a:lnSpc>
                <a:spcPct val="200000"/>
              </a:lnSpc>
              <a:buNone/>
            </a:pPr>
            <a:endParaRPr lang="en-US" sz="2400" dirty="0"/>
          </a:p>
        </p:txBody>
      </p:sp>
    </p:spTree>
    <p:extLst>
      <p:ext uri="{BB962C8B-B14F-4D97-AF65-F5344CB8AC3E}">
        <p14:creationId xmlns:p14="http://schemas.microsoft.com/office/powerpoint/2010/main" val="2004579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32A4B-35A0-4186-8EC6-4A8BA060FE43}"/>
              </a:ext>
            </a:extLst>
          </p:cNvPr>
          <p:cNvSpPr>
            <a:spLocks noGrp="1"/>
          </p:cNvSpPr>
          <p:nvPr>
            <p:ph type="title"/>
          </p:nvPr>
        </p:nvSpPr>
        <p:spPr>
          <a:xfrm>
            <a:off x="429847" y="107112"/>
            <a:ext cx="2922954" cy="519763"/>
          </a:xfrm>
        </p:spPr>
        <p:txBody>
          <a:bodyPr>
            <a:normAutofit fontScale="90000"/>
          </a:bodyPr>
          <a:lstStyle/>
          <a:p>
            <a:r>
              <a:rPr lang="en-US" b="1" dirty="0"/>
              <a:t>RESULTS</a:t>
            </a:r>
          </a:p>
        </p:txBody>
      </p:sp>
      <p:graphicFrame>
        <p:nvGraphicFramePr>
          <p:cNvPr id="6" name="Content Placeholder 5">
            <a:extLst>
              <a:ext uri="{FF2B5EF4-FFF2-40B4-BE49-F238E27FC236}">
                <a16:creationId xmlns:a16="http://schemas.microsoft.com/office/drawing/2014/main" id="{0C2E8D65-453C-4B96-8EAC-A2C2E0F22D49}"/>
              </a:ext>
            </a:extLst>
          </p:cNvPr>
          <p:cNvGraphicFramePr>
            <a:graphicFrameLocks noGrp="1"/>
          </p:cNvGraphicFramePr>
          <p:nvPr>
            <p:ph idx="1"/>
            <p:extLst>
              <p:ext uri="{D42A27DB-BD31-4B8C-83A1-F6EECF244321}">
                <p14:modId xmlns:p14="http://schemas.microsoft.com/office/powerpoint/2010/main" val="3062553600"/>
              </p:ext>
            </p:extLst>
          </p:nvPr>
        </p:nvGraphicFramePr>
        <p:xfrm>
          <a:off x="1113568" y="598741"/>
          <a:ext cx="7940843" cy="3474719"/>
        </p:xfrm>
        <a:graphic>
          <a:graphicData uri="http://schemas.openxmlformats.org/drawingml/2006/table">
            <a:tbl>
              <a:tblPr>
                <a:tableStyleId>{5C22544A-7EE6-4342-B048-85BDC9FD1C3A}</a:tableStyleId>
              </a:tblPr>
              <a:tblGrid>
                <a:gridCol w="1745065">
                  <a:extLst>
                    <a:ext uri="{9D8B030D-6E8A-4147-A177-3AD203B41FA5}">
                      <a16:colId xmlns:a16="http://schemas.microsoft.com/office/drawing/2014/main" val="1905253169"/>
                    </a:ext>
                  </a:extLst>
                </a:gridCol>
                <a:gridCol w="1777084">
                  <a:extLst>
                    <a:ext uri="{9D8B030D-6E8A-4147-A177-3AD203B41FA5}">
                      <a16:colId xmlns:a16="http://schemas.microsoft.com/office/drawing/2014/main" val="217201675"/>
                    </a:ext>
                  </a:extLst>
                </a:gridCol>
                <a:gridCol w="1536937">
                  <a:extLst>
                    <a:ext uri="{9D8B030D-6E8A-4147-A177-3AD203B41FA5}">
                      <a16:colId xmlns:a16="http://schemas.microsoft.com/office/drawing/2014/main" val="2853114340"/>
                    </a:ext>
                  </a:extLst>
                </a:gridCol>
                <a:gridCol w="1072653">
                  <a:extLst>
                    <a:ext uri="{9D8B030D-6E8A-4147-A177-3AD203B41FA5}">
                      <a16:colId xmlns:a16="http://schemas.microsoft.com/office/drawing/2014/main" val="3329462947"/>
                    </a:ext>
                  </a:extLst>
                </a:gridCol>
                <a:gridCol w="880538">
                  <a:extLst>
                    <a:ext uri="{9D8B030D-6E8A-4147-A177-3AD203B41FA5}">
                      <a16:colId xmlns:a16="http://schemas.microsoft.com/office/drawing/2014/main" val="4031973024"/>
                    </a:ext>
                  </a:extLst>
                </a:gridCol>
                <a:gridCol w="928566">
                  <a:extLst>
                    <a:ext uri="{9D8B030D-6E8A-4147-A177-3AD203B41FA5}">
                      <a16:colId xmlns:a16="http://schemas.microsoft.com/office/drawing/2014/main" val="281287897"/>
                    </a:ext>
                  </a:extLst>
                </a:gridCol>
              </a:tblGrid>
              <a:tr h="479870">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l" fontAlgn="b"/>
                      <a:r>
                        <a:rPr lang="en-US" sz="1400" b="1" u="none" strike="noStrike" dirty="0">
                          <a:effectLst/>
                        </a:rPr>
                        <a:t>Number of Casualties</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l" fontAlgn="b"/>
                      <a:r>
                        <a:rPr lang="en-US" sz="1400" b="1" u="none" strike="noStrike" dirty="0">
                          <a:effectLst/>
                        </a:rPr>
                        <a:t>Number of Vehicle</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l" fontAlgn="b"/>
                      <a:r>
                        <a:rPr lang="en-US" sz="1400" b="1" u="none" strike="noStrike" dirty="0">
                          <a:effectLst/>
                        </a:rPr>
                        <a:t>Speed limit</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l" fontAlgn="b"/>
                      <a:r>
                        <a:rPr lang="en-US" sz="1400" b="1" u="none" strike="noStrike" dirty="0">
                          <a:effectLst/>
                        </a:rPr>
                        <a:t>Latitude</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l" fontAlgn="b"/>
                      <a:r>
                        <a:rPr lang="en-US" sz="1400" b="1" u="none" strike="noStrike" dirty="0">
                          <a:effectLst/>
                        </a:rPr>
                        <a:t>Longitude</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4040465053"/>
                  </a:ext>
                </a:extLst>
              </a:tr>
              <a:tr h="332761">
                <a:tc>
                  <a:txBody>
                    <a:bodyPr/>
                    <a:lstStyle/>
                    <a:p>
                      <a:pPr algn="l" fontAlgn="b"/>
                      <a:r>
                        <a:rPr lang="en-US" sz="1400" b="1" u="none" strike="noStrike" dirty="0">
                          <a:effectLst/>
                        </a:rPr>
                        <a:t>Mean</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39</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52.487001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-1.368882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4132755677"/>
                  </a:ext>
                </a:extLst>
              </a:tr>
              <a:tr h="332761">
                <a:tc>
                  <a:txBody>
                    <a:bodyPr/>
                    <a:lstStyle/>
                    <a:p>
                      <a:pPr algn="l" fontAlgn="b"/>
                      <a:r>
                        <a:rPr lang="en-US" sz="1400" b="1" u="none" strike="noStrike">
                          <a:effectLst/>
                        </a:rPr>
                        <a:t>Median</a:t>
                      </a:r>
                      <a:endParaRPr lang="en-US" sz="1400" b="1"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30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52.225935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-1.349254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2027700919"/>
                  </a:ext>
                </a:extLst>
              </a:tr>
              <a:tr h="332761">
                <a:tc>
                  <a:txBody>
                    <a:bodyPr/>
                    <a:lstStyle/>
                    <a:p>
                      <a:pPr algn="l" fontAlgn="b"/>
                      <a:r>
                        <a:rPr lang="en-US" sz="1400" b="1" u="none" strike="noStrike" dirty="0">
                          <a:effectLst/>
                        </a:rPr>
                        <a:t>Mode</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30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52.458798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-1.190861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2795239525"/>
                  </a:ext>
                </a:extLst>
              </a:tr>
              <a:tr h="332761">
                <a:tc>
                  <a:txBody>
                    <a:bodyPr/>
                    <a:lstStyle/>
                    <a:p>
                      <a:pPr algn="l" fontAlgn="b"/>
                      <a:r>
                        <a:rPr lang="en-US" sz="1400" b="1" u="none" strike="noStrike">
                          <a:effectLst/>
                        </a:rPr>
                        <a:t>Skewness</a:t>
                      </a:r>
                      <a:endParaRPr lang="en-US" sz="1400" b="1"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5.685365237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1.853603433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1.14211987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0.999366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-0.378502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3892388054"/>
                  </a:ext>
                </a:extLst>
              </a:tr>
              <a:tr h="332761">
                <a:tc>
                  <a:txBody>
                    <a:bodyPr/>
                    <a:lstStyle/>
                    <a:p>
                      <a:pPr algn="l" fontAlgn="b"/>
                      <a:r>
                        <a:rPr lang="en-US" sz="1400" b="1" u="none" strike="noStrike">
                          <a:effectLst/>
                        </a:rPr>
                        <a:t>Q3</a:t>
                      </a:r>
                      <a:endParaRPr lang="en-US" sz="1400" b="1"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60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53.415514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-0.206810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1115369419"/>
                  </a:ext>
                </a:extLst>
              </a:tr>
              <a:tr h="332761">
                <a:tc>
                  <a:txBody>
                    <a:bodyPr/>
                    <a:lstStyle/>
                    <a:p>
                      <a:pPr algn="l" fontAlgn="b"/>
                      <a:r>
                        <a:rPr lang="en-US" sz="1400" b="1" u="none" strike="noStrike">
                          <a:effectLst/>
                        </a:rPr>
                        <a:t>Q1</a:t>
                      </a:r>
                      <a:endParaRPr lang="en-US" sz="1400" b="1"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30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51.485248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-2.247942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629919245"/>
                  </a:ext>
                </a:extLst>
              </a:tr>
              <a:tr h="332761">
                <a:tc>
                  <a:txBody>
                    <a:bodyPr/>
                    <a:lstStyle/>
                    <a:p>
                      <a:pPr algn="l" fontAlgn="b"/>
                      <a:r>
                        <a:rPr lang="en-US" sz="1400" b="1" u="none" strike="noStrike">
                          <a:effectLst/>
                        </a:rPr>
                        <a:t>Range</a:t>
                      </a:r>
                      <a:endParaRPr lang="en-US" sz="1400" b="1"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30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1.930266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2.041132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1253856967"/>
                  </a:ext>
                </a:extLst>
              </a:tr>
              <a:tr h="332761">
                <a:tc>
                  <a:txBody>
                    <a:bodyPr/>
                    <a:lstStyle/>
                    <a:p>
                      <a:pPr algn="l" fontAlgn="b"/>
                      <a:r>
                        <a:rPr lang="en-US" sz="1400" b="1" u="none" strike="noStrike" dirty="0">
                          <a:effectLst/>
                        </a:rPr>
                        <a:t>Variance</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0.665624293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0.50477643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196.923451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1.792951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1.8389894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3670363148"/>
                  </a:ext>
                </a:extLst>
              </a:tr>
              <a:tr h="332761">
                <a:tc>
                  <a:txBody>
                    <a:bodyPr/>
                    <a:lstStyle/>
                    <a:p>
                      <a:pPr algn="l" fontAlgn="b"/>
                      <a:r>
                        <a:rPr lang="en-US" sz="1400" b="1" u="none" strike="noStrike" dirty="0">
                          <a:effectLst/>
                        </a:rPr>
                        <a:t>Standard Deviation</a:t>
                      </a:r>
                      <a:endParaRPr lang="en-US" sz="1400" b="1"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0.82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a:effectLst/>
                        </a:rPr>
                        <a:t>1.34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tc>
                  <a:txBody>
                    <a:bodyPr/>
                    <a:lstStyle/>
                    <a:p>
                      <a:pPr algn="r" fontAlgn="b"/>
                      <a:r>
                        <a:rPr lang="en-US" sz="1400" u="none" strike="noStrike" dirty="0">
                          <a:effectLst/>
                        </a:rPr>
                        <a:t>1.36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3">
                        <a:lumMod val="20000"/>
                        <a:lumOff val="80000"/>
                      </a:schemeClr>
                    </a:solidFill>
                  </a:tcPr>
                </a:tc>
                <a:extLst>
                  <a:ext uri="{0D108BD9-81ED-4DB2-BD59-A6C34878D82A}">
                    <a16:rowId xmlns:a16="http://schemas.microsoft.com/office/drawing/2014/main" val="58969414"/>
                  </a:ext>
                </a:extLst>
              </a:tr>
            </a:tbl>
          </a:graphicData>
        </a:graphic>
      </p:graphicFrame>
      <p:sp>
        <p:nvSpPr>
          <p:cNvPr id="3" name="Rectangle 2"/>
          <p:cNvSpPr/>
          <p:nvPr/>
        </p:nvSpPr>
        <p:spPr>
          <a:xfrm>
            <a:off x="320431" y="4181401"/>
            <a:ext cx="11465169" cy="2831544"/>
          </a:xfrm>
          <a:prstGeom prst="rect">
            <a:avLst/>
          </a:prstGeom>
        </p:spPr>
        <p:txBody>
          <a:bodyPr wrap="square">
            <a:spAutoFit/>
          </a:bodyPr>
          <a:lstStyle/>
          <a:p>
            <a:r>
              <a:rPr lang="en-US" sz="1600" dirty="0"/>
              <a:t>The </a:t>
            </a:r>
            <a:r>
              <a:rPr lang="en-US" sz="1600" b="1" dirty="0"/>
              <a:t>mean number of casualties is  1</a:t>
            </a:r>
            <a:r>
              <a:rPr lang="en-US" sz="1600" dirty="0"/>
              <a:t>, while the median is 1.</a:t>
            </a:r>
            <a:br>
              <a:rPr lang="en-US" sz="1600" dirty="0"/>
            </a:br>
            <a:r>
              <a:rPr lang="en-US" sz="1600" dirty="0"/>
              <a:t>This tells us that most accidents involve only one casualty, but there are some higher-casualty incidents pulling the mean upward.</a:t>
            </a:r>
            <a:br>
              <a:rPr lang="en-US" sz="1600" dirty="0"/>
            </a:br>
            <a:r>
              <a:rPr lang="en-US" sz="1600" dirty="0"/>
              <a:t>The high skewness confirms this distribution is right-skewed.</a:t>
            </a:r>
          </a:p>
          <a:p>
            <a:r>
              <a:rPr lang="en-US" sz="1600" dirty="0"/>
              <a:t>The </a:t>
            </a:r>
            <a:r>
              <a:rPr lang="en-US" sz="1600" b="1" dirty="0"/>
              <a:t>mean number of vehicles is 2</a:t>
            </a:r>
            <a:r>
              <a:rPr lang="en-US" sz="1600" dirty="0"/>
              <a:t>, with a median of 2.</a:t>
            </a:r>
            <a:br>
              <a:rPr lang="en-US" sz="1600" dirty="0"/>
            </a:br>
            <a:r>
              <a:rPr lang="en-US" sz="1600" dirty="0"/>
              <a:t>This indicates most accidents involve two vehicles, which aligns with typical collision patterns.</a:t>
            </a:r>
          </a:p>
          <a:p>
            <a:r>
              <a:rPr lang="en-US" sz="1600" dirty="0"/>
              <a:t>The </a:t>
            </a:r>
            <a:r>
              <a:rPr lang="en-US" sz="1600" b="1" dirty="0"/>
              <a:t>median speed limit is 30 mph</a:t>
            </a:r>
            <a:r>
              <a:rPr lang="en-US" sz="1600" dirty="0"/>
              <a:t>, and the range is 30 mph.</a:t>
            </a:r>
            <a:br>
              <a:rPr lang="en-US" sz="1600" dirty="0"/>
            </a:br>
            <a:r>
              <a:rPr lang="en-US" sz="1600" dirty="0"/>
              <a:t>This shows that accidents happen across all speed environments, but predominantly in urban 30 mph zones.</a:t>
            </a:r>
          </a:p>
          <a:p>
            <a:r>
              <a:rPr lang="en-US" sz="1600" dirty="0"/>
              <a:t>These descriptive statistics help us understand the structure and distribution of the dataset before analyzing causation.</a:t>
            </a:r>
            <a:r>
              <a:rPr lang="en-US" sz="1600" dirty="0">
                <a:solidFill>
                  <a:srgbClr val="0D0D0D"/>
                </a:solidFill>
                <a:effectLst/>
                <a:ea typeface="Calibri" panose="020F0502020204030204" pitchFamily="34" charset="0"/>
                <a:cs typeface="Calibri" panose="020F0502020204030204" pitchFamily="34" charset="0"/>
              </a:rPr>
              <a:t> </a:t>
            </a:r>
          </a:p>
          <a:p>
            <a:r>
              <a:rPr lang="en-US" sz="1600" dirty="0">
                <a:solidFill>
                  <a:srgbClr val="0D0D0D"/>
                </a:solidFill>
                <a:effectLst/>
                <a:ea typeface="Calibri" panose="020F0502020204030204" pitchFamily="34" charset="0"/>
                <a:cs typeface="Calibri" panose="020F0502020204030204" pitchFamily="34" charset="0"/>
              </a:rPr>
              <a:t>The </a:t>
            </a:r>
            <a:r>
              <a:rPr lang="en-US" sz="1600" b="1" dirty="0">
                <a:solidFill>
                  <a:srgbClr val="0D0D0D"/>
                </a:solidFill>
                <a:effectLst/>
                <a:ea typeface="Calibri" panose="020F0502020204030204" pitchFamily="34" charset="0"/>
                <a:cs typeface="Calibri" panose="020F0502020204030204" pitchFamily="34" charset="0"/>
              </a:rPr>
              <a:t>Mean</a:t>
            </a:r>
            <a:r>
              <a:rPr lang="en-US" sz="1600" dirty="0">
                <a:solidFill>
                  <a:srgbClr val="0D0D0D"/>
                </a:solidFill>
                <a:effectLst/>
                <a:ea typeface="Calibri" panose="020F0502020204030204" pitchFamily="34" charset="0"/>
                <a:cs typeface="Calibri" panose="020F0502020204030204" pitchFamily="34" charset="0"/>
              </a:rPr>
              <a:t>, </a:t>
            </a:r>
            <a:r>
              <a:rPr lang="en-US" sz="1600" b="1" dirty="0">
                <a:solidFill>
                  <a:srgbClr val="0D0D0D"/>
                </a:solidFill>
                <a:effectLst/>
                <a:ea typeface="Calibri" panose="020F0502020204030204" pitchFamily="34" charset="0"/>
                <a:cs typeface="Calibri" panose="020F0502020204030204" pitchFamily="34" charset="0"/>
              </a:rPr>
              <a:t>Range</a:t>
            </a:r>
            <a:r>
              <a:rPr lang="en-US" sz="1600" dirty="0">
                <a:solidFill>
                  <a:srgbClr val="0D0D0D"/>
                </a:solidFill>
                <a:effectLst/>
                <a:ea typeface="Calibri" panose="020F0502020204030204" pitchFamily="34" charset="0"/>
                <a:cs typeface="Calibri" panose="020F0502020204030204" pitchFamily="34" charset="0"/>
              </a:rPr>
              <a:t> and </a:t>
            </a:r>
            <a:r>
              <a:rPr lang="en-US" sz="1600" b="1" dirty="0">
                <a:solidFill>
                  <a:srgbClr val="0D0D0D"/>
                </a:solidFill>
                <a:effectLst/>
                <a:ea typeface="Calibri" panose="020F0502020204030204" pitchFamily="34" charset="0"/>
                <a:cs typeface="Calibri" panose="020F0502020204030204" pitchFamily="34" charset="0"/>
              </a:rPr>
              <a:t>Standard Deviation </a:t>
            </a:r>
            <a:r>
              <a:rPr lang="en-US" sz="1600" dirty="0">
                <a:solidFill>
                  <a:srgbClr val="0D0D0D"/>
                </a:solidFill>
                <a:effectLst/>
                <a:ea typeface="Calibri" panose="020F0502020204030204" pitchFamily="34" charset="0"/>
                <a:cs typeface="Calibri" panose="020F0502020204030204" pitchFamily="34" charset="0"/>
              </a:rPr>
              <a:t>of the </a:t>
            </a:r>
            <a:r>
              <a:rPr lang="en-US" sz="1600" b="1" dirty="0">
                <a:solidFill>
                  <a:srgbClr val="0D0D0D"/>
                </a:solidFill>
                <a:effectLst/>
                <a:ea typeface="Calibri" panose="020F0502020204030204" pitchFamily="34" charset="0"/>
                <a:cs typeface="Calibri" panose="020F0502020204030204" pitchFamily="34" charset="0"/>
              </a:rPr>
              <a:t>Latitude </a:t>
            </a:r>
            <a:r>
              <a:rPr lang="en-US" sz="1600" dirty="0">
                <a:solidFill>
                  <a:srgbClr val="0D0D0D"/>
                </a:solidFill>
                <a:effectLst/>
                <a:ea typeface="Calibri" panose="020F0502020204030204" pitchFamily="34" charset="0"/>
                <a:cs typeface="Calibri" panose="020F0502020204030204" pitchFamily="34" charset="0"/>
              </a:rPr>
              <a:t>and </a:t>
            </a:r>
            <a:r>
              <a:rPr lang="en-US" sz="1600" b="1" dirty="0">
                <a:solidFill>
                  <a:srgbClr val="0D0D0D"/>
                </a:solidFill>
                <a:effectLst/>
                <a:ea typeface="Calibri" panose="020F0502020204030204" pitchFamily="34" charset="0"/>
                <a:cs typeface="Calibri" panose="020F0502020204030204" pitchFamily="34" charset="0"/>
              </a:rPr>
              <a:t>Longitude</a:t>
            </a:r>
            <a:r>
              <a:rPr lang="en-US" sz="1600" dirty="0">
                <a:solidFill>
                  <a:srgbClr val="0D0D0D"/>
                </a:solidFill>
                <a:effectLst/>
                <a:ea typeface="Calibri" panose="020F0502020204030204" pitchFamily="34" charset="0"/>
                <a:cs typeface="Calibri" panose="020F0502020204030204" pitchFamily="34" charset="0"/>
              </a:rPr>
              <a:t> indicate that road accidents are </a:t>
            </a:r>
            <a:r>
              <a:rPr lang="en-US" sz="1600" b="0" dirty="0">
                <a:effectLst/>
                <a:ea typeface="Calibri" panose="020F0502020204030204" pitchFamily="34" charset="0"/>
                <a:cs typeface="Times New Roman" panose="02020603050405020304" pitchFamily="18" charset="0"/>
              </a:rPr>
              <a:t>spatially distributed across multiple local authorities</a:t>
            </a:r>
            <a:r>
              <a:rPr lang="en-US" sz="1600" dirty="0">
                <a:effectLst/>
                <a:ea typeface="Calibri" panose="020F0502020204030204" pitchFamily="34" charset="0"/>
                <a:cs typeface="Times New Roman" panose="02020603050405020304" pitchFamily="18" charset="0"/>
              </a:rPr>
              <a:t>, rather than being limited to a specific center.</a:t>
            </a:r>
          </a:p>
          <a:p>
            <a:endParaRPr lang="en-US" dirty="0"/>
          </a:p>
        </p:txBody>
      </p:sp>
    </p:spTree>
    <p:extLst>
      <p:ext uri="{BB962C8B-B14F-4D97-AF65-F5344CB8AC3E}">
        <p14:creationId xmlns:p14="http://schemas.microsoft.com/office/powerpoint/2010/main" val="2149938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2B5E-A806-4B90-A0FD-904BA9D5636E}"/>
              </a:ext>
            </a:extLst>
          </p:cNvPr>
          <p:cNvSpPr>
            <a:spLocks noGrp="1"/>
          </p:cNvSpPr>
          <p:nvPr>
            <p:ph type="title"/>
          </p:nvPr>
        </p:nvSpPr>
        <p:spPr>
          <a:xfrm>
            <a:off x="838200" y="163629"/>
            <a:ext cx="10515600" cy="673769"/>
          </a:xfrm>
        </p:spPr>
        <p:txBody>
          <a:bodyPr>
            <a:normAutofit fontScale="90000"/>
          </a:bodyPr>
          <a:lstStyle/>
          <a:p>
            <a:r>
              <a:rPr lang="en-US" b="1" dirty="0"/>
              <a:t>ACCIDENT DETERMINANTS</a:t>
            </a:r>
          </a:p>
        </p:txBody>
      </p:sp>
      <p:graphicFrame>
        <p:nvGraphicFramePr>
          <p:cNvPr id="4" name="Content Placeholder 3">
            <a:extLst>
              <a:ext uri="{FF2B5EF4-FFF2-40B4-BE49-F238E27FC236}">
                <a16:creationId xmlns:a16="http://schemas.microsoft.com/office/drawing/2014/main" id="{FF386C06-458A-4B36-850E-D30B2DB41B18}"/>
              </a:ext>
            </a:extLst>
          </p:cNvPr>
          <p:cNvGraphicFramePr>
            <a:graphicFrameLocks noGrp="1"/>
          </p:cNvGraphicFramePr>
          <p:nvPr>
            <p:ph idx="1"/>
            <p:extLst>
              <p:ext uri="{D42A27DB-BD31-4B8C-83A1-F6EECF244321}">
                <p14:modId xmlns:p14="http://schemas.microsoft.com/office/powerpoint/2010/main" val="653757078"/>
              </p:ext>
            </p:extLst>
          </p:nvPr>
        </p:nvGraphicFramePr>
        <p:xfrm>
          <a:off x="838200" y="1305862"/>
          <a:ext cx="3878179" cy="25249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FF386C06-458A-4B36-850E-D30B2DB41B18}"/>
              </a:ext>
            </a:extLst>
          </p:cNvPr>
          <p:cNvGraphicFramePr>
            <a:graphicFrameLocks/>
          </p:cNvGraphicFramePr>
          <p:nvPr>
            <p:extLst>
              <p:ext uri="{D42A27DB-BD31-4B8C-83A1-F6EECF244321}">
                <p14:modId xmlns:p14="http://schemas.microsoft.com/office/powerpoint/2010/main" val="964691287"/>
              </p:ext>
            </p:extLst>
          </p:nvPr>
        </p:nvGraphicFramePr>
        <p:xfrm>
          <a:off x="958918" y="915633"/>
          <a:ext cx="3011905" cy="259160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3E6E8914-641A-4824-B9FA-35AB19E15787}"/>
              </a:ext>
            </a:extLst>
          </p:cNvPr>
          <p:cNvGraphicFramePr>
            <a:graphicFrameLocks/>
          </p:cNvGraphicFramePr>
          <p:nvPr>
            <p:extLst>
              <p:ext uri="{D42A27DB-BD31-4B8C-83A1-F6EECF244321}">
                <p14:modId xmlns:p14="http://schemas.microsoft.com/office/powerpoint/2010/main" val="3538314629"/>
              </p:ext>
            </p:extLst>
          </p:nvPr>
        </p:nvGraphicFramePr>
        <p:xfrm>
          <a:off x="7700355" y="837398"/>
          <a:ext cx="3058138" cy="2456232"/>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939F3CB0-59F3-45B2-AB56-E1C9D3BB939A}"/>
              </a:ext>
            </a:extLst>
          </p:cNvPr>
          <p:cNvSpPr txBox="1"/>
          <p:nvPr/>
        </p:nvSpPr>
        <p:spPr>
          <a:xfrm>
            <a:off x="838200" y="3507235"/>
            <a:ext cx="5379720" cy="2585323"/>
          </a:xfrm>
          <a:prstGeom prst="rect">
            <a:avLst/>
          </a:prstGeom>
          <a:noFill/>
        </p:spPr>
        <p:txBody>
          <a:bodyPr wrap="square">
            <a:spAutoFit/>
          </a:bodyPr>
          <a:lstStyle/>
          <a:p>
            <a:pPr marR="0" lvl="0">
              <a:spcBef>
                <a:spcPts val="0"/>
              </a:spcBef>
              <a:spcAft>
                <a:spcPts val="0"/>
              </a:spcAft>
              <a:buSzPts val="1000"/>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85.19% of accidents are slight,</a:t>
            </a:r>
            <a:r>
              <a:rPr lang="en-US" dirty="0">
                <a:latin typeface="Times New Roman" panose="02020603050405020304" pitchFamily="18" charset="0"/>
                <a:ea typeface="Times New Roman" panose="02020603050405020304" pitchFamily="18" charset="0"/>
              </a:rPr>
              <a:t> </a:t>
            </a:r>
            <a:r>
              <a:rPr lang="en-US" sz="1800" dirty="0">
                <a:solidFill>
                  <a:srgbClr val="0D0D0D"/>
                </a:solidFill>
                <a:effectLst/>
                <a:latin typeface="Calibri" panose="020F0502020204030204" pitchFamily="34" charset="0"/>
                <a:ea typeface="Times New Roman" panose="02020603050405020304" pitchFamily="18" charset="0"/>
              </a:rPr>
              <a:t>13.19% are serious,</a:t>
            </a:r>
            <a:r>
              <a:rPr lang="en-US" dirty="0">
                <a:latin typeface="Times New Roman" panose="02020603050405020304" pitchFamily="18" charset="0"/>
                <a:ea typeface="Times New Roman" panose="02020603050405020304" pitchFamily="18" charset="0"/>
              </a:rPr>
              <a:t> </a:t>
            </a:r>
            <a:r>
              <a:rPr lang="en-US" sz="1800" dirty="0">
                <a:solidFill>
                  <a:srgbClr val="0D0D0D"/>
                </a:solidFill>
                <a:effectLst/>
                <a:latin typeface="Calibri" panose="020F0502020204030204" pitchFamily="34" charset="0"/>
                <a:ea typeface="Times New Roman" panose="02020603050405020304" pitchFamily="18" charset="0"/>
              </a:rPr>
              <a:t>1.62% are fatal.</a:t>
            </a:r>
            <a:endParaRPr lang="en-US" sz="1800" dirty="0">
              <a:effectLst/>
              <a:latin typeface="Times New Roman" panose="02020603050405020304" pitchFamily="18" charset="0"/>
              <a:ea typeface="Times New Roman" panose="02020603050405020304" pitchFamily="18" charset="0"/>
            </a:endParaRPr>
          </a:p>
          <a:p>
            <a:pPr marL="0" marR="0" algn="l"/>
            <a:r>
              <a:rPr lang="en-US" sz="1800" dirty="0">
                <a:solidFill>
                  <a:srgbClr val="0D0D0D"/>
                </a:solidFill>
                <a:effectLst/>
                <a:latin typeface="Calibri" panose="020F0502020204030204" pitchFamily="34" charset="0"/>
                <a:ea typeface="Times New Roman" panose="02020603050405020304" pitchFamily="18" charset="0"/>
              </a:rPr>
              <a:t>This indicates that while accidents are frequent, most are </a:t>
            </a:r>
            <a:r>
              <a:rPr lang="en-US" dirty="0">
                <a:solidFill>
                  <a:srgbClr val="0D0D0D"/>
                </a:solidFill>
                <a:latin typeface="Calibri" panose="020F0502020204030204" pitchFamily="34" charset="0"/>
                <a:ea typeface="Times New Roman" panose="02020603050405020304" pitchFamily="18" charset="0"/>
              </a:rPr>
              <a:t>slight </a:t>
            </a:r>
            <a:r>
              <a:rPr lang="en-US" sz="1800" dirty="0">
                <a:solidFill>
                  <a:srgbClr val="0D0D0D"/>
                </a:solidFill>
                <a:effectLst/>
                <a:latin typeface="Calibri" panose="020F0502020204030204" pitchFamily="34" charset="0"/>
                <a:ea typeface="Times New Roman" panose="02020603050405020304" pitchFamily="18" charset="0"/>
              </a:rPr>
              <a:t>severity.</a:t>
            </a:r>
            <a:endParaRPr lang="en-US" sz="1800" dirty="0">
              <a:effectLst/>
              <a:latin typeface="Times New Roman" panose="02020603050405020304" pitchFamily="18" charset="0"/>
              <a:ea typeface="Times New Roman" panose="02020603050405020304" pitchFamily="18" charset="0"/>
            </a:endParaRPr>
          </a:p>
          <a:p>
            <a:pPr marL="0" marR="0" algn="l"/>
            <a:r>
              <a:rPr lang="en-US" sz="1800" dirty="0">
                <a:solidFill>
                  <a:srgbClr val="0D0D0D"/>
                </a:solidFill>
                <a:effectLst/>
                <a:latin typeface="Calibri" panose="020F0502020204030204" pitchFamily="34" charset="0"/>
                <a:ea typeface="Times New Roman" panose="02020603050405020304" pitchFamily="18" charset="0"/>
              </a:rPr>
              <a:t>However, even a small percentage of fatal accidents is significant, this represents thousands of lives affected.</a:t>
            </a:r>
            <a:endParaRPr lang="en-US" sz="1800" dirty="0">
              <a:effectLst/>
              <a:latin typeface="Times New Roman" panose="02020603050405020304" pitchFamily="18" charset="0"/>
              <a:ea typeface="Times New Roman" panose="02020603050405020304" pitchFamily="18" charset="0"/>
            </a:endParaRPr>
          </a:p>
          <a:p>
            <a:pPr marL="0" marR="0" algn="l"/>
            <a:r>
              <a:rPr lang="en-US" sz="1800" dirty="0">
                <a:solidFill>
                  <a:srgbClr val="0D0D0D"/>
                </a:solidFill>
                <a:effectLst/>
                <a:latin typeface="Calibri" panose="020F0502020204030204" pitchFamily="34" charset="0"/>
                <a:ea typeface="Times New Roman" panose="02020603050405020304" pitchFamily="18" charset="0"/>
              </a:rPr>
              <a:t>This distinction is important because policy should focus not just on reducing accidents, but on reducing severity.</a:t>
            </a:r>
            <a:endParaRPr lang="en-US" sz="18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26075C08-744D-4F83-8EEC-AFEBE92A7EB0}"/>
              </a:ext>
            </a:extLst>
          </p:cNvPr>
          <p:cNvSpPr txBox="1"/>
          <p:nvPr/>
        </p:nvSpPr>
        <p:spPr>
          <a:xfrm>
            <a:off x="6593305" y="3507235"/>
            <a:ext cx="5197642" cy="3255507"/>
          </a:xfrm>
          <a:prstGeom prst="rect">
            <a:avLst/>
          </a:prstGeom>
          <a:noFill/>
        </p:spPr>
        <p:txBody>
          <a:bodyPr wrap="square">
            <a:spAutoFit/>
          </a:bodyPr>
          <a:lstStyle/>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From the results, 2021 recorded a higher number of road accidents than 2022, accounting for approximately 53.11% of the total accidents, while 2022 accounted for about 46.89%.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indicates a decrease of 19,134 accidents from 2021 to 2022.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rPr>
              <a:t>There is a slight decrease in accidents from 2021 to 2022. This could be due to post-pandemic traffic changes, improved enforcement, and behavioral shifts.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1800"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16653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D2F356B-0677-4863-873D-26DE467D8806}"/>
              </a:ext>
            </a:extLst>
          </p:cNvPr>
          <p:cNvGraphicFramePr>
            <a:graphicFrameLocks noGrp="1"/>
          </p:cNvGraphicFramePr>
          <p:nvPr>
            <p:ph idx="1"/>
            <p:extLst>
              <p:ext uri="{D42A27DB-BD31-4B8C-83A1-F6EECF244321}">
                <p14:modId xmlns:p14="http://schemas.microsoft.com/office/powerpoint/2010/main" val="3460605661"/>
              </p:ext>
            </p:extLst>
          </p:nvPr>
        </p:nvGraphicFramePr>
        <p:xfrm>
          <a:off x="664946" y="1556116"/>
          <a:ext cx="5226518" cy="389178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C56EB64-8EB5-4CC7-9E30-0FE06FE69231}"/>
              </a:ext>
            </a:extLst>
          </p:cNvPr>
          <p:cNvSpPr txBox="1"/>
          <p:nvPr/>
        </p:nvSpPr>
        <p:spPr>
          <a:xfrm>
            <a:off x="5891464" y="1556115"/>
            <a:ext cx="5635590" cy="1857368"/>
          </a:xfrm>
          <a:prstGeom prst="rect">
            <a:avLst/>
          </a:prstGeom>
          <a:noFill/>
        </p:spPr>
        <p:txBody>
          <a:bodyPr wrap="square">
            <a:spAutoFit/>
          </a:bodyPr>
          <a:lstStyle/>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Cars account for 78% of casualties.</a:t>
            </a: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is expected because cars dominate road usage.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However, motorcycles, while lower in frequency, tend to have higher severity proportions.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suggests targeted motorcycle safety policies could reduce serious injuries.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4594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1C4CAD7-FDBA-42B9-8879-F376D8499248}"/>
              </a:ext>
            </a:extLst>
          </p:cNvPr>
          <p:cNvGraphicFramePr>
            <a:graphicFrameLocks noGrp="1"/>
          </p:cNvGraphicFramePr>
          <p:nvPr>
            <p:ph idx="1"/>
            <p:extLst>
              <p:ext uri="{D42A27DB-BD31-4B8C-83A1-F6EECF244321}">
                <p14:modId xmlns:p14="http://schemas.microsoft.com/office/powerpoint/2010/main" val="3260012898"/>
              </p:ext>
            </p:extLst>
          </p:nvPr>
        </p:nvGraphicFramePr>
        <p:xfrm>
          <a:off x="838200" y="1482724"/>
          <a:ext cx="4677076" cy="316627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87D43102-530A-4087-B8DE-AFF89414BA30}"/>
              </a:ext>
            </a:extLst>
          </p:cNvPr>
          <p:cNvSpPr txBox="1"/>
          <p:nvPr/>
        </p:nvSpPr>
        <p:spPr>
          <a:xfrm>
            <a:off x="6096000" y="1174282"/>
            <a:ext cx="5257800" cy="5047536"/>
          </a:xfrm>
          <a:prstGeom prst="rect">
            <a:avLst/>
          </a:prstGeom>
          <a:noFill/>
        </p:spPr>
        <p:txBody>
          <a:bodyPr wrap="square">
            <a:spAutoFit/>
          </a:bodyPr>
          <a:lstStyle/>
          <a:p>
            <a:pPr marL="0" marR="0">
              <a:spcBef>
                <a:spcPts val="0"/>
              </a:spcBef>
              <a:spcAft>
                <a:spcPts val="0"/>
              </a:spcAft>
            </a:pPr>
            <a:r>
              <a:rPr lang="en-US" sz="1400" dirty="0">
                <a:solidFill>
                  <a:srgbClr val="0D0D0D"/>
                </a:solidFill>
                <a:effectLst/>
                <a:ea typeface="Times New Roman" panose="02020603050405020304" pitchFamily="18" charset="0"/>
              </a:rPr>
              <a:t>From the analysis, accidents are </a:t>
            </a:r>
            <a:r>
              <a:rPr lang="en-US" sz="1400" b="0" dirty="0">
                <a:solidFill>
                  <a:srgbClr val="0D0D0D"/>
                </a:solidFill>
                <a:effectLst/>
                <a:ea typeface="Times New Roman" panose="02020603050405020304" pitchFamily="18" charset="0"/>
              </a:rPr>
              <a:t>not evenly distributed across the four time periods</a:t>
            </a:r>
            <a:r>
              <a:rPr lang="en-US" sz="1400" dirty="0">
                <a:solidFill>
                  <a:srgbClr val="0D0D0D"/>
                </a:solidFill>
                <a:effectLst/>
                <a:ea typeface="Times New Roman" panose="02020603050405020304" pitchFamily="18" charset="0"/>
              </a:rPr>
              <a:t>. The results show that </a:t>
            </a:r>
            <a:r>
              <a:rPr lang="en-US" sz="1400" b="0" dirty="0">
                <a:solidFill>
                  <a:srgbClr val="0D0D0D"/>
                </a:solidFill>
                <a:effectLst/>
                <a:ea typeface="Times New Roman" panose="02020603050405020304" pitchFamily="18" charset="0"/>
              </a:rPr>
              <a:t>Afternoon and Evening periods account for the highest number of accidents</a:t>
            </a:r>
            <a:r>
              <a:rPr lang="en-US" sz="1400" dirty="0">
                <a:solidFill>
                  <a:srgbClr val="0D0D0D"/>
                </a:solidFill>
                <a:effectLst/>
                <a:ea typeface="Times New Roman" panose="02020603050405020304" pitchFamily="18" charset="0"/>
              </a:rPr>
              <a:t>, while</a:t>
            </a:r>
            <a:r>
              <a:rPr lang="en-US" sz="1400" b="1" dirty="0">
                <a:solidFill>
                  <a:srgbClr val="0D0D0D"/>
                </a:solidFill>
                <a:effectLst/>
                <a:ea typeface="Times New Roman" panose="02020603050405020304" pitchFamily="18" charset="0"/>
              </a:rPr>
              <a:t> </a:t>
            </a:r>
            <a:r>
              <a:rPr lang="en-US" sz="1400" b="0" dirty="0">
                <a:solidFill>
                  <a:srgbClr val="0D0D0D"/>
                </a:solidFill>
                <a:effectLst/>
                <a:ea typeface="Times New Roman" panose="02020603050405020304" pitchFamily="18" charset="0"/>
              </a:rPr>
              <a:t>Night has the lowest frequency</a:t>
            </a:r>
            <a:r>
              <a:rPr lang="en-US" sz="1400" b="1" dirty="0">
                <a:solidFill>
                  <a:srgbClr val="0D0D0D"/>
                </a:solidFill>
                <a:effectLst/>
                <a:ea typeface="Times New Roman" panose="02020603050405020304" pitchFamily="18" charset="0"/>
              </a:rPr>
              <a:t>.</a:t>
            </a:r>
            <a:endParaRPr lang="en-US" sz="1400" dirty="0">
              <a:effectLst/>
              <a:ea typeface="Times New Roman" panose="02020603050405020304" pitchFamily="18" charset="0"/>
            </a:endParaRPr>
          </a:p>
          <a:p>
            <a:pPr marL="0" marR="0" algn="l">
              <a:spcBef>
                <a:spcPts val="0"/>
              </a:spcBef>
              <a:spcAft>
                <a:spcPts val="0"/>
              </a:spcAft>
            </a:pPr>
            <a:r>
              <a:rPr lang="en-US" sz="1400" dirty="0">
                <a:solidFill>
                  <a:srgbClr val="0D0D0D"/>
                </a:solidFill>
                <a:effectLst/>
                <a:ea typeface="Times New Roman" panose="02020603050405020304" pitchFamily="18" charset="0"/>
              </a:rPr>
              <a:t>The higher number of accidents during the </a:t>
            </a:r>
            <a:r>
              <a:rPr lang="en-US" sz="1400" b="0" dirty="0">
                <a:solidFill>
                  <a:srgbClr val="0D0D0D"/>
                </a:solidFill>
                <a:effectLst/>
                <a:ea typeface="Times New Roman" panose="02020603050405020304" pitchFamily="18" charset="0"/>
              </a:rPr>
              <a:t>Afternoon period</a:t>
            </a:r>
            <a:r>
              <a:rPr lang="en-US" sz="1400" dirty="0">
                <a:solidFill>
                  <a:srgbClr val="0D0D0D"/>
                </a:solidFill>
                <a:effectLst/>
                <a:ea typeface="Times New Roman" panose="02020603050405020304" pitchFamily="18" charset="0"/>
              </a:rPr>
              <a:t> can be largely attributed to </a:t>
            </a:r>
            <a:r>
              <a:rPr lang="en-US" sz="1400" b="0" dirty="0">
                <a:solidFill>
                  <a:srgbClr val="0D0D0D"/>
                </a:solidFill>
                <a:effectLst/>
                <a:ea typeface="Times New Roman" panose="02020603050405020304" pitchFamily="18" charset="0"/>
              </a:rPr>
              <a:t>peak traffic conditions</a:t>
            </a:r>
            <a:r>
              <a:rPr lang="en-US" sz="1400" b="1" dirty="0">
                <a:solidFill>
                  <a:srgbClr val="0D0D0D"/>
                </a:solidFill>
                <a:effectLst/>
                <a:ea typeface="Times New Roman" panose="02020603050405020304" pitchFamily="18" charset="0"/>
              </a:rPr>
              <a:t>,</a:t>
            </a:r>
            <a:r>
              <a:rPr lang="en-US" sz="1400" dirty="0">
                <a:solidFill>
                  <a:srgbClr val="0D0D0D"/>
                </a:solidFill>
                <a:effectLst/>
                <a:ea typeface="Times New Roman" panose="02020603050405020304" pitchFamily="18" charset="0"/>
              </a:rPr>
              <a:t> particularly during the time when people are leaving work, schools, and other daily activities. During this period, traffic congestion increases significantly, which raises the likelihood of vehicle interactions and collisions.</a:t>
            </a:r>
            <a:endParaRPr lang="en-US" sz="1400" dirty="0">
              <a:effectLst/>
              <a:ea typeface="Times New Roman" panose="02020603050405020304" pitchFamily="18" charset="0"/>
            </a:endParaRPr>
          </a:p>
          <a:p>
            <a:pPr marL="0" marR="0" algn="l">
              <a:spcBef>
                <a:spcPts val="0"/>
              </a:spcBef>
              <a:spcAft>
                <a:spcPts val="0"/>
              </a:spcAft>
            </a:pPr>
            <a:r>
              <a:rPr lang="en-US" sz="1400" dirty="0">
                <a:solidFill>
                  <a:srgbClr val="0D0D0D"/>
                </a:solidFill>
                <a:effectLst/>
                <a:ea typeface="Times New Roman" panose="02020603050405020304" pitchFamily="18" charset="0"/>
              </a:rPr>
              <a:t>Similarly, the </a:t>
            </a:r>
            <a:r>
              <a:rPr lang="en-US" sz="1400" b="0" dirty="0">
                <a:solidFill>
                  <a:srgbClr val="0D0D0D"/>
                </a:solidFill>
                <a:effectLst/>
                <a:ea typeface="Times New Roman" panose="02020603050405020304" pitchFamily="18" charset="0"/>
              </a:rPr>
              <a:t>Evening period also shows a relatively high number of accidents</a:t>
            </a:r>
            <a:r>
              <a:rPr lang="en-US" sz="1400" dirty="0">
                <a:solidFill>
                  <a:srgbClr val="0D0D0D"/>
                </a:solidFill>
                <a:effectLst/>
                <a:ea typeface="Times New Roman" panose="02020603050405020304" pitchFamily="18" charset="0"/>
              </a:rPr>
              <a:t>. This may be influenced by several factors such as reduced visibility, driver fatigue after long working hours, and increased social or recreational travel.</a:t>
            </a:r>
            <a:endParaRPr lang="en-US" sz="1400" dirty="0">
              <a:effectLst/>
              <a:ea typeface="Times New Roman" panose="02020603050405020304" pitchFamily="18" charset="0"/>
            </a:endParaRPr>
          </a:p>
          <a:p>
            <a:pPr marL="0" marR="0" algn="l">
              <a:spcBef>
                <a:spcPts val="0"/>
              </a:spcBef>
              <a:spcAft>
                <a:spcPts val="0"/>
              </a:spcAft>
            </a:pPr>
            <a:r>
              <a:rPr lang="en-US" sz="1400" dirty="0">
                <a:solidFill>
                  <a:srgbClr val="0D0D0D"/>
                </a:solidFill>
                <a:effectLst/>
                <a:ea typeface="Times New Roman" panose="02020603050405020304" pitchFamily="18" charset="0"/>
              </a:rPr>
              <a:t>The </a:t>
            </a:r>
            <a:r>
              <a:rPr lang="en-US" sz="1400" b="0" dirty="0">
                <a:solidFill>
                  <a:srgbClr val="0D0D0D"/>
                </a:solidFill>
                <a:effectLst/>
                <a:ea typeface="Times New Roman" panose="02020603050405020304" pitchFamily="18" charset="0"/>
              </a:rPr>
              <a:t>Morning period shows a moderate number of accidents</a:t>
            </a:r>
            <a:r>
              <a:rPr lang="en-US" sz="1400" dirty="0">
                <a:solidFill>
                  <a:srgbClr val="0D0D0D"/>
                </a:solidFill>
                <a:effectLst/>
                <a:ea typeface="Times New Roman" panose="02020603050405020304" pitchFamily="18" charset="0"/>
              </a:rPr>
              <a:t>, which corresponds with the morning commute when many people are traveling to work and school. Although traffic is heavy, drivers may be more alert compared to later in the day.</a:t>
            </a:r>
            <a:endParaRPr lang="en-US" sz="1400" dirty="0">
              <a:effectLst/>
              <a:ea typeface="Times New Roman" panose="02020603050405020304" pitchFamily="18" charset="0"/>
            </a:endParaRPr>
          </a:p>
          <a:p>
            <a:pPr marL="0" marR="0" algn="l">
              <a:spcBef>
                <a:spcPts val="0"/>
              </a:spcBef>
              <a:spcAft>
                <a:spcPts val="0"/>
              </a:spcAft>
            </a:pPr>
            <a:r>
              <a:rPr lang="en-US" sz="1400" dirty="0">
                <a:solidFill>
                  <a:srgbClr val="0D0D0D"/>
                </a:solidFill>
                <a:effectLst/>
                <a:ea typeface="Times New Roman" panose="02020603050405020304" pitchFamily="18" charset="0"/>
              </a:rPr>
              <a:t>The </a:t>
            </a:r>
            <a:r>
              <a:rPr lang="en-US" sz="1400" b="0" dirty="0">
                <a:solidFill>
                  <a:srgbClr val="0D0D0D"/>
                </a:solidFill>
                <a:effectLst/>
                <a:ea typeface="Times New Roman" panose="02020603050405020304" pitchFamily="18" charset="0"/>
              </a:rPr>
              <a:t>Night period records the lowest number of accidents</a:t>
            </a:r>
            <a:r>
              <a:rPr lang="en-US" sz="1400" b="1" dirty="0">
                <a:solidFill>
                  <a:srgbClr val="0D0D0D"/>
                </a:solidFill>
                <a:effectLst/>
                <a:ea typeface="Times New Roman" panose="02020603050405020304" pitchFamily="18" charset="0"/>
              </a:rPr>
              <a:t>,</a:t>
            </a:r>
            <a:r>
              <a:rPr lang="en-US" sz="1400" dirty="0">
                <a:solidFill>
                  <a:srgbClr val="0D0D0D"/>
                </a:solidFill>
                <a:effectLst/>
                <a:ea typeface="Times New Roman" panose="02020603050405020304" pitchFamily="18" charset="0"/>
              </a:rPr>
              <a:t> primarily due to reduced traffic volume. However, accidents occurring at night may still be more severe due to factors such as reduced visibility, fatigue, or impaired driving.</a:t>
            </a:r>
            <a:endParaRPr lang="en-US" sz="1400" dirty="0">
              <a:effectLst/>
              <a:ea typeface="Times New Roman" panose="02020603050405020304" pitchFamily="18" charset="0"/>
            </a:endParaRPr>
          </a:p>
          <a:p>
            <a:pPr marL="0" marR="0" algn="l">
              <a:spcBef>
                <a:spcPts val="0"/>
              </a:spcBef>
              <a:spcAft>
                <a:spcPts val="0"/>
              </a:spcAft>
            </a:pPr>
            <a:r>
              <a:rPr lang="en-US" sz="1400" dirty="0">
                <a:solidFill>
                  <a:srgbClr val="0D0D0D"/>
                </a:solidFill>
                <a:effectLst/>
                <a:ea typeface="Times New Roman" panose="02020603050405020304" pitchFamily="18" charset="0"/>
              </a:rPr>
              <a:t>Overall, the results suggest that </a:t>
            </a:r>
            <a:r>
              <a:rPr lang="en-US" sz="1400" b="0" dirty="0">
                <a:solidFill>
                  <a:srgbClr val="0D0D0D"/>
                </a:solidFill>
                <a:effectLst/>
                <a:ea typeface="Times New Roman" panose="02020603050405020304" pitchFamily="18" charset="0"/>
              </a:rPr>
              <a:t>traffic density and daily commuting patterns strongly influence accident occurrence throughout the day</a:t>
            </a:r>
            <a:r>
              <a:rPr lang="en-US" sz="1400" dirty="0">
                <a:solidFill>
                  <a:srgbClr val="0D0D0D"/>
                </a:solidFill>
                <a:effectLst/>
                <a:ea typeface="Times New Roman" panose="02020603050405020304" pitchFamily="18" charset="0"/>
              </a:rPr>
              <a:t>.</a:t>
            </a:r>
            <a:endParaRPr lang="en-US" sz="1400" dirty="0">
              <a:effectLst/>
              <a:ea typeface="Times New Roman" panose="02020603050405020304" pitchFamily="18" charset="0"/>
            </a:endParaRPr>
          </a:p>
        </p:txBody>
      </p:sp>
    </p:spTree>
    <p:extLst>
      <p:ext uri="{BB962C8B-B14F-4D97-AF65-F5344CB8AC3E}">
        <p14:creationId xmlns:p14="http://schemas.microsoft.com/office/powerpoint/2010/main" val="1033636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A65021B-5DA1-48E3-8381-A83E81910337}"/>
              </a:ext>
            </a:extLst>
          </p:cNvPr>
          <p:cNvGraphicFramePr>
            <a:graphicFrameLocks noGrp="1"/>
          </p:cNvGraphicFramePr>
          <p:nvPr>
            <p:ph idx="1"/>
            <p:extLst>
              <p:ext uri="{D42A27DB-BD31-4B8C-83A1-F6EECF244321}">
                <p14:modId xmlns:p14="http://schemas.microsoft.com/office/powerpoint/2010/main" val="1213911592"/>
              </p:ext>
            </p:extLst>
          </p:nvPr>
        </p:nvGraphicFramePr>
        <p:xfrm>
          <a:off x="664945" y="866274"/>
          <a:ext cx="4561573" cy="332071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B8B77A09-46BC-461E-BC4D-777599462ADF}"/>
              </a:ext>
            </a:extLst>
          </p:cNvPr>
          <p:cNvGraphicFramePr>
            <a:graphicFrameLocks/>
          </p:cNvGraphicFramePr>
          <p:nvPr>
            <p:extLst>
              <p:ext uri="{D42A27DB-BD31-4B8C-83A1-F6EECF244321}">
                <p14:modId xmlns:p14="http://schemas.microsoft.com/office/powerpoint/2010/main" val="863540479"/>
              </p:ext>
            </p:extLst>
          </p:nvPr>
        </p:nvGraphicFramePr>
        <p:xfrm>
          <a:off x="6096000" y="1010653"/>
          <a:ext cx="4770922" cy="254514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B5C73FF-AC8C-46E1-95DC-8C3005ED2E0A}"/>
              </a:ext>
            </a:extLst>
          </p:cNvPr>
          <p:cNvSpPr txBox="1"/>
          <p:nvPr/>
        </p:nvSpPr>
        <p:spPr>
          <a:xfrm>
            <a:off x="664945" y="4186989"/>
            <a:ext cx="6097604" cy="1857368"/>
          </a:xfrm>
          <a:prstGeom prst="rect">
            <a:avLst/>
          </a:prstGeom>
          <a:noFill/>
        </p:spPr>
        <p:txBody>
          <a:bodyPr wrap="square">
            <a:spAutoFit/>
          </a:bodyPr>
          <a:lstStyle/>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Most accidents occur on dry roads.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However, this is because most driving happens under dry conditions.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dirty="0">
                <a:solidFill>
                  <a:srgbClr val="0D0D0D"/>
                </a:solidFill>
                <a:latin typeface="Calibri" panose="020F0502020204030204" pitchFamily="34" charset="0"/>
                <a:ea typeface="Times New Roman" panose="02020603050405020304" pitchFamily="18" charset="0"/>
                <a:cs typeface="Calibri" panose="020F0502020204030204" pitchFamily="34" charset="0"/>
              </a:rPr>
              <a:t>Also</a:t>
            </a: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 wet, icy, and snowy conditions increase severity risk.</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indicates that weather does not necessarily increase frequency dramatically, but it increases impact severity.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15F8141-3F8E-42D7-9FA5-C475241F6F37}"/>
              </a:ext>
            </a:extLst>
          </p:cNvPr>
          <p:cNvSpPr txBox="1"/>
          <p:nvPr/>
        </p:nvSpPr>
        <p:spPr>
          <a:xfrm>
            <a:off x="6571648" y="4114874"/>
            <a:ext cx="4955407" cy="1855508"/>
          </a:xfrm>
          <a:prstGeom prst="rect">
            <a:avLst/>
          </a:prstGeom>
          <a:noFill/>
        </p:spPr>
        <p:txBody>
          <a:bodyPr wrap="square">
            <a:spAutoFit/>
          </a:bodyPr>
          <a:lstStyle/>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Fine weather accounts for most accidents.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However, adverse weather conditions such as rain, fog, and snow show higher fatal ratios relative to total occurrences.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implies that environmental awareness campaigns could reduce severe outcomes</a:t>
            </a:r>
            <a:r>
              <a:rPr lang="en-US" sz="1800" dirty="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69580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t="-9000" b="-9000"/>
          </a:stretch>
        </a:blip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E2066AB-E351-4EBD-B550-7A51B73F26EE}"/>
              </a:ext>
            </a:extLst>
          </p:cNvPr>
          <p:cNvGraphicFramePr>
            <a:graphicFrameLocks noGrp="1"/>
          </p:cNvGraphicFramePr>
          <p:nvPr>
            <p:ph idx="1"/>
            <p:extLst>
              <p:ext uri="{D42A27DB-BD31-4B8C-83A1-F6EECF244321}">
                <p14:modId xmlns:p14="http://schemas.microsoft.com/office/powerpoint/2010/main" val="3560003572"/>
              </p:ext>
            </p:extLst>
          </p:nvPr>
        </p:nvGraphicFramePr>
        <p:xfrm>
          <a:off x="838200" y="1501541"/>
          <a:ext cx="4686701" cy="331109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0D250BF-DAB7-4B07-A484-EE677A254829}"/>
              </a:ext>
            </a:extLst>
          </p:cNvPr>
          <p:cNvSpPr txBox="1"/>
          <p:nvPr/>
        </p:nvSpPr>
        <p:spPr>
          <a:xfrm>
            <a:off x="5907505" y="2452632"/>
            <a:ext cx="5893068" cy="2862322"/>
          </a:xfrm>
          <a:prstGeom prst="rect">
            <a:avLst/>
          </a:prstGeom>
          <a:noFill/>
        </p:spPr>
        <p:txBody>
          <a:bodyPr wrap="square">
            <a:spAutoFit/>
          </a:bodyPr>
          <a:lstStyle/>
          <a:p>
            <a:pPr marL="0" marR="0">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30 mph zones show the highest number of accidents.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reflects urban congestion and higher traffic density.</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However, when we look at severity proportions, higher speed zones (60–70 mph) show relatively higher fatal outcomes.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demonstrates an important distinction:</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Urban roads → more frequent collisions</a:t>
            </a:r>
            <a:br>
              <a:rPr lang="en-US" sz="1800" dirty="0">
                <a:solidFill>
                  <a:srgbClr val="0D0D0D"/>
                </a:solidFill>
                <a:effectLst/>
                <a:latin typeface="Calibri" panose="020F0502020204030204" pitchFamily="34" charset="0"/>
                <a:ea typeface="Times New Roman" panose="02020603050405020304" pitchFamily="18" charset="0"/>
              </a:rPr>
            </a:br>
            <a:r>
              <a:rPr lang="en-US" sz="1800" dirty="0">
                <a:solidFill>
                  <a:srgbClr val="0D0D0D"/>
                </a:solidFill>
                <a:effectLst/>
                <a:latin typeface="Calibri" panose="020F0502020204030204" pitchFamily="34" charset="0"/>
                <a:ea typeface="Times New Roman" panose="02020603050405020304" pitchFamily="18" charset="0"/>
              </a:rPr>
              <a:t>High-speed roads → more severe consequences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supports the argument for:</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Urban traffic calming</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Rural speed enforcement</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15495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08D0EE8-4AD5-4C66-9286-0105E3FBEAA6}"/>
              </a:ext>
            </a:extLst>
          </p:cNvPr>
          <p:cNvGraphicFramePr>
            <a:graphicFrameLocks noGrp="1"/>
          </p:cNvGraphicFramePr>
          <p:nvPr>
            <p:ph idx="1"/>
            <p:extLst>
              <p:ext uri="{D42A27DB-BD31-4B8C-83A1-F6EECF244321}">
                <p14:modId xmlns:p14="http://schemas.microsoft.com/office/powerpoint/2010/main" val="1034721221"/>
              </p:ext>
            </p:extLst>
          </p:nvPr>
        </p:nvGraphicFramePr>
        <p:xfrm>
          <a:off x="750888" y="1395413"/>
          <a:ext cx="3830737" cy="27627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98B1C98-9843-4AD6-B8B3-EC0DAA9A1DC6}"/>
              </a:ext>
            </a:extLst>
          </p:cNvPr>
          <p:cNvGraphicFramePr>
            <a:graphicFrameLocks/>
          </p:cNvGraphicFramePr>
          <p:nvPr>
            <p:extLst>
              <p:ext uri="{D42A27DB-BD31-4B8C-83A1-F6EECF244321}">
                <p14:modId xmlns:p14="http://schemas.microsoft.com/office/powerpoint/2010/main" val="2202328098"/>
              </p:ext>
            </p:extLst>
          </p:nvPr>
        </p:nvGraphicFramePr>
        <p:xfrm>
          <a:off x="6439301" y="1257575"/>
          <a:ext cx="4369870" cy="244358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F8AF8280-D83C-415A-9E8D-89373F0B04DF}"/>
              </a:ext>
            </a:extLst>
          </p:cNvPr>
          <p:cNvSpPr txBox="1"/>
          <p:nvPr/>
        </p:nvSpPr>
        <p:spPr>
          <a:xfrm>
            <a:off x="6651057" y="3907551"/>
            <a:ext cx="5001811" cy="2585323"/>
          </a:xfrm>
          <a:prstGeom prst="rect">
            <a:avLst/>
          </a:prstGeom>
          <a:noFill/>
        </p:spPr>
        <p:txBody>
          <a:bodyPr wrap="square">
            <a:spAutoFit/>
          </a:bodyPr>
          <a:lstStyle/>
          <a:p>
            <a:pPr marL="0" marR="0">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Daylight has the highest accident count.</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But fatal accidents are proportionally higher during darkness.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Possible reasons: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Reduced visibility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Fatigue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Night-time speeding</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supports improved street lighting and nighttime enforcement.</a:t>
            </a:r>
            <a:endParaRPr lang="en-US" sz="18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59064544-3035-4F65-958A-438D4ABECF72}"/>
              </a:ext>
            </a:extLst>
          </p:cNvPr>
          <p:cNvSpPr txBox="1"/>
          <p:nvPr/>
        </p:nvSpPr>
        <p:spPr>
          <a:xfrm>
            <a:off x="838200" y="4089358"/>
            <a:ext cx="5601101" cy="2746457"/>
          </a:xfrm>
          <a:prstGeom prst="rect">
            <a:avLst/>
          </a:prstGeom>
          <a:noFill/>
        </p:spPr>
        <p:txBody>
          <a:bodyPr wrap="square">
            <a:spAutoFit/>
          </a:bodyPr>
          <a:lstStyle/>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Single carriageways dominate accident counts primarily because they are the most common type of road infrastructure, especially in both urban and rural areas.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However, roundabouts typically show lower severity levels because their design forces vehicles to slow down.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This suggests that road design plays a critical role in accident prevention, and infrastructure improvements such as roundabouts or controlled intersections can reduce accident severity.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4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D69C574-C502-481D-874C-EE577203349E}"/>
              </a:ext>
            </a:extLst>
          </p:cNvPr>
          <p:cNvGraphicFramePr>
            <a:graphicFrameLocks noGrp="1"/>
          </p:cNvGraphicFramePr>
          <p:nvPr>
            <p:ph idx="1"/>
            <p:extLst>
              <p:ext uri="{D42A27DB-BD31-4B8C-83A1-F6EECF244321}">
                <p14:modId xmlns:p14="http://schemas.microsoft.com/office/powerpoint/2010/main" val="4206500027"/>
              </p:ext>
            </p:extLst>
          </p:nvPr>
        </p:nvGraphicFramePr>
        <p:xfrm>
          <a:off x="838201" y="1366787"/>
          <a:ext cx="4465320" cy="390785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925DF985-6B27-4F5D-9AEA-D9740209F134}"/>
              </a:ext>
            </a:extLst>
          </p:cNvPr>
          <p:cNvSpPr txBox="1"/>
          <p:nvPr/>
        </p:nvSpPr>
        <p:spPr>
          <a:xfrm>
            <a:off x="6427270" y="2136338"/>
            <a:ext cx="5228924" cy="2585323"/>
          </a:xfrm>
          <a:prstGeom prst="rect">
            <a:avLst/>
          </a:prstGeom>
          <a:noFill/>
        </p:spPr>
        <p:txBody>
          <a:bodyPr wrap="square">
            <a:spAutoFit/>
          </a:bodyPr>
          <a:lstStyle/>
          <a:p>
            <a:pPr marL="0" marR="0">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is one of the most important findings.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Urban areas have more total accidents.</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However, rural areas have a higher fatality proportion.</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This suggests: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Higher speeds in rural areas,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Slower emergency response times,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0D0D0D"/>
                </a:solidFill>
                <a:effectLst/>
                <a:latin typeface="Calibri" panose="020F0502020204030204" pitchFamily="34" charset="0"/>
                <a:ea typeface="Times New Roman" panose="02020603050405020304" pitchFamily="18" charset="0"/>
              </a:rPr>
              <a:t>Less infrastructure control.</a:t>
            </a:r>
            <a:endParaRPr lang="en-US" sz="18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800" dirty="0">
                <a:solidFill>
                  <a:srgbClr val="0D0D0D"/>
                </a:solidFill>
                <a:effectLst/>
                <a:latin typeface="Calibri" panose="020F0502020204030204" pitchFamily="34" charset="0"/>
                <a:ea typeface="Times New Roman" panose="02020603050405020304" pitchFamily="18" charset="0"/>
              </a:rPr>
              <a:t>Therefore, rural road safety improvements could significantly reduce fatality rates.</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9054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7BC563C-431A-4654-A735-DC38C9E90588}"/>
              </a:ext>
            </a:extLst>
          </p:cNvPr>
          <p:cNvGraphicFramePr>
            <a:graphicFrameLocks/>
          </p:cNvGraphicFramePr>
          <p:nvPr>
            <p:extLst>
              <p:ext uri="{D42A27DB-BD31-4B8C-83A1-F6EECF244321}">
                <p14:modId xmlns:p14="http://schemas.microsoft.com/office/powerpoint/2010/main" val="2275219838"/>
              </p:ext>
            </p:extLst>
          </p:nvPr>
        </p:nvGraphicFramePr>
        <p:xfrm>
          <a:off x="709059" y="777772"/>
          <a:ext cx="4584835" cy="3014582"/>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B4CC2062-7B0C-4F3A-863E-DEB1C10D82B2}"/>
              </a:ext>
            </a:extLst>
          </p:cNvPr>
          <p:cNvSpPr txBox="1"/>
          <p:nvPr/>
        </p:nvSpPr>
        <p:spPr>
          <a:xfrm>
            <a:off x="611505" y="3889702"/>
            <a:ext cx="5484495" cy="2062103"/>
          </a:xfrm>
          <a:prstGeom prst="rect">
            <a:avLst/>
          </a:prstGeom>
          <a:noFill/>
        </p:spPr>
        <p:txBody>
          <a:bodyPr wrap="square">
            <a:spAutoFit/>
          </a:bodyPr>
          <a:lstStyle/>
          <a:p>
            <a:pPr marL="0" marR="0">
              <a:spcBef>
                <a:spcPts val="0"/>
              </a:spcBef>
              <a:spcAft>
                <a:spcPts val="0"/>
              </a:spcAft>
            </a:pPr>
            <a:r>
              <a:rPr lang="en-US" sz="1600" dirty="0">
                <a:solidFill>
                  <a:srgbClr val="0D0D0D"/>
                </a:solidFill>
                <a:effectLst/>
                <a:latin typeface="Calibri" panose="020F0502020204030204" pitchFamily="34" charset="0"/>
                <a:ea typeface="Times New Roman" panose="02020603050405020304" pitchFamily="18" charset="0"/>
              </a:rPr>
              <a:t>This indicates that </a:t>
            </a:r>
            <a:r>
              <a:rPr lang="en-US" sz="1600" b="0" dirty="0">
                <a:solidFill>
                  <a:srgbClr val="0D0D0D"/>
                </a:solidFill>
                <a:effectLst/>
                <a:latin typeface="Calibri" panose="020F0502020204030204" pitchFamily="34" charset="0"/>
                <a:ea typeface="Times New Roman" panose="02020603050405020304" pitchFamily="18" charset="0"/>
              </a:rPr>
              <a:t>junctions without strict traffic control mechanisms are associated with higher accident frequency</a:t>
            </a:r>
            <a:r>
              <a:rPr lang="en-US" sz="1600" dirty="0">
                <a:solidFill>
                  <a:srgbClr val="0D0D0D"/>
                </a:solidFill>
                <a:effectLst/>
                <a:latin typeface="Calibri" panose="020F0502020204030204" pitchFamily="34"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600" dirty="0">
                <a:solidFill>
                  <a:srgbClr val="0D0D0D"/>
                </a:solidFill>
                <a:effectLst/>
                <a:latin typeface="Calibri" panose="020F0502020204030204" pitchFamily="34" charset="0"/>
                <a:ea typeface="Times New Roman" panose="02020603050405020304" pitchFamily="18" charset="0"/>
              </a:rPr>
              <a:t>Uncontrolled intersections increase the likelihood of:</a:t>
            </a:r>
            <a:endParaRPr lang="en-US" sz="1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D0D0D"/>
                </a:solidFill>
                <a:effectLst/>
                <a:latin typeface="Calibri" panose="020F0502020204030204" pitchFamily="34" charset="0"/>
                <a:ea typeface="Times New Roman" panose="02020603050405020304" pitchFamily="18" charset="0"/>
              </a:rPr>
              <a:t>Driver misjudgment</a:t>
            </a:r>
            <a:endParaRPr lang="en-US" sz="1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D0D0D"/>
                </a:solidFill>
                <a:effectLst/>
                <a:latin typeface="Calibri" panose="020F0502020204030204" pitchFamily="34" charset="0"/>
                <a:ea typeface="Times New Roman" panose="02020603050405020304" pitchFamily="18" charset="0"/>
              </a:rPr>
              <a:t>Failure to yield</a:t>
            </a:r>
            <a:endParaRPr lang="en-US" sz="1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solidFill>
                  <a:srgbClr val="0D0D0D"/>
                </a:solidFill>
                <a:effectLst/>
                <a:latin typeface="Calibri" panose="020F0502020204030204" pitchFamily="34" charset="0"/>
                <a:ea typeface="Times New Roman" panose="02020603050405020304" pitchFamily="18" charset="0"/>
              </a:rPr>
              <a:t>Collision conflicts</a:t>
            </a:r>
            <a:endParaRPr lang="en-US" sz="1600"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1600" dirty="0">
                <a:solidFill>
                  <a:srgbClr val="0D0D0D"/>
                </a:solidFill>
                <a:effectLst/>
                <a:latin typeface="Calibri" panose="020F0502020204030204" pitchFamily="34" charset="0"/>
                <a:ea typeface="Times New Roman" panose="02020603050405020304" pitchFamily="18" charset="0"/>
              </a:rPr>
              <a:t>This highlights the importance of </a:t>
            </a:r>
            <a:r>
              <a:rPr lang="en-US" sz="1600" b="0" dirty="0">
                <a:solidFill>
                  <a:srgbClr val="0D0D0D"/>
                </a:solidFill>
                <a:effectLst/>
                <a:latin typeface="Calibri" panose="020F0502020204030204" pitchFamily="34" charset="0"/>
                <a:ea typeface="Times New Roman" panose="02020603050405020304" pitchFamily="18" charset="0"/>
              </a:rPr>
              <a:t>traffic signals, stop signs, and controlled intersection design</a:t>
            </a:r>
            <a:r>
              <a:rPr lang="en-US" sz="1600" b="1" dirty="0">
                <a:solidFill>
                  <a:srgbClr val="0D0D0D"/>
                </a:solidFill>
                <a:effectLst/>
                <a:latin typeface="Calibri" panose="020F0502020204030204" pitchFamily="34" charset="0"/>
                <a:ea typeface="Times New Roman" panose="02020603050405020304" pitchFamily="18" charset="0"/>
              </a:rPr>
              <a:t> </a:t>
            </a:r>
            <a:r>
              <a:rPr lang="en-US" sz="1600" dirty="0">
                <a:solidFill>
                  <a:srgbClr val="0D0D0D"/>
                </a:solidFill>
                <a:effectLst/>
                <a:latin typeface="Calibri" panose="020F0502020204030204" pitchFamily="34" charset="0"/>
                <a:ea typeface="Times New Roman" panose="02020603050405020304" pitchFamily="18" charset="0"/>
              </a:rPr>
              <a:t>in improving road safety.</a:t>
            </a:r>
            <a:endParaRPr lang="en-US" sz="1600" dirty="0">
              <a:effectLst/>
              <a:latin typeface="Times New Roman" panose="02020603050405020304" pitchFamily="18" charset="0"/>
              <a:ea typeface="Times New Roman" panose="02020603050405020304" pitchFamily="18" charset="0"/>
            </a:endParaRPr>
          </a:p>
        </p:txBody>
      </p:sp>
      <p:graphicFrame>
        <p:nvGraphicFramePr>
          <p:cNvPr id="4" name="Chart 3">
            <a:extLst>
              <a:ext uri="{FF2B5EF4-FFF2-40B4-BE49-F238E27FC236}">
                <a16:creationId xmlns:a16="http://schemas.microsoft.com/office/drawing/2014/main" id="{2C0A4637-6444-494C-B0EF-190AC0A2889E}"/>
              </a:ext>
            </a:extLst>
          </p:cNvPr>
          <p:cNvGraphicFramePr>
            <a:graphicFrameLocks/>
          </p:cNvGraphicFramePr>
          <p:nvPr>
            <p:extLst>
              <p:ext uri="{D42A27DB-BD31-4B8C-83A1-F6EECF244321}">
                <p14:modId xmlns:p14="http://schemas.microsoft.com/office/powerpoint/2010/main" val="36237286"/>
              </p:ext>
            </p:extLst>
          </p:nvPr>
        </p:nvGraphicFramePr>
        <p:xfrm>
          <a:off x="6448927" y="664142"/>
          <a:ext cx="4514248" cy="301458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009552C9-C15A-45DF-B202-B6AE9227952F}"/>
              </a:ext>
            </a:extLst>
          </p:cNvPr>
          <p:cNvSpPr txBox="1"/>
          <p:nvPr/>
        </p:nvSpPr>
        <p:spPr>
          <a:xfrm>
            <a:off x="6448927" y="3792354"/>
            <a:ext cx="5218096" cy="2617768"/>
          </a:xfrm>
          <a:prstGeom prst="rect">
            <a:avLst/>
          </a:prstGeom>
          <a:noFill/>
        </p:spPr>
        <p:txBody>
          <a:bodyPr wrap="square">
            <a:spAutoFit/>
          </a:bodyPr>
          <a:lstStyle/>
          <a:p>
            <a:pPr marL="0" marR="0">
              <a:lnSpc>
                <a:spcPct val="107000"/>
              </a:lnSpc>
              <a:spcBef>
                <a:spcPts val="0"/>
              </a:spcBef>
              <a:spcAft>
                <a:spcPts val="0"/>
              </a:spcAf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The fact that many accidents occur outside junctions suggests that factors such as: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Speed</a:t>
            </a:r>
            <a:endParaRPr lang="en-US" sz="14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Driver distraction</a:t>
            </a:r>
            <a:endParaRPr lang="en-US" sz="14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Overtaking behavior</a:t>
            </a:r>
            <a:endParaRPr lang="en-US" sz="14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play a significant role.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However, T-junctions and crossroads also show substantial accident counts, which indicates that intersection design remains a major risk factor.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D0D0D"/>
                </a:solidFill>
                <a:effectLst/>
                <a:latin typeface="Calibri" panose="020F0502020204030204" pitchFamily="34" charset="0"/>
                <a:ea typeface="Times New Roman" panose="02020603050405020304" pitchFamily="18" charset="0"/>
                <a:cs typeface="Calibri" panose="020F0502020204030204" pitchFamily="34" charset="0"/>
              </a:rPr>
              <a:t>Improving visibility, signage, and traffic control at junctions could reduce these accidents.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32330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49A8B-2092-4E7F-81F3-111F1FAF3AD6}"/>
              </a:ext>
            </a:extLst>
          </p:cNvPr>
          <p:cNvSpPr>
            <a:spLocks noGrp="1"/>
          </p:cNvSpPr>
          <p:nvPr>
            <p:ph type="title"/>
          </p:nvPr>
        </p:nvSpPr>
        <p:spPr>
          <a:xfrm>
            <a:off x="838200" y="365125"/>
            <a:ext cx="10515600" cy="578151"/>
          </a:xfrm>
        </p:spPr>
        <p:txBody>
          <a:bodyPr>
            <a:normAutofit fontScale="90000"/>
          </a:bodyPr>
          <a:lstStyle/>
          <a:p>
            <a:pPr algn="ctr"/>
            <a:r>
              <a:rPr lang="en-US" b="1" dirty="0"/>
              <a:t>HOTSPOTS &amp; HEAT MAP ANALYSIS</a:t>
            </a:r>
            <a:endParaRPr lang="en-US" dirty="0"/>
          </a:p>
        </p:txBody>
      </p:sp>
      <p:graphicFrame>
        <p:nvGraphicFramePr>
          <p:cNvPr id="9" name="Content Placeholder 9">
            <a:extLst>
              <a:ext uri="{FF2B5EF4-FFF2-40B4-BE49-F238E27FC236}">
                <a16:creationId xmlns:a16="http://schemas.microsoft.com/office/drawing/2014/main" id="{E89FE52A-7B49-449E-835D-4CBB7A05B739}"/>
              </a:ext>
            </a:extLst>
          </p:cNvPr>
          <p:cNvGraphicFramePr>
            <a:graphicFrameLocks/>
          </p:cNvGraphicFramePr>
          <p:nvPr>
            <p:extLst>
              <p:ext uri="{D42A27DB-BD31-4B8C-83A1-F6EECF244321}">
                <p14:modId xmlns:p14="http://schemas.microsoft.com/office/powerpoint/2010/main" val="2687678070"/>
              </p:ext>
            </p:extLst>
          </p:nvPr>
        </p:nvGraphicFramePr>
        <p:xfrm>
          <a:off x="997167" y="1472665"/>
          <a:ext cx="4681738" cy="2416049"/>
        </p:xfrm>
        <a:graphic>
          <a:graphicData uri="http://schemas.openxmlformats.org/drawingml/2006/table">
            <a:tbl>
              <a:tblPr/>
              <a:tblGrid>
                <a:gridCol w="2707331">
                  <a:extLst>
                    <a:ext uri="{9D8B030D-6E8A-4147-A177-3AD203B41FA5}">
                      <a16:colId xmlns:a16="http://schemas.microsoft.com/office/drawing/2014/main" val="2647708524"/>
                    </a:ext>
                  </a:extLst>
                </a:gridCol>
                <a:gridCol w="1974407">
                  <a:extLst>
                    <a:ext uri="{9D8B030D-6E8A-4147-A177-3AD203B41FA5}">
                      <a16:colId xmlns:a16="http://schemas.microsoft.com/office/drawing/2014/main" val="2395638646"/>
                    </a:ext>
                  </a:extLst>
                </a:gridCol>
              </a:tblGrid>
              <a:tr h="302234">
                <a:tc>
                  <a:txBody>
                    <a:bodyPr/>
                    <a:lstStyle/>
                    <a:p>
                      <a:pPr algn="l" fontAlgn="b"/>
                      <a:r>
                        <a:rPr lang="en-US" sz="1600" b="1" i="0" u="none" strike="noStrike" dirty="0">
                          <a:solidFill>
                            <a:srgbClr val="000000"/>
                          </a:solidFill>
                          <a:effectLst/>
                          <a:latin typeface="Calibri" panose="020F0502020204030204" pitchFamily="34" charset="0"/>
                        </a:rPr>
                        <a:t>Junction Control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dirty="0" err="1">
                          <a:solidFill>
                            <a:srgbClr val="000000"/>
                          </a:solidFill>
                          <a:effectLst/>
                          <a:latin typeface="Calibri" panose="020F0502020204030204" pitchFamily="34" charset="0"/>
                        </a:rPr>
                        <a:t>Accident_Severity</a:t>
                      </a:r>
                      <a:endParaRPr lang="en-US" sz="16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4870447"/>
                  </a:ext>
                </a:extLst>
              </a:tr>
              <a:tr h="302234">
                <a:tc>
                  <a:txBody>
                    <a:bodyPr/>
                    <a:lstStyle/>
                    <a:p>
                      <a:pPr algn="l" fontAlgn="b"/>
                      <a:r>
                        <a:rPr lang="en-US" sz="1400" b="0" i="0" u="none" strike="noStrike" dirty="0" err="1">
                          <a:solidFill>
                            <a:srgbClr val="000000"/>
                          </a:solidFill>
                          <a:effectLst/>
                          <a:latin typeface="Calibri" panose="020F0502020204030204" pitchFamily="34" charset="0"/>
                        </a:rPr>
                        <a:t>Authorised</a:t>
                      </a:r>
                      <a:r>
                        <a:rPr lang="en-US" sz="1400" b="0" i="0" u="none" strike="noStrike" dirty="0">
                          <a:solidFill>
                            <a:srgbClr val="000000"/>
                          </a:solidFill>
                          <a:effectLst/>
                          <a:latin typeface="Calibri" panose="020F0502020204030204" pitchFamily="34" charset="0"/>
                        </a:rPr>
                        <a:t> person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460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367421025"/>
                  </a:ext>
                </a:extLst>
              </a:tr>
              <a:tr h="302234">
                <a:tc>
                  <a:txBody>
                    <a:bodyPr/>
                    <a:lstStyle/>
                    <a:p>
                      <a:pPr algn="l" fontAlgn="b"/>
                      <a:r>
                        <a:rPr lang="en-US" sz="1400" b="0" i="0" u="none" strike="noStrike">
                          <a:solidFill>
                            <a:srgbClr val="000000"/>
                          </a:solidFill>
                          <a:effectLst/>
                          <a:latin typeface="Calibri" panose="020F0502020204030204" pitchFamily="34" charset="0"/>
                        </a:rPr>
                        <a:t>Auto traffic signal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32349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884"/>
                    </a:solidFill>
                  </a:tcPr>
                </a:tc>
                <a:extLst>
                  <a:ext uri="{0D108BD9-81ED-4DB2-BD59-A6C34878D82A}">
                    <a16:rowId xmlns:a16="http://schemas.microsoft.com/office/drawing/2014/main" val="2732503172"/>
                  </a:ext>
                </a:extLst>
              </a:tr>
              <a:tr h="302234">
                <a:tc>
                  <a:txBody>
                    <a:bodyPr/>
                    <a:lstStyle/>
                    <a:p>
                      <a:pPr algn="l" fontAlgn="b"/>
                      <a:r>
                        <a:rPr lang="en-US" sz="1400" b="0" i="0" u="none" strike="noStrike">
                          <a:solidFill>
                            <a:srgbClr val="000000"/>
                          </a:solidFill>
                          <a:effectLst/>
                          <a:latin typeface="Calibri" panose="020F0502020204030204" pitchFamily="34" charset="0"/>
                        </a:rPr>
                        <a:t>Data missing or out of range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98055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A176"/>
                    </a:solidFill>
                  </a:tcPr>
                </a:tc>
                <a:extLst>
                  <a:ext uri="{0D108BD9-81ED-4DB2-BD59-A6C34878D82A}">
                    <a16:rowId xmlns:a16="http://schemas.microsoft.com/office/drawing/2014/main" val="2603645238"/>
                  </a:ext>
                </a:extLst>
              </a:tr>
              <a:tr h="302234">
                <a:tc>
                  <a:txBody>
                    <a:bodyPr/>
                    <a:lstStyle/>
                    <a:p>
                      <a:pPr algn="l" fontAlgn="b"/>
                      <a:r>
                        <a:rPr lang="en-US" sz="1400" b="0" i="0" u="none" strike="noStrike">
                          <a:solidFill>
                            <a:srgbClr val="000000"/>
                          </a:solidFill>
                          <a:effectLst/>
                          <a:latin typeface="Calibri" panose="020F0502020204030204" pitchFamily="34" charset="0"/>
                        </a:rPr>
                        <a:t>Give way or uncontrolled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150045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3821608028"/>
                  </a:ext>
                </a:extLst>
              </a:tr>
              <a:tr h="302234">
                <a:tc>
                  <a:txBody>
                    <a:bodyPr/>
                    <a:lstStyle/>
                    <a:p>
                      <a:pPr algn="l" fontAlgn="b"/>
                      <a:r>
                        <a:rPr lang="en-US" sz="1400" b="0" i="0" u="none" strike="noStrike">
                          <a:solidFill>
                            <a:srgbClr val="000000"/>
                          </a:solidFill>
                          <a:effectLst/>
                          <a:latin typeface="Calibri" panose="020F0502020204030204" pitchFamily="34" charset="0"/>
                        </a:rPr>
                        <a:t>Not at junction or within 20 metres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25378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582"/>
                    </a:solidFill>
                  </a:tcPr>
                </a:tc>
                <a:extLst>
                  <a:ext uri="{0D108BD9-81ED-4DB2-BD59-A6C34878D82A}">
                    <a16:rowId xmlns:a16="http://schemas.microsoft.com/office/drawing/2014/main" val="4052770926"/>
                  </a:ext>
                </a:extLst>
              </a:tr>
              <a:tr h="300411">
                <a:tc>
                  <a:txBody>
                    <a:bodyPr/>
                    <a:lstStyle/>
                    <a:p>
                      <a:pPr algn="l" fontAlgn="b"/>
                      <a:r>
                        <a:rPr lang="en-US" sz="1400" b="0" i="0" u="none" strike="noStrike" dirty="0">
                          <a:solidFill>
                            <a:srgbClr val="000000"/>
                          </a:solidFill>
                          <a:effectLst/>
                          <a:latin typeface="Calibri" panose="020F0502020204030204" pitchFamily="34" charset="0"/>
                        </a:rPr>
                        <a:t>Stop sign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1685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BF7B"/>
                    </a:solidFill>
                  </a:tcPr>
                </a:tc>
                <a:extLst>
                  <a:ext uri="{0D108BD9-81ED-4DB2-BD59-A6C34878D82A}">
                    <a16:rowId xmlns:a16="http://schemas.microsoft.com/office/drawing/2014/main" val="469399729"/>
                  </a:ext>
                </a:extLst>
              </a:tr>
              <a:tr h="302234">
                <a:tc>
                  <a:txBody>
                    <a:bodyPr/>
                    <a:lstStyle/>
                    <a:p>
                      <a:pPr algn="l" fontAlgn="b"/>
                      <a:r>
                        <a:rPr lang="en-US" sz="1400" b="1" i="0" u="none" strike="noStrike" dirty="0">
                          <a:solidFill>
                            <a:srgbClr val="000000"/>
                          </a:solidFill>
                          <a:effectLst/>
                          <a:latin typeface="Calibri" panose="020F0502020204030204" pitchFamily="34" charset="0"/>
                        </a:rPr>
                        <a:t>Grand 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307972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3812281"/>
                  </a:ext>
                </a:extLst>
              </a:tr>
            </a:tbl>
          </a:graphicData>
        </a:graphic>
      </p:graphicFrame>
      <p:graphicFrame>
        <p:nvGraphicFramePr>
          <p:cNvPr id="10" name="Content Placeholder 4">
            <a:extLst>
              <a:ext uri="{FF2B5EF4-FFF2-40B4-BE49-F238E27FC236}">
                <a16:creationId xmlns:a16="http://schemas.microsoft.com/office/drawing/2014/main" id="{25417D7C-8067-4356-A737-440B333202EA}"/>
              </a:ext>
            </a:extLst>
          </p:cNvPr>
          <p:cNvGraphicFramePr>
            <a:graphicFrameLocks noGrp="1"/>
          </p:cNvGraphicFramePr>
          <p:nvPr>
            <p:ph idx="1"/>
            <p:extLst>
              <p:ext uri="{D42A27DB-BD31-4B8C-83A1-F6EECF244321}">
                <p14:modId xmlns:p14="http://schemas.microsoft.com/office/powerpoint/2010/main" val="169342334"/>
              </p:ext>
            </p:extLst>
          </p:nvPr>
        </p:nvGraphicFramePr>
        <p:xfrm>
          <a:off x="6381549" y="1472663"/>
          <a:ext cx="4408371" cy="2417870"/>
        </p:xfrm>
        <a:graphic>
          <a:graphicData uri="http://schemas.openxmlformats.org/drawingml/2006/table">
            <a:tbl>
              <a:tblPr/>
              <a:tblGrid>
                <a:gridCol w="2549250">
                  <a:extLst>
                    <a:ext uri="{9D8B030D-6E8A-4147-A177-3AD203B41FA5}">
                      <a16:colId xmlns:a16="http://schemas.microsoft.com/office/drawing/2014/main" val="3234592715"/>
                    </a:ext>
                  </a:extLst>
                </a:gridCol>
                <a:gridCol w="1859121">
                  <a:extLst>
                    <a:ext uri="{9D8B030D-6E8A-4147-A177-3AD203B41FA5}">
                      <a16:colId xmlns:a16="http://schemas.microsoft.com/office/drawing/2014/main" val="274314469"/>
                    </a:ext>
                  </a:extLst>
                </a:gridCol>
              </a:tblGrid>
              <a:tr h="388131">
                <a:tc>
                  <a:txBody>
                    <a:bodyPr/>
                    <a:lstStyle/>
                    <a:p>
                      <a:pPr algn="l" fontAlgn="b"/>
                      <a:r>
                        <a:rPr lang="en-US" sz="1600" b="1" i="0" u="none" strike="noStrike" dirty="0">
                          <a:solidFill>
                            <a:srgbClr val="000000"/>
                          </a:solidFill>
                          <a:effectLst/>
                          <a:latin typeface="Calibri" panose="020F0502020204030204" pitchFamily="34" charset="0"/>
                        </a:rPr>
                        <a:t>Junction Detail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dirty="0">
                          <a:solidFill>
                            <a:srgbClr val="000000"/>
                          </a:solidFill>
                          <a:effectLst/>
                          <a:latin typeface="Calibri" panose="020F0502020204030204" pitchFamily="34" charset="0"/>
                        </a:rPr>
                        <a:t> </a:t>
                      </a:r>
                      <a:r>
                        <a:rPr lang="en-US" sz="1600" b="1" i="0" u="none" strike="noStrike" dirty="0" err="1">
                          <a:solidFill>
                            <a:srgbClr val="000000"/>
                          </a:solidFill>
                          <a:effectLst/>
                          <a:latin typeface="Calibri" panose="020F0502020204030204" pitchFamily="34" charset="0"/>
                        </a:rPr>
                        <a:t>Accident_Severity</a:t>
                      </a:r>
                      <a:endParaRPr lang="en-US" sz="16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2416947"/>
                  </a:ext>
                </a:extLst>
              </a:tr>
              <a:tr h="388131">
                <a:tc>
                  <a:txBody>
                    <a:bodyPr/>
                    <a:lstStyle/>
                    <a:p>
                      <a:pPr algn="l" fontAlgn="b"/>
                      <a:r>
                        <a:rPr lang="en-US" sz="1400" b="0" i="0" u="none" strike="noStrike" dirty="0">
                          <a:solidFill>
                            <a:srgbClr val="000000"/>
                          </a:solidFill>
                          <a:effectLst/>
                          <a:latin typeface="Calibri" panose="020F0502020204030204" pitchFamily="34" charset="0"/>
                        </a:rPr>
                        <a:t>Crossroads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29948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extLst>
                  <a:ext uri="{0D108BD9-81ED-4DB2-BD59-A6C34878D82A}">
                    <a16:rowId xmlns:a16="http://schemas.microsoft.com/office/drawing/2014/main" val="1697354931"/>
                  </a:ext>
                </a:extLst>
              </a:tr>
              <a:tr h="477215">
                <a:tc>
                  <a:txBody>
                    <a:bodyPr/>
                    <a:lstStyle/>
                    <a:p>
                      <a:pPr algn="l" fontAlgn="b"/>
                      <a:r>
                        <a:rPr lang="en-US" sz="1400" b="0" i="0" u="none" strike="noStrike" dirty="0">
                          <a:solidFill>
                            <a:srgbClr val="000000"/>
                          </a:solidFill>
                          <a:effectLst/>
                          <a:latin typeface="Calibri" panose="020F0502020204030204" pitchFamily="34" charset="0"/>
                        </a:rPr>
                        <a:t>Not at junction or within 20 </a:t>
                      </a:r>
                      <a:r>
                        <a:rPr lang="en-US" sz="1400" b="0" i="0" u="none" strike="noStrike" dirty="0" err="1">
                          <a:solidFill>
                            <a:srgbClr val="000000"/>
                          </a:solidFill>
                          <a:effectLst/>
                          <a:latin typeface="Calibri" panose="020F0502020204030204" pitchFamily="34" charset="0"/>
                        </a:rPr>
                        <a:t>metres</a:t>
                      </a:r>
                      <a:endParaRPr lang="en-US" sz="1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123093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1921398729"/>
                  </a:ext>
                </a:extLst>
              </a:tr>
              <a:tr h="388131">
                <a:tc>
                  <a:txBody>
                    <a:bodyPr/>
                    <a:lstStyle/>
                    <a:p>
                      <a:pPr algn="l" fontAlgn="b"/>
                      <a:r>
                        <a:rPr lang="en-US" sz="1400" b="0" i="0" u="none" strike="noStrike">
                          <a:solidFill>
                            <a:srgbClr val="000000"/>
                          </a:solidFill>
                          <a:effectLst/>
                          <a:latin typeface="Calibri" panose="020F0502020204030204" pitchFamily="34" charset="0"/>
                        </a:rPr>
                        <a:t>Private drive or entrance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10875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1445196041"/>
                  </a:ext>
                </a:extLst>
              </a:tr>
              <a:tr h="388131">
                <a:tc>
                  <a:txBody>
                    <a:bodyPr/>
                    <a:lstStyle/>
                    <a:p>
                      <a:pPr algn="l" fontAlgn="b"/>
                      <a:r>
                        <a:rPr lang="en-US" sz="1400" b="0" i="0" u="none" strike="noStrike" dirty="0">
                          <a:solidFill>
                            <a:srgbClr val="000000"/>
                          </a:solidFill>
                          <a:effectLst/>
                          <a:latin typeface="Calibri" panose="020F0502020204030204" pitchFamily="34" charset="0"/>
                        </a:rPr>
                        <a:t>Roundabout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27264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E482"/>
                    </a:solidFill>
                  </a:tcPr>
                </a:tc>
                <a:extLst>
                  <a:ext uri="{0D108BD9-81ED-4DB2-BD59-A6C34878D82A}">
                    <a16:rowId xmlns:a16="http://schemas.microsoft.com/office/drawing/2014/main" val="514785552"/>
                  </a:ext>
                </a:extLst>
              </a:tr>
              <a:tr h="388131">
                <a:tc>
                  <a:txBody>
                    <a:bodyPr/>
                    <a:lstStyle/>
                    <a:p>
                      <a:pPr algn="l" fontAlgn="b"/>
                      <a:r>
                        <a:rPr lang="en-US" sz="1400" b="0" i="0" u="none" strike="noStrike" dirty="0">
                          <a:solidFill>
                            <a:srgbClr val="000000"/>
                          </a:solidFill>
                          <a:effectLst/>
                          <a:latin typeface="Calibri" panose="020F0502020204030204" pitchFamily="34" charset="0"/>
                        </a:rPr>
                        <a:t>T or staggered junction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96718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8E73"/>
                    </a:solidFill>
                  </a:tcPr>
                </a:tc>
                <a:extLst>
                  <a:ext uri="{0D108BD9-81ED-4DB2-BD59-A6C34878D82A}">
                    <a16:rowId xmlns:a16="http://schemas.microsoft.com/office/drawing/2014/main" val="509471755"/>
                  </a:ext>
                </a:extLst>
              </a:tr>
            </a:tbl>
          </a:graphicData>
        </a:graphic>
      </p:graphicFrame>
      <p:graphicFrame>
        <p:nvGraphicFramePr>
          <p:cNvPr id="4" name="Table 3">
            <a:extLst>
              <a:ext uri="{FF2B5EF4-FFF2-40B4-BE49-F238E27FC236}">
                <a16:creationId xmlns:a16="http://schemas.microsoft.com/office/drawing/2014/main" id="{962253A6-703D-44C1-A46E-8E3BA50D0FE8}"/>
              </a:ext>
            </a:extLst>
          </p:cNvPr>
          <p:cNvGraphicFramePr>
            <a:graphicFrameLocks noGrp="1"/>
          </p:cNvGraphicFramePr>
          <p:nvPr>
            <p:extLst>
              <p:ext uri="{D42A27DB-BD31-4B8C-83A1-F6EECF244321}">
                <p14:modId xmlns:p14="http://schemas.microsoft.com/office/powerpoint/2010/main" val="1073907365"/>
              </p:ext>
            </p:extLst>
          </p:nvPr>
        </p:nvGraphicFramePr>
        <p:xfrm>
          <a:off x="2327241" y="4215865"/>
          <a:ext cx="6248866" cy="2021304"/>
        </p:xfrm>
        <a:graphic>
          <a:graphicData uri="http://schemas.openxmlformats.org/drawingml/2006/table">
            <a:tbl>
              <a:tblPr/>
              <a:tblGrid>
                <a:gridCol w="1860948">
                  <a:extLst>
                    <a:ext uri="{9D8B030D-6E8A-4147-A177-3AD203B41FA5}">
                      <a16:colId xmlns:a16="http://schemas.microsoft.com/office/drawing/2014/main" val="2201627720"/>
                    </a:ext>
                  </a:extLst>
                </a:gridCol>
                <a:gridCol w="1332046">
                  <a:extLst>
                    <a:ext uri="{9D8B030D-6E8A-4147-A177-3AD203B41FA5}">
                      <a16:colId xmlns:a16="http://schemas.microsoft.com/office/drawing/2014/main" val="1633936635"/>
                    </a:ext>
                  </a:extLst>
                </a:gridCol>
                <a:gridCol w="1018624">
                  <a:extLst>
                    <a:ext uri="{9D8B030D-6E8A-4147-A177-3AD203B41FA5}">
                      <a16:colId xmlns:a16="http://schemas.microsoft.com/office/drawing/2014/main" val="2196819405"/>
                    </a:ext>
                  </a:extLst>
                </a:gridCol>
                <a:gridCol w="1018624">
                  <a:extLst>
                    <a:ext uri="{9D8B030D-6E8A-4147-A177-3AD203B41FA5}">
                      <a16:colId xmlns:a16="http://schemas.microsoft.com/office/drawing/2014/main" val="3818996172"/>
                    </a:ext>
                  </a:extLst>
                </a:gridCol>
                <a:gridCol w="1018624">
                  <a:extLst>
                    <a:ext uri="{9D8B030D-6E8A-4147-A177-3AD203B41FA5}">
                      <a16:colId xmlns:a16="http://schemas.microsoft.com/office/drawing/2014/main" val="3455134110"/>
                    </a:ext>
                  </a:extLst>
                </a:gridCol>
              </a:tblGrid>
              <a:tr h="336884">
                <a:tc>
                  <a:txBody>
                    <a:bodyPr/>
                    <a:lstStyle/>
                    <a:p>
                      <a:pPr algn="l" fontAlgn="b"/>
                      <a:r>
                        <a:rPr lang="en-US" sz="16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Fatal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Serious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Slight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dirty="0">
                          <a:solidFill>
                            <a:srgbClr val="000000"/>
                          </a:solidFill>
                          <a:effectLst/>
                          <a:latin typeface="Calibri" panose="020F0502020204030204" pitchFamily="34" charset="0"/>
                        </a:rPr>
                        <a:t>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4062588"/>
                  </a:ext>
                </a:extLst>
              </a:tr>
              <a:tr h="336884">
                <a:tc>
                  <a:txBody>
                    <a:bodyPr/>
                    <a:lstStyle/>
                    <a:p>
                      <a:pPr algn="l" fontAlgn="b"/>
                      <a:r>
                        <a:rPr lang="en-US" sz="1400" b="1" i="0" u="none" strike="noStrike">
                          <a:solidFill>
                            <a:srgbClr val="000000"/>
                          </a:solidFill>
                          <a:effectLst/>
                          <a:latin typeface="Calibri" panose="020F0502020204030204" pitchFamily="34" charset="0"/>
                        </a:rPr>
                        <a:t>Morning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1213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BC07B"/>
                    </a:solidFill>
                  </a:tcPr>
                </a:tc>
                <a:tc>
                  <a:txBody>
                    <a:bodyPr/>
                    <a:lstStyle/>
                    <a:p>
                      <a:pPr algn="r" fontAlgn="b"/>
                      <a:r>
                        <a:rPr lang="en-US" sz="1400" b="0" i="0" u="none" strike="noStrike" dirty="0">
                          <a:solidFill>
                            <a:srgbClr val="000000"/>
                          </a:solidFill>
                          <a:effectLst/>
                          <a:latin typeface="Calibri" panose="020F0502020204030204" pitchFamily="34" charset="0"/>
                        </a:rPr>
                        <a:t>10116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3"/>
                    </a:solidFill>
                  </a:tcPr>
                </a:tc>
                <a:tc>
                  <a:txBody>
                    <a:bodyPr/>
                    <a:lstStyle/>
                    <a:p>
                      <a:pPr algn="r" fontAlgn="b"/>
                      <a:r>
                        <a:rPr lang="en-US" sz="1400" b="0" i="0" u="none" strike="noStrike">
                          <a:solidFill>
                            <a:srgbClr val="000000"/>
                          </a:solidFill>
                          <a:effectLst/>
                          <a:latin typeface="Calibri" panose="020F0502020204030204" pitchFamily="34" charset="0"/>
                        </a:rPr>
                        <a:t>74549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9B75"/>
                    </a:solidFill>
                  </a:tcPr>
                </a:tc>
                <a:tc>
                  <a:txBody>
                    <a:bodyPr/>
                    <a:lstStyle/>
                    <a:p>
                      <a:pPr algn="r" fontAlgn="b"/>
                      <a:r>
                        <a:rPr lang="en-US" sz="1400" b="0" i="0" u="none" strike="noStrike" dirty="0">
                          <a:solidFill>
                            <a:srgbClr val="000000"/>
                          </a:solidFill>
                          <a:effectLst/>
                          <a:latin typeface="Calibri" panose="020F0502020204030204" pitchFamily="34" charset="0"/>
                        </a:rPr>
                        <a:t>85878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7793459"/>
                  </a:ext>
                </a:extLst>
              </a:tr>
              <a:tr h="336884">
                <a:tc>
                  <a:txBody>
                    <a:bodyPr/>
                    <a:lstStyle/>
                    <a:p>
                      <a:pPr algn="l" fontAlgn="b"/>
                      <a:r>
                        <a:rPr lang="en-US" sz="1400" b="1" i="0" u="none" strike="noStrike">
                          <a:solidFill>
                            <a:srgbClr val="000000"/>
                          </a:solidFill>
                          <a:effectLst/>
                          <a:latin typeface="Calibri" panose="020F0502020204030204" pitchFamily="34" charset="0"/>
                        </a:rPr>
                        <a:t>Afternoon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1791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C37C"/>
                    </a:solidFill>
                  </a:tcPr>
                </a:tc>
                <a:tc>
                  <a:txBody>
                    <a:bodyPr/>
                    <a:lstStyle/>
                    <a:p>
                      <a:pPr algn="r" fontAlgn="b"/>
                      <a:r>
                        <a:rPr lang="en-US" sz="1400" b="0" i="0" u="none" strike="noStrike">
                          <a:solidFill>
                            <a:srgbClr val="000000"/>
                          </a:solidFill>
                          <a:effectLst/>
                          <a:latin typeface="Calibri" panose="020F0502020204030204" pitchFamily="34" charset="0"/>
                        </a:rPr>
                        <a:t>16752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383"/>
                    </a:solidFill>
                  </a:tcPr>
                </a:tc>
                <a:tc>
                  <a:txBody>
                    <a:bodyPr/>
                    <a:lstStyle/>
                    <a:p>
                      <a:pPr algn="r" fontAlgn="b"/>
                      <a:r>
                        <a:rPr lang="en-US" sz="1400" b="0" i="0" u="none" strike="noStrike" dirty="0">
                          <a:solidFill>
                            <a:srgbClr val="000000"/>
                          </a:solidFill>
                          <a:effectLst/>
                          <a:latin typeface="Calibri" panose="020F0502020204030204" pitchFamily="34" charset="0"/>
                        </a:rPr>
                        <a:t>113854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dirty="0">
                          <a:solidFill>
                            <a:srgbClr val="000000"/>
                          </a:solidFill>
                          <a:effectLst/>
                          <a:latin typeface="Calibri" panose="020F0502020204030204" pitchFamily="34" charset="0"/>
                        </a:rPr>
                        <a:t>132397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5606196"/>
                  </a:ext>
                </a:extLst>
              </a:tr>
              <a:tr h="336884">
                <a:tc>
                  <a:txBody>
                    <a:bodyPr/>
                    <a:lstStyle/>
                    <a:p>
                      <a:pPr algn="l" fontAlgn="b"/>
                      <a:r>
                        <a:rPr lang="en-US" sz="1400" b="1" i="0" u="none" strike="noStrike">
                          <a:solidFill>
                            <a:srgbClr val="000000"/>
                          </a:solidFill>
                          <a:effectLst/>
                          <a:latin typeface="Calibri" panose="020F0502020204030204" pitchFamily="34" charset="0"/>
                        </a:rPr>
                        <a:t>Evening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1322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DC17B"/>
                    </a:solidFill>
                  </a:tcPr>
                </a:tc>
                <a:tc>
                  <a:txBody>
                    <a:bodyPr/>
                    <a:lstStyle/>
                    <a:p>
                      <a:pPr algn="r" fontAlgn="b"/>
                      <a:r>
                        <a:rPr lang="en-US" sz="1400" b="0" i="0" u="none" strike="noStrike">
                          <a:solidFill>
                            <a:srgbClr val="000000"/>
                          </a:solidFill>
                          <a:effectLst/>
                          <a:latin typeface="Calibri" panose="020F0502020204030204" pitchFamily="34" charset="0"/>
                        </a:rPr>
                        <a:t>10508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n-US" sz="1400" b="0" i="0" u="none" strike="noStrike" dirty="0">
                          <a:solidFill>
                            <a:srgbClr val="000000"/>
                          </a:solidFill>
                          <a:effectLst/>
                          <a:latin typeface="Calibri" panose="020F0502020204030204" pitchFamily="34" charset="0"/>
                        </a:rPr>
                        <a:t>60475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AD78"/>
                    </a:solidFill>
                  </a:tcPr>
                </a:tc>
                <a:tc>
                  <a:txBody>
                    <a:bodyPr/>
                    <a:lstStyle/>
                    <a:p>
                      <a:pPr algn="r" fontAlgn="b"/>
                      <a:r>
                        <a:rPr lang="en-US" sz="1400" b="0" i="0" u="none" strike="noStrike" dirty="0">
                          <a:solidFill>
                            <a:srgbClr val="000000"/>
                          </a:solidFill>
                          <a:effectLst/>
                          <a:latin typeface="Calibri" panose="020F0502020204030204" pitchFamily="34" charset="0"/>
                        </a:rPr>
                        <a:t>72305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417906"/>
                  </a:ext>
                </a:extLst>
              </a:tr>
              <a:tr h="336884">
                <a:tc>
                  <a:txBody>
                    <a:bodyPr/>
                    <a:lstStyle/>
                    <a:p>
                      <a:pPr algn="l" fontAlgn="b"/>
                      <a:r>
                        <a:rPr lang="en-US" sz="1400" b="1" i="0" u="none" strike="noStrike" dirty="0">
                          <a:solidFill>
                            <a:srgbClr val="000000"/>
                          </a:solidFill>
                          <a:effectLst/>
                          <a:latin typeface="Calibri" panose="020F0502020204030204" pitchFamily="34" charset="0"/>
                        </a:rPr>
                        <a:t>Night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3238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CC97D"/>
                    </a:solidFill>
                  </a:tcPr>
                </a:tc>
                <a:tc>
                  <a:txBody>
                    <a:bodyPr/>
                    <a:lstStyle/>
                    <a:p>
                      <a:pPr algn="r" fontAlgn="b"/>
                      <a:r>
                        <a:rPr lang="en-US" sz="1400" b="0" i="0" u="none" strike="noStrike">
                          <a:solidFill>
                            <a:srgbClr val="000000"/>
                          </a:solidFill>
                          <a:effectLst/>
                          <a:latin typeface="Calibri" panose="020F0502020204030204" pitchFamily="34" charset="0"/>
                        </a:rPr>
                        <a:t>13486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884"/>
                    </a:solidFill>
                  </a:tcPr>
                </a:tc>
                <a:tc>
                  <a:txBody>
                    <a:bodyPr/>
                    <a:lstStyle/>
                    <a:p>
                      <a:pPr algn="r" fontAlgn="b"/>
                      <a:r>
                        <a:rPr lang="en-US" sz="1400" b="0" i="0" u="none" strike="noStrike" dirty="0">
                          <a:solidFill>
                            <a:srgbClr val="000000"/>
                          </a:solidFill>
                          <a:effectLst/>
                          <a:latin typeface="Calibri" panose="020F0502020204030204" pitchFamily="34" charset="0"/>
                        </a:rPr>
                        <a:t>17392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5637248"/>
                  </a:ext>
                </a:extLst>
              </a:tr>
              <a:tr h="336884">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sz="1400" b="0" i="0" u="none" strike="noStrike" dirty="0">
                          <a:solidFill>
                            <a:srgbClr val="000000"/>
                          </a:solidFill>
                          <a:effectLst/>
                          <a:latin typeface="Calibri" panose="020F0502020204030204" pitchFamily="34" charset="0"/>
                        </a:rPr>
                        <a:t>307972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22635966"/>
                  </a:ext>
                </a:extLst>
              </a:tr>
            </a:tbl>
          </a:graphicData>
        </a:graphic>
      </p:graphicFrame>
    </p:spTree>
    <p:extLst>
      <p:ext uri="{BB962C8B-B14F-4D97-AF65-F5344CB8AC3E}">
        <p14:creationId xmlns:p14="http://schemas.microsoft.com/office/powerpoint/2010/main" val="203301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EE628-FC0F-4684-AB96-660FCCA61116}"/>
              </a:ext>
            </a:extLst>
          </p:cNvPr>
          <p:cNvSpPr>
            <a:spLocks noGrp="1"/>
          </p:cNvSpPr>
          <p:nvPr>
            <p:ph type="title"/>
          </p:nvPr>
        </p:nvSpPr>
        <p:spPr>
          <a:xfrm>
            <a:off x="838200" y="336251"/>
            <a:ext cx="10515600" cy="587776"/>
          </a:xfrm>
        </p:spPr>
        <p:txBody>
          <a:bodyPr>
            <a:normAutofit fontScale="90000"/>
          </a:bodyPr>
          <a:lstStyle/>
          <a:p>
            <a:r>
              <a:rPr lang="en-US" b="1" dirty="0"/>
              <a:t>HOTSPOTS &amp; HEAT MAP ANALYSIS</a:t>
            </a:r>
            <a:endParaRPr lang="en-US" dirty="0"/>
          </a:p>
        </p:txBody>
      </p:sp>
      <p:graphicFrame>
        <p:nvGraphicFramePr>
          <p:cNvPr id="11" name="Content Placeholder 10">
            <a:extLst>
              <a:ext uri="{FF2B5EF4-FFF2-40B4-BE49-F238E27FC236}">
                <a16:creationId xmlns:a16="http://schemas.microsoft.com/office/drawing/2014/main" id="{E8AE120F-F867-4F47-86C3-5D4AE22A5870}"/>
              </a:ext>
            </a:extLst>
          </p:cNvPr>
          <p:cNvGraphicFramePr>
            <a:graphicFrameLocks noGrp="1"/>
          </p:cNvGraphicFramePr>
          <p:nvPr>
            <p:ph idx="1"/>
            <p:extLst>
              <p:ext uri="{D42A27DB-BD31-4B8C-83A1-F6EECF244321}">
                <p14:modId xmlns:p14="http://schemas.microsoft.com/office/powerpoint/2010/main" val="1297502629"/>
              </p:ext>
            </p:extLst>
          </p:nvPr>
        </p:nvGraphicFramePr>
        <p:xfrm>
          <a:off x="685799" y="1238837"/>
          <a:ext cx="5541744" cy="4468941"/>
        </p:xfrm>
        <a:graphic>
          <a:graphicData uri="http://schemas.openxmlformats.org/drawingml/2006/table">
            <a:tbl>
              <a:tblPr/>
              <a:tblGrid>
                <a:gridCol w="1770245">
                  <a:extLst>
                    <a:ext uri="{9D8B030D-6E8A-4147-A177-3AD203B41FA5}">
                      <a16:colId xmlns:a16="http://schemas.microsoft.com/office/drawing/2014/main" val="2907260052"/>
                    </a:ext>
                  </a:extLst>
                </a:gridCol>
                <a:gridCol w="963222">
                  <a:extLst>
                    <a:ext uri="{9D8B030D-6E8A-4147-A177-3AD203B41FA5}">
                      <a16:colId xmlns:a16="http://schemas.microsoft.com/office/drawing/2014/main" val="3202059708"/>
                    </a:ext>
                  </a:extLst>
                </a:gridCol>
                <a:gridCol w="1080370">
                  <a:extLst>
                    <a:ext uri="{9D8B030D-6E8A-4147-A177-3AD203B41FA5}">
                      <a16:colId xmlns:a16="http://schemas.microsoft.com/office/drawing/2014/main" val="3228185343"/>
                    </a:ext>
                  </a:extLst>
                </a:gridCol>
                <a:gridCol w="676858">
                  <a:extLst>
                    <a:ext uri="{9D8B030D-6E8A-4147-A177-3AD203B41FA5}">
                      <a16:colId xmlns:a16="http://schemas.microsoft.com/office/drawing/2014/main" val="2671479782"/>
                    </a:ext>
                  </a:extLst>
                </a:gridCol>
                <a:gridCol w="1051049">
                  <a:extLst>
                    <a:ext uri="{9D8B030D-6E8A-4147-A177-3AD203B41FA5}">
                      <a16:colId xmlns:a16="http://schemas.microsoft.com/office/drawing/2014/main" val="2516680138"/>
                    </a:ext>
                  </a:extLst>
                </a:gridCol>
              </a:tblGrid>
              <a:tr h="574311">
                <a:tc>
                  <a:txBody>
                    <a:bodyPr/>
                    <a:lstStyle/>
                    <a:p>
                      <a:pPr algn="l" fontAlgn="b"/>
                      <a:r>
                        <a:rPr lang="en-US" sz="1400" b="1" i="0" u="none" strike="noStrike" dirty="0">
                          <a:solidFill>
                            <a:srgbClr val="000000"/>
                          </a:solidFill>
                          <a:effectLst/>
                          <a:latin typeface="Calibri" panose="020F0502020204030204" pitchFamily="34" charset="0"/>
                        </a:rPr>
                        <a:t>Local Authority (Top 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Fatal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Serious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panose="020F0502020204030204" pitchFamily="34" charset="0"/>
                        </a:rPr>
                        <a:t>Slight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panose="020F0502020204030204" pitchFamily="34" charset="0"/>
                        </a:rPr>
                        <a:t>Total Accidents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5923478"/>
                  </a:ext>
                </a:extLst>
              </a:tr>
              <a:tr h="389463">
                <a:tc>
                  <a:txBody>
                    <a:bodyPr/>
                    <a:lstStyle/>
                    <a:p>
                      <a:pPr algn="l" fontAlgn="b"/>
                      <a:r>
                        <a:rPr lang="en-US" sz="1400" b="0" i="0" u="none" strike="noStrike">
                          <a:solidFill>
                            <a:srgbClr val="000000"/>
                          </a:solidFill>
                          <a:effectLst/>
                          <a:latin typeface="Calibri" panose="020F0502020204030204" pitchFamily="34" charset="0"/>
                        </a:rPr>
                        <a:t>Birmingham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380"/>
                    </a:solidFill>
                  </a:tcPr>
                </a:tc>
                <a:tc>
                  <a:txBody>
                    <a:bodyPr/>
                    <a:lstStyle/>
                    <a:p>
                      <a:pPr algn="r" fontAlgn="b"/>
                      <a:r>
                        <a:rPr lang="en-US" sz="1400" b="0" i="0" u="none" strike="noStrike">
                          <a:solidFill>
                            <a:srgbClr val="000000"/>
                          </a:solidFill>
                          <a:effectLst/>
                          <a:latin typeface="Calibri" panose="020F0502020204030204" pitchFamily="34" charset="0"/>
                        </a:rPr>
                        <a:t>706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a:solidFill>
                            <a:srgbClr val="000000"/>
                          </a:solidFill>
                          <a:effectLst/>
                          <a:latin typeface="Calibri" panose="020F0502020204030204" pitchFamily="34" charset="0"/>
                        </a:rPr>
                        <a:t>5402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dirty="0">
                          <a:solidFill>
                            <a:srgbClr val="000000"/>
                          </a:solidFill>
                          <a:effectLst/>
                          <a:latin typeface="Calibri" panose="020F0502020204030204" pitchFamily="34" charset="0"/>
                        </a:rPr>
                        <a:t>6165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088353"/>
                  </a:ext>
                </a:extLst>
              </a:tr>
              <a:tr h="389463">
                <a:tc>
                  <a:txBody>
                    <a:bodyPr/>
                    <a:lstStyle/>
                    <a:p>
                      <a:pPr algn="l" fontAlgn="b"/>
                      <a:r>
                        <a:rPr lang="en-US" sz="1400" b="0" i="0" u="none" strike="noStrike">
                          <a:solidFill>
                            <a:srgbClr val="000000"/>
                          </a:solidFill>
                          <a:effectLst/>
                          <a:latin typeface="Calibri" panose="020F0502020204030204" pitchFamily="34" charset="0"/>
                        </a:rPr>
                        <a:t>Leeds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383"/>
                    </a:solidFill>
                  </a:tcPr>
                </a:tc>
                <a:tc>
                  <a:txBody>
                    <a:bodyPr/>
                    <a:lstStyle/>
                    <a:p>
                      <a:pPr algn="r" fontAlgn="b"/>
                      <a:r>
                        <a:rPr lang="en-US" sz="1400" b="0" i="0" u="none" strike="noStrike">
                          <a:solidFill>
                            <a:srgbClr val="000000"/>
                          </a:solidFill>
                          <a:effectLst/>
                          <a:latin typeface="Calibri" panose="020F0502020204030204" pitchFamily="34" charset="0"/>
                        </a:rPr>
                        <a:t>531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A877"/>
                    </a:solidFill>
                  </a:tcPr>
                </a:tc>
                <a:tc>
                  <a:txBody>
                    <a:bodyPr/>
                    <a:lstStyle/>
                    <a:p>
                      <a:pPr algn="r" fontAlgn="b"/>
                      <a:r>
                        <a:rPr lang="en-US" sz="1400" b="0" i="0" u="none" strike="noStrike">
                          <a:solidFill>
                            <a:srgbClr val="000000"/>
                          </a:solidFill>
                          <a:effectLst/>
                          <a:latin typeface="Calibri" panose="020F0502020204030204" pitchFamily="34" charset="0"/>
                        </a:rPr>
                        <a:t>3571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B87B"/>
                    </a:solidFill>
                  </a:tcPr>
                </a:tc>
                <a:tc>
                  <a:txBody>
                    <a:bodyPr/>
                    <a:lstStyle/>
                    <a:p>
                      <a:pPr algn="r" fontAlgn="b"/>
                      <a:r>
                        <a:rPr lang="en-US" sz="1400" b="0" i="0" u="none" strike="noStrike" dirty="0">
                          <a:solidFill>
                            <a:srgbClr val="000000"/>
                          </a:solidFill>
                          <a:effectLst/>
                          <a:latin typeface="Calibri" panose="020F0502020204030204" pitchFamily="34" charset="0"/>
                        </a:rPr>
                        <a:t>4140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973597"/>
                  </a:ext>
                </a:extLst>
              </a:tr>
              <a:tr h="389463">
                <a:tc>
                  <a:txBody>
                    <a:bodyPr/>
                    <a:lstStyle/>
                    <a:p>
                      <a:pPr algn="l" fontAlgn="b"/>
                      <a:r>
                        <a:rPr lang="en-US" sz="1400" b="0" i="0" u="none" strike="noStrike">
                          <a:solidFill>
                            <a:srgbClr val="000000"/>
                          </a:solidFill>
                          <a:effectLst/>
                          <a:latin typeface="Calibri" panose="020F0502020204030204" pitchFamily="34" charset="0"/>
                        </a:rPr>
                        <a:t>Manchester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E81"/>
                    </a:solidFill>
                  </a:tcPr>
                </a:tc>
                <a:tc>
                  <a:txBody>
                    <a:bodyPr/>
                    <a:lstStyle/>
                    <a:p>
                      <a:pPr algn="r" fontAlgn="b"/>
                      <a:r>
                        <a:rPr lang="en-US" sz="1400" b="0" i="0" u="none" strike="noStrike">
                          <a:solidFill>
                            <a:srgbClr val="000000"/>
                          </a:solidFill>
                          <a:effectLst/>
                          <a:latin typeface="Calibri" panose="020F0502020204030204" pitchFamily="34" charset="0"/>
                        </a:rPr>
                        <a:t>313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182"/>
                    </a:solidFill>
                  </a:tcPr>
                </a:tc>
                <a:tc>
                  <a:txBody>
                    <a:bodyPr/>
                    <a:lstStyle/>
                    <a:p>
                      <a:pPr algn="r" fontAlgn="b"/>
                      <a:r>
                        <a:rPr lang="en-US" sz="1400" b="0" i="0" u="none" strike="noStrike">
                          <a:solidFill>
                            <a:srgbClr val="000000"/>
                          </a:solidFill>
                          <a:effectLst/>
                          <a:latin typeface="Calibri" panose="020F0502020204030204" pitchFamily="34" charset="0"/>
                        </a:rPr>
                        <a:t>2795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1"/>
                    </a:solidFill>
                  </a:tcPr>
                </a:tc>
                <a:tc>
                  <a:txBody>
                    <a:bodyPr/>
                    <a:lstStyle/>
                    <a:p>
                      <a:pPr algn="r" fontAlgn="b"/>
                      <a:r>
                        <a:rPr lang="en-US" sz="1400" b="0" i="0" u="none" strike="noStrike">
                          <a:solidFill>
                            <a:srgbClr val="000000"/>
                          </a:solidFill>
                          <a:effectLst/>
                          <a:latin typeface="Calibri" panose="020F0502020204030204" pitchFamily="34" charset="0"/>
                        </a:rPr>
                        <a:t>3132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5617100"/>
                  </a:ext>
                </a:extLst>
              </a:tr>
              <a:tr h="389463">
                <a:tc>
                  <a:txBody>
                    <a:bodyPr/>
                    <a:lstStyle/>
                    <a:p>
                      <a:pPr algn="l" fontAlgn="b"/>
                      <a:r>
                        <a:rPr lang="en-US" sz="1400" b="0" i="0" u="none" strike="noStrike">
                          <a:solidFill>
                            <a:srgbClr val="000000"/>
                          </a:solidFill>
                          <a:effectLst/>
                          <a:latin typeface="Calibri" panose="020F0502020204030204" pitchFamily="34" charset="0"/>
                        </a:rPr>
                        <a:t>Bradford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984"/>
                    </a:solidFill>
                  </a:tcPr>
                </a:tc>
                <a:tc>
                  <a:txBody>
                    <a:bodyPr/>
                    <a:lstStyle/>
                    <a:p>
                      <a:pPr algn="r" fontAlgn="b"/>
                      <a:r>
                        <a:rPr lang="en-US" sz="1400" b="0" i="0" u="none" strike="noStrike">
                          <a:solidFill>
                            <a:srgbClr val="000000"/>
                          </a:solidFill>
                          <a:effectLst/>
                          <a:latin typeface="Calibri" panose="020F0502020204030204" pitchFamily="34" charset="0"/>
                        </a:rPr>
                        <a:t>357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83"/>
                    </a:solidFill>
                  </a:tcPr>
                </a:tc>
                <a:tc>
                  <a:txBody>
                    <a:bodyPr/>
                    <a:lstStyle/>
                    <a:p>
                      <a:pPr algn="r" fontAlgn="b"/>
                      <a:r>
                        <a:rPr lang="en-US" sz="1400" b="0" i="0" u="none" strike="noStrike">
                          <a:solidFill>
                            <a:srgbClr val="000000"/>
                          </a:solidFill>
                          <a:effectLst/>
                          <a:latin typeface="Calibri" panose="020F0502020204030204" pitchFamily="34" charset="0"/>
                        </a:rPr>
                        <a:t>2619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082"/>
                    </a:solidFill>
                  </a:tcPr>
                </a:tc>
                <a:tc>
                  <a:txBody>
                    <a:bodyPr/>
                    <a:lstStyle/>
                    <a:p>
                      <a:pPr algn="r" fontAlgn="b"/>
                      <a:r>
                        <a:rPr lang="en-US" sz="1400" b="0" i="0" u="none" strike="noStrike">
                          <a:solidFill>
                            <a:srgbClr val="000000"/>
                          </a:solidFill>
                          <a:effectLst/>
                          <a:latin typeface="Calibri" panose="020F0502020204030204" pitchFamily="34" charset="0"/>
                        </a:rPr>
                        <a:t>3006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4652164"/>
                  </a:ext>
                </a:extLst>
              </a:tr>
              <a:tr h="389463">
                <a:tc>
                  <a:txBody>
                    <a:bodyPr/>
                    <a:lstStyle/>
                    <a:p>
                      <a:pPr algn="l" fontAlgn="b"/>
                      <a:r>
                        <a:rPr lang="en-US" sz="1400" b="0" i="0" u="none" strike="noStrike">
                          <a:solidFill>
                            <a:srgbClr val="000000"/>
                          </a:solidFill>
                          <a:effectLst/>
                          <a:latin typeface="Calibri" panose="020F0502020204030204" pitchFamily="34" charset="0"/>
                        </a:rPr>
                        <a:t>Westminster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a:solidFill>
                            <a:srgbClr val="000000"/>
                          </a:solidFill>
                          <a:effectLst/>
                          <a:latin typeface="Calibri" panose="020F0502020204030204" pitchFamily="34" charset="0"/>
                        </a:rPr>
                        <a:t>387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B81"/>
                    </a:solidFill>
                  </a:tcPr>
                </a:tc>
                <a:tc>
                  <a:txBody>
                    <a:bodyPr/>
                    <a:lstStyle/>
                    <a:p>
                      <a:pPr algn="r" fontAlgn="b"/>
                      <a:r>
                        <a:rPr lang="en-US" sz="1400" b="0" i="0" u="none" strike="noStrike">
                          <a:solidFill>
                            <a:srgbClr val="000000"/>
                          </a:solidFill>
                          <a:effectLst/>
                          <a:latin typeface="Calibri" panose="020F0502020204030204" pitchFamily="34" charset="0"/>
                        </a:rPr>
                        <a:t>2235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980"/>
                    </a:solidFill>
                  </a:tcPr>
                </a:tc>
                <a:tc>
                  <a:txBody>
                    <a:bodyPr/>
                    <a:lstStyle/>
                    <a:p>
                      <a:pPr algn="r" fontAlgn="b"/>
                      <a:r>
                        <a:rPr lang="en-US" sz="1400" b="0" i="0" u="none" strike="noStrike">
                          <a:solidFill>
                            <a:srgbClr val="000000"/>
                          </a:solidFill>
                          <a:effectLst/>
                          <a:latin typeface="Calibri" panose="020F0502020204030204" pitchFamily="34" charset="0"/>
                        </a:rPr>
                        <a:t>2811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7086604"/>
                  </a:ext>
                </a:extLst>
              </a:tr>
              <a:tr h="389463">
                <a:tc>
                  <a:txBody>
                    <a:bodyPr/>
                    <a:lstStyle/>
                    <a:p>
                      <a:pPr algn="l" fontAlgn="b"/>
                      <a:r>
                        <a:rPr lang="en-US" sz="1400" b="0" i="0" u="none" strike="noStrike">
                          <a:solidFill>
                            <a:srgbClr val="000000"/>
                          </a:solidFill>
                          <a:effectLst/>
                          <a:latin typeface="Calibri" panose="020F0502020204030204" pitchFamily="34" charset="0"/>
                        </a:rPr>
                        <a:t>Sheffield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325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582"/>
                    </a:solidFill>
                  </a:tcPr>
                </a:tc>
                <a:tc>
                  <a:txBody>
                    <a:bodyPr/>
                    <a:lstStyle/>
                    <a:p>
                      <a:pPr algn="r" fontAlgn="b"/>
                      <a:r>
                        <a:rPr lang="en-US" sz="1400" b="0" i="0" u="none" strike="noStrike">
                          <a:solidFill>
                            <a:srgbClr val="000000"/>
                          </a:solidFill>
                          <a:effectLst/>
                          <a:latin typeface="Calibri" panose="020F0502020204030204" pitchFamily="34" charset="0"/>
                        </a:rPr>
                        <a:t>2409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984"/>
                    </a:solidFill>
                  </a:tcPr>
                </a:tc>
                <a:tc>
                  <a:txBody>
                    <a:bodyPr/>
                    <a:lstStyle/>
                    <a:p>
                      <a:pPr algn="r" fontAlgn="b"/>
                      <a:r>
                        <a:rPr lang="en-US" sz="1400" b="0" i="0" u="none" strike="noStrike">
                          <a:solidFill>
                            <a:srgbClr val="000000"/>
                          </a:solidFill>
                          <a:effectLst/>
                          <a:latin typeface="Calibri" panose="020F0502020204030204" pitchFamily="34" charset="0"/>
                        </a:rPr>
                        <a:t>2750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0723060"/>
                  </a:ext>
                </a:extLst>
              </a:tr>
              <a:tr h="389463">
                <a:tc>
                  <a:txBody>
                    <a:bodyPr/>
                    <a:lstStyle/>
                    <a:p>
                      <a:pPr algn="l" fontAlgn="b"/>
                      <a:r>
                        <a:rPr lang="en-US" sz="1400" b="0" i="0" u="none" strike="noStrike">
                          <a:solidFill>
                            <a:srgbClr val="000000"/>
                          </a:solidFill>
                          <a:effectLst/>
                          <a:latin typeface="Calibri" panose="020F0502020204030204" pitchFamily="34" charset="0"/>
                        </a:rPr>
                        <a:t>Liverpool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67F"/>
                    </a:solidFill>
                  </a:tcPr>
                </a:tc>
                <a:tc>
                  <a:txBody>
                    <a:bodyPr/>
                    <a:lstStyle/>
                    <a:p>
                      <a:pPr algn="r" fontAlgn="b"/>
                      <a:r>
                        <a:rPr lang="en-US" sz="1400" b="0" i="0" u="none" strike="noStrike">
                          <a:solidFill>
                            <a:srgbClr val="000000"/>
                          </a:solidFill>
                          <a:effectLst/>
                          <a:latin typeface="Calibri" panose="020F0502020204030204" pitchFamily="34" charset="0"/>
                        </a:rPr>
                        <a:t>373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082"/>
                    </a:solidFill>
                  </a:tcPr>
                </a:tc>
                <a:tc>
                  <a:txBody>
                    <a:bodyPr/>
                    <a:lstStyle/>
                    <a:p>
                      <a:pPr algn="r" fontAlgn="b"/>
                      <a:r>
                        <a:rPr lang="en-US" sz="1400" b="0" i="0" u="none" strike="noStrike">
                          <a:solidFill>
                            <a:srgbClr val="000000"/>
                          </a:solidFill>
                          <a:effectLst/>
                          <a:latin typeface="Calibri" panose="020F0502020204030204" pitchFamily="34" charset="0"/>
                        </a:rPr>
                        <a:t>2216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67F"/>
                    </a:solidFill>
                  </a:tcPr>
                </a:tc>
                <a:tc>
                  <a:txBody>
                    <a:bodyPr/>
                    <a:lstStyle/>
                    <a:p>
                      <a:pPr algn="r" fontAlgn="b"/>
                      <a:r>
                        <a:rPr lang="en-US" sz="1400" b="0" i="0" u="none" strike="noStrike">
                          <a:solidFill>
                            <a:srgbClr val="000000"/>
                          </a:solidFill>
                          <a:effectLst/>
                          <a:latin typeface="Calibri" panose="020F0502020204030204" pitchFamily="34" charset="0"/>
                        </a:rPr>
                        <a:t>2611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456749"/>
                  </a:ext>
                </a:extLst>
              </a:tr>
              <a:tr h="389463">
                <a:tc>
                  <a:txBody>
                    <a:bodyPr/>
                    <a:lstStyle/>
                    <a:p>
                      <a:pPr algn="l" fontAlgn="b"/>
                      <a:r>
                        <a:rPr lang="en-US" sz="1400" b="0" i="0" u="none" strike="noStrike">
                          <a:solidFill>
                            <a:srgbClr val="000000"/>
                          </a:solidFill>
                          <a:effectLst/>
                          <a:latin typeface="Calibri" panose="020F0502020204030204" pitchFamily="34" charset="0"/>
                        </a:rPr>
                        <a:t>Cornwall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F82"/>
                    </a:solidFill>
                  </a:tcPr>
                </a:tc>
                <a:tc>
                  <a:txBody>
                    <a:bodyPr/>
                    <a:lstStyle/>
                    <a:p>
                      <a:pPr algn="r" fontAlgn="b"/>
                      <a:r>
                        <a:rPr lang="en-US" sz="1400" b="0" i="0" u="none" strike="noStrike" dirty="0">
                          <a:solidFill>
                            <a:srgbClr val="000000"/>
                          </a:solidFill>
                          <a:effectLst/>
                          <a:latin typeface="Calibri" panose="020F0502020204030204" pitchFamily="34" charset="0"/>
                        </a:rPr>
                        <a:t>255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7CD7E"/>
                    </a:solidFill>
                  </a:tcPr>
                </a:tc>
                <a:tc>
                  <a:txBody>
                    <a:bodyPr/>
                    <a:lstStyle/>
                    <a:p>
                      <a:pPr algn="r" fontAlgn="b"/>
                      <a:r>
                        <a:rPr lang="en-US" sz="1400" b="0" i="0" u="none" strike="noStrike">
                          <a:solidFill>
                            <a:srgbClr val="000000"/>
                          </a:solidFill>
                          <a:effectLst/>
                          <a:latin typeface="Calibri" panose="020F0502020204030204" pitchFamily="34" charset="0"/>
                        </a:rPr>
                        <a:t>2308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382"/>
                    </a:solidFill>
                  </a:tcPr>
                </a:tc>
                <a:tc>
                  <a:txBody>
                    <a:bodyPr/>
                    <a:lstStyle/>
                    <a:p>
                      <a:pPr algn="r" fontAlgn="b"/>
                      <a:r>
                        <a:rPr lang="en-US" sz="1400" b="0" i="0" u="none" strike="noStrike">
                          <a:solidFill>
                            <a:srgbClr val="000000"/>
                          </a:solidFill>
                          <a:effectLst/>
                          <a:latin typeface="Calibri" panose="020F0502020204030204" pitchFamily="34" charset="0"/>
                        </a:rPr>
                        <a:t>2606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8681643"/>
                  </a:ext>
                </a:extLst>
              </a:tr>
              <a:tr h="389463">
                <a:tc>
                  <a:txBody>
                    <a:bodyPr/>
                    <a:lstStyle/>
                    <a:p>
                      <a:pPr algn="l" fontAlgn="b"/>
                      <a:r>
                        <a:rPr lang="en-US" sz="1400" b="0" i="0" u="none" strike="noStrike">
                          <a:solidFill>
                            <a:srgbClr val="000000"/>
                          </a:solidFill>
                          <a:effectLst/>
                          <a:latin typeface="Calibri" panose="020F0502020204030204" pitchFamily="34" charset="0"/>
                        </a:rPr>
                        <a:t>Barnet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C27B"/>
                    </a:solidFill>
                  </a:tcPr>
                </a:tc>
                <a:tc>
                  <a:txBody>
                    <a:bodyPr/>
                    <a:lstStyle/>
                    <a:p>
                      <a:pPr algn="r" fontAlgn="b"/>
                      <a:r>
                        <a:rPr lang="en-US" sz="1400" b="0" i="0" u="none" strike="noStrike">
                          <a:solidFill>
                            <a:srgbClr val="000000"/>
                          </a:solidFill>
                          <a:effectLst/>
                          <a:latin typeface="Calibri" panose="020F0502020204030204" pitchFamily="34" charset="0"/>
                        </a:rPr>
                        <a:t>230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9C47C"/>
                    </a:solidFill>
                  </a:tcPr>
                </a:tc>
                <a:tc>
                  <a:txBody>
                    <a:bodyPr/>
                    <a:lstStyle/>
                    <a:p>
                      <a:pPr algn="r" fontAlgn="b"/>
                      <a:r>
                        <a:rPr lang="en-US" sz="1400" b="0" i="0" u="none" strike="noStrike">
                          <a:solidFill>
                            <a:srgbClr val="000000"/>
                          </a:solidFill>
                          <a:effectLst/>
                          <a:latin typeface="Calibri" panose="020F0502020204030204" pitchFamily="34" charset="0"/>
                        </a:rPr>
                        <a:t>2055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BF7B"/>
                    </a:solidFill>
                  </a:tcPr>
                </a:tc>
                <a:tc>
                  <a:txBody>
                    <a:bodyPr/>
                    <a:lstStyle/>
                    <a:p>
                      <a:pPr algn="r" fontAlgn="b"/>
                      <a:r>
                        <a:rPr lang="en-US" sz="1400" b="0" i="0" u="none" strike="noStrike" dirty="0">
                          <a:solidFill>
                            <a:srgbClr val="000000"/>
                          </a:solidFill>
                          <a:effectLst/>
                          <a:latin typeface="Calibri" panose="020F0502020204030204" pitchFamily="34" charset="0"/>
                        </a:rPr>
                        <a:t>2302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9496157"/>
                  </a:ext>
                </a:extLst>
              </a:tr>
              <a:tr h="389463">
                <a:tc>
                  <a:txBody>
                    <a:bodyPr/>
                    <a:lstStyle/>
                    <a:p>
                      <a:pPr algn="l" fontAlgn="b"/>
                      <a:r>
                        <a:rPr lang="en-US" sz="1400" b="0" i="0" u="none" strike="noStrike">
                          <a:solidFill>
                            <a:srgbClr val="000000"/>
                          </a:solidFill>
                          <a:effectLst/>
                          <a:latin typeface="Calibri" panose="020F0502020204030204" pitchFamily="34" charset="0"/>
                        </a:rPr>
                        <a:t>City of Bristol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C27B"/>
                    </a:solidFill>
                  </a:tcPr>
                </a:tc>
                <a:tc>
                  <a:txBody>
                    <a:bodyPr/>
                    <a:lstStyle/>
                    <a:p>
                      <a:pPr algn="r" fontAlgn="b"/>
                      <a:r>
                        <a:rPr lang="en-US" sz="1400" b="0" i="0" u="none" strike="noStrike">
                          <a:solidFill>
                            <a:srgbClr val="000000"/>
                          </a:solidFill>
                          <a:effectLst/>
                          <a:latin typeface="Calibri" panose="020F0502020204030204" pitchFamily="34" charset="0"/>
                        </a:rPr>
                        <a:t>211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2042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dirty="0">
                          <a:solidFill>
                            <a:srgbClr val="000000"/>
                          </a:solidFill>
                          <a:effectLst/>
                          <a:latin typeface="Calibri" panose="020F0502020204030204" pitchFamily="34" charset="0"/>
                        </a:rPr>
                        <a:t>2270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8169454"/>
                  </a:ext>
                </a:extLst>
              </a:tr>
            </a:tbl>
          </a:graphicData>
        </a:graphic>
      </p:graphicFrame>
      <p:graphicFrame>
        <p:nvGraphicFramePr>
          <p:cNvPr id="4" name="Content Placeholder 7">
            <a:extLst>
              <a:ext uri="{FF2B5EF4-FFF2-40B4-BE49-F238E27FC236}">
                <a16:creationId xmlns:a16="http://schemas.microsoft.com/office/drawing/2014/main" id="{EC5A7D8E-E970-452F-9CC8-90FC201816C9}"/>
              </a:ext>
            </a:extLst>
          </p:cNvPr>
          <p:cNvGraphicFramePr>
            <a:graphicFrameLocks/>
          </p:cNvGraphicFramePr>
          <p:nvPr>
            <p:extLst>
              <p:ext uri="{D42A27DB-BD31-4B8C-83A1-F6EECF244321}">
                <p14:modId xmlns:p14="http://schemas.microsoft.com/office/powerpoint/2010/main" val="2502018302"/>
              </p:ext>
            </p:extLst>
          </p:nvPr>
        </p:nvGraphicFramePr>
        <p:xfrm>
          <a:off x="6391977" y="1128553"/>
          <a:ext cx="5620351" cy="3539702"/>
        </p:xfrm>
        <a:graphic>
          <a:graphicData uri="http://schemas.openxmlformats.org/drawingml/2006/table">
            <a:tbl>
              <a:tblPr/>
              <a:tblGrid>
                <a:gridCol w="1794290">
                  <a:extLst>
                    <a:ext uri="{9D8B030D-6E8A-4147-A177-3AD203B41FA5}">
                      <a16:colId xmlns:a16="http://schemas.microsoft.com/office/drawing/2014/main" val="3245280432"/>
                    </a:ext>
                  </a:extLst>
                </a:gridCol>
                <a:gridCol w="976305">
                  <a:extLst>
                    <a:ext uri="{9D8B030D-6E8A-4147-A177-3AD203B41FA5}">
                      <a16:colId xmlns:a16="http://schemas.microsoft.com/office/drawing/2014/main" val="1881997710"/>
                    </a:ext>
                  </a:extLst>
                </a:gridCol>
                <a:gridCol w="1095045">
                  <a:extLst>
                    <a:ext uri="{9D8B030D-6E8A-4147-A177-3AD203B41FA5}">
                      <a16:colId xmlns:a16="http://schemas.microsoft.com/office/drawing/2014/main" val="3463614739"/>
                    </a:ext>
                  </a:extLst>
                </a:gridCol>
                <a:gridCol w="686053">
                  <a:extLst>
                    <a:ext uri="{9D8B030D-6E8A-4147-A177-3AD203B41FA5}">
                      <a16:colId xmlns:a16="http://schemas.microsoft.com/office/drawing/2014/main" val="4107786523"/>
                    </a:ext>
                  </a:extLst>
                </a:gridCol>
                <a:gridCol w="1068658">
                  <a:extLst>
                    <a:ext uri="{9D8B030D-6E8A-4147-A177-3AD203B41FA5}">
                      <a16:colId xmlns:a16="http://schemas.microsoft.com/office/drawing/2014/main" val="983585354"/>
                    </a:ext>
                  </a:extLst>
                </a:gridCol>
              </a:tblGrid>
              <a:tr h="513721">
                <a:tc>
                  <a:txBody>
                    <a:bodyPr/>
                    <a:lstStyle/>
                    <a:p>
                      <a:pPr algn="l" fontAlgn="b"/>
                      <a:r>
                        <a:rPr lang="en-US" sz="1600" b="1" i="0" u="none" strike="noStrike">
                          <a:solidFill>
                            <a:srgbClr val="000000"/>
                          </a:solidFill>
                          <a:effectLst/>
                          <a:latin typeface="Calibri" panose="020F0502020204030204" pitchFamily="34" charset="0"/>
                        </a:rPr>
                        <a:t>Light Condition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Fatal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Serious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Slight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dirty="0">
                          <a:solidFill>
                            <a:srgbClr val="000000"/>
                          </a:solidFill>
                          <a:effectLst/>
                          <a:latin typeface="Calibri" panose="020F0502020204030204" pitchFamily="34" charset="0"/>
                        </a:rPr>
                        <a:t>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2812453"/>
                  </a:ext>
                </a:extLst>
              </a:tr>
              <a:tr h="513721">
                <a:tc>
                  <a:txBody>
                    <a:bodyPr/>
                    <a:lstStyle/>
                    <a:p>
                      <a:pPr algn="l" fontAlgn="b"/>
                      <a:r>
                        <a:rPr lang="en-US" sz="1400" b="0" i="0" u="none" strike="noStrike">
                          <a:solidFill>
                            <a:srgbClr val="000000"/>
                          </a:solidFill>
                          <a:effectLst/>
                          <a:latin typeface="Calibri" panose="020F0502020204030204" pitchFamily="34" charset="0"/>
                        </a:rPr>
                        <a:t>Daylight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2898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a:solidFill>
                            <a:srgbClr val="000000"/>
                          </a:solidFill>
                          <a:effectLst/>
                          <a:latin typeface="Calibri" panose="020F0502020204030204" pitchFamily="34" charset="0"/>
                        </a:rPr>
                        <a:t>28589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a:solidFill>
                            <a:srgbClr val="000000"/>
                          </a:solidFill>
                          <a:effectLst/>
                          <a:latin typeface="Calibri" panose="020F0502020204030204" pitchFamily="34" charset="0"/>
                        </a:rPr>
                        <a:t>195798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n-US" sz="1400" b="0" i="0" u="none" strike="noStrike">
                          <a:solidFill>
                            <a:srgbClr val="000000"/>
                          </a:solidFill>
                          <a:effectLst/>
                          <a:latin typeface="Calibri" panose="020F0502020204030204" pitchFamily="34" charset="0"/>
                        </a:rPr>
                        <a:t>227285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5915593"/>
                  </a:ext>
                </a:extLst>
              </a:tr>
              <a:tr h="513721">
                <a:tc>
                  <a:txBody>
                    <a:bodyPr/>
                    <a:lstStyle/>
                    <a:p>
                      <a:pPr algn="l" fontAlgn="b"/>
                      <a:r>
                        <a:rPr lang="en-US" sz="1400" b="0" i="0" u="none" strike="noStrike" dirty="0">
                          <a:solidFill>
                            <a:srgbClr val="000000"/>
                          </a:solidFill>
                          <a:effectLst/>
                          <a:latin typeface="Calibri" panose="020F0502020204030204" pitchFamily="34" charset="0"/>
                        </a:rPr>
                        <a:t>Darkness - lights lit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1252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CE7F"/>
                    </a:solidFill>
                  </a:tcPr>
                </a:tc>
                <a:tc>
                  <a:txBody>
                    <a:bodyPr/>
                    <a:lstStyle/>
                    <a:p>
                      <a:pPr algn="r" fontAlgn="b"/>
                      <a:r>
                        <a:rPr lang="en-US" sz="1400" b="0" i="0" u="none" strike="noStrike">
                          <a:solidFill>
                            <a:srgbClr val="000000"/>
                          </a:solidFill>
                          <a:effectLst/>
                          <a:latin typeface="Calibri" panose="020F0502020204030204" pitchFamily="34" charset="0"/>
                        </a:rPr>
                        <a:t>8470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07F"/>
                    </a:solidFill>
                  </a:tcPr>
                </a:tc>
                <a:tc>
                  <a:txBody>
                    <a:bodyPr/>
                    <a:lstStyle/>
                    <a:p>
                      <a:pPr algn="r" fontAlgn="b"/>
                      <a:r>
                        <a:rPr lang="en-US" sz="1400" b="0" i="0" u="none" strike="noStrike">
                          <a:solidFill>
                            <a:srgbClr val="000000"/>
                          </a:solidFill>
                          <a:effectLst/>
                          <a:latin typeface="Calibri" panose="020F0502020204030204" pitchFamily="34" charset="0"/>
                        </a:rPr>
                        <a:t>50371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17F"/>
                    </a:solidFill>
                  </a:tcPr>
                </a:tc>
                <a:tc>
                  <a:txBody>
                    <a:bodyPr/>
                    <a:lstStyle/>
                    <a:p>
                      <a:pPr algn="r" fontAlgn="b"/>
                      <a:r>
                        <a:rPr lang="en-US" sz="1400" b="0" i="0" u="none" strike="noStrike">
                          <a:solidFill>
                            <a:srgbClr val="000000"/>
                          </a:solidFill>
                          <a:effectLst/>
                          <a:latin typeface="Calibri" panose="020F0502020204030204" pitchFamily="34" charset="0"/>
                        </a:rPr>
                        <a:t>60093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0311906"/>
                  </a:ext>
                </a:extLst>
              </a:tr>
              <a:tr h="513721">
                <a:tc>
                  <a:txBody>
                    <a:bodyPr/>
                    <a:lstStyle/>
                    <a:p>
                      <a:pPr algn="l" fontAlgn="b"/>
                      <a:r>
                        <a:rPr lang="en-US" sz="1400" b="0" i="0" u="none" strike="noStrike">
                          <a:solidFill>
                            <a:srgbClr val="000000"/>
                          </a:solidFill>
                          <a:effectLst/>
                          <a:latin typeface="Calibri" panose="020F0502020204030204" pitchFamily="34" charset="0"/>
                        </a:rPr>
                        <a:t>Darkness - no lighting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n-US" sz="1400" b="0" i="0" u="none" strike="noStrike">
                          <a:solidFill>
                            <a:srgbClr val="000000"/>
                          </a:solidFill>
                          <a:effectLst/>
                          <a:latin typeface="Calibri" panose="020F0502020204030204" pitchFamily="34" charset="0"/>
                        </a:rPr>
                        <a:t>3057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n-US" sz="1400" b="0" i="0" u="none" strike="noStrike">
                          <a:solidFill>
                            <a:srgbClr val="000000"/>
                          </a:solidFill>
                          <a:effectLst/>
                          <a:latin typeface="Calibri" panose="020F0502020204030204" pitchFamily="34" charset="0"/>
                        </a:rPr>
                        <a:t>12697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n-US" sz="1400" b="0" i="0" u="none" strike="noStrike">
                          <a:solidFill>
                            <a:srgbClr val="000000"/>
                          </a:solidFill>
                          <a:effectLst/>
                          <a:latin typeface="Calibri" panose="020F0502020204030204" pitchFamily="34" charset="0"/>
                        </a:rPr>
                        <a:t>16528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601227"/>
                  </a:ext>
                </a:extLst>
              </a:tr>
              <a:tr h="513721">
                <a:tc>
                  <a:txBody>
                    <a:bodyPr/>
                    <a:lstStyle/>
                    <a:p>
                      <a:pPr algn="l" fontAlgn="b"/>
                      <a:r>
                        <a:rPr lang="en-US" sz="1400" b="0" i="0" u="none" strike="noStrike">
                          <a:solidFill>
                            <a:srgbClr val="000000"/>
                          </a:solidFill>
                          <a:effectLst/>
                          <a:latin typeface="Calibri" panose="020F0502020204030204" pitchFamily="34" charset="0"/>
                        </a:rPr>
                        <a:t>Darkness - lights unlit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145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978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n-US" sz="1400" b="0" i="0" u="none" strike="noStrike">
                          <a:solidFill>
                            <a:srgbClr val="000000"/>
                          </a:solidFill>
                          <a:effectLst/>
                          <a:latin typeface="Calibri" panose="020F0502020204030204" pitchFamily="34" charset="0"/>
                        </a:rPr>
                        <a:t>1142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6965003"/>
                  </a:ext>
                </a:extLst>
              </a:tr>
              <a:tr h="971097">
                <a:tc>
                  <a:txBody>
                    <a:bodyPr/>
                    <a:lstStyle/>
                    <a:p>
                      <a:pPr algn="l" fontAlgn="b"/>
                      <a:r>
                        <a:rPr lang="en-US" sz="1400" b="0" i="0" u="none" strike="noStrike" dirty="0">
                          <a:solidFill>
                            <a:srgbClr val="000000"/>
                          </a:solidFill>
                          <a:effectLst/>
                          <a:latin typeface="Calibri" panose="020F0502020204030204" pitchFamily="34" charset="0"/>
                        </a:rPr>
                        <a:t>Darkness - lighting unknown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BF7B"/>
                    </a:solidFill>
                  </a:tcPr>
                </a:tc>
                <a:tc>
                  <a:txBody>
                    <a:bodyPr/>
                    <a:lstStyle/>
                    <a:p>
                      <a:pPr algn="r" fontAlgn="b"/>
                      <a:r>
                        <a:rPr lang="en-US" sz="1400" b="0" i="0" u="none" strike="noStrike">
                          <a:solidFill>
                            <a:srgbClr val="000000"/>
                          </a:solidFill>
                          <a:effectLst/>
                          <a:latin typeface="Calibri" panose="020F0502020204030204" pitchFamily="34" charset="0"/>
                        </a:rPr>
                        <a:t>353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EC17B"/>
                    </a:solidFill>
                  </a:tcPr>
                </a:tc>
                <a:tc>
                  <a:txBody>
                    <a:bodyPr/>
                    <a:lstStyle/>
                    <a:p>
                      <a:pPr algn="r" fontAlgn="b"/>
                      <a:r>
                        <a:rPr lang="en-US" sz="1400" b="0" i="0" u="none" strike="noStrike">
                          <a:solidFill>
                            <a:srgbClr val="000000"/>
                          </a:solidFill>
                          <a:effectLst/>
                          <a:latin typeface="Calibri" panose="020F0502020204030204" pitchFamily="34" charset="0"/>
                        </a:rPr>
                        <a:t>2520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7C37C"/>
                    </a:solidFill>
                  </a:tcPr>
                </a:tc>
                <a:tc>
                  <a:txBody>
                    <a:bodyPr/>
                    <a:lstStyle/>
                    <a:p>
                      <a:pPr algn="r" fontAlgn="b"/>
                      <a:r>
                        <a:rPr lang="en-US" sz="1400" b="0" i="0" u="none" strike="noStrike" dirty="0">
                          <a:solidFill>
                            <a:srgbClr val="000000"/>
                          </a:solidFill>
                          <a:effectLst/>
                          <a:latin typeface="Calibri" panose="020F0502020204030204" pitchFamily="34" charset="0"/>
                        </a:rPr>
                        <a:t>2924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811685"/>
                  </a:ext>
                </a:extLst>
              </a:tr>
            </a:tbl>
          </a:graphicData>
        </a:graphic>
      </p:graphicFrame>
    </p:spTree>
    <p:extLst>
      <p:ext uri="{BB962C8B-B14F-4D97-AF65-F5344CB8AC3E}">
        <p14:creationId xmlns:p14="http://schemas.microsoft.com/office/powerpoint/2010/main" val="4051240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A8C73-B34F-4D62-AFDF-4C9FCBE6285B}"/>
              </a:ext>
            </a:extLst>
          </p:cNvPr>
          <p:cNvSpPr>
            <a:spLocks noGrp="1"/>
          </p:cNvSpPr>
          <p:nvPr>
            <p:ph type="title"/>
          </p:nvPr>
        </p:nvSpPr>
        <p:spPr>
          <a:xfrm>
            <a:off x="838200" y="336251"/>
            <a:ext cx="10515600" cy="712904"/>
          </a:xfrm>
        </p:spPr>
        <p:txBody>
          <a:bodyPr>
            <a:normAutofit/>
          </a:bodyPr>
          <a:lstStyle/>
          <a:p>
            <a:pPr algn="ctr"/>
            <a:r>
              <a:rPr lang="en-US" sz="3200" b="1" dirty="0"/>
              <a:t>RECOMMENDATIONS FOR ROAD SAFETY IMPROVEMENTS</a:t>
            </a:r>
          </a:p>
        </p:txBody>
      </p:sp>
      <p:sp>
        <p:nvSpPr>
          <p:cNvPr id="3" name="Content Placeholder 2">
            <a:extLst>
              <a:ext uri="{FF2B5EF4-FFF2-40B4-BE49-F238E27FC236}">
                <a16:creationId xmlns:a16="http://schemas.microsoft.com/office/drawing/2014/main" id="{6ABA9FD3-CB3B-417F-9FBA-A721286CA665}"/>
              </a:ext>
            </a:extLst>
          </p:cNvPr>
          <p:cNvSpPr>
            <a:spLocks noGrp="1"/>
          </p:cNvSpPr>
          <p:nvPr>
            <p:ph idx="1"/>
          </p:nvPr>
        </p:nvSpPr>
        <p:spPr>
          <a:xfrm>
            <a:off x="838200" y="1155032"/>
            <a:ext cx="10515600" cy="5188016"/>
          </a:xfrm>
        </p:spPr>
        <p:txBody>
          <a:bodyPr>
            <a:normAutofit fontScale="47500" lnSpcReduction="20000"/>
          </a:bodyPr>
          <a:lstStyle/>
          <a:p>
            <a:pPr marL="0" indent="0">
              <a:spcBef>
                <a:spcPts val="0"/>
              </a:spcBef>
              <a:buNone/>
            </a:pPr>
            <a:endParaRPr lang="en-US" sz="3800" b="1"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0" indent="0">
              <a:spcBef>
                <a:spcPts val="0"/>
              </a:spcBef>
              <a:buNone/>
            </a:pPr>
            <a:r>
              <a:rPr lang="en-US" sz="3800" b="1"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1. Target High-Risk Hotspots Identified from Heat Maps</a:t>
            </a:r>
          </a:p>
          <a:p>
            <a:pPr marL="0" marR="0" indent="0">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Local authorities should prioritize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road safety interventions in geographic accident hotspots</a:t>
            </a: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identified through the heat map analysis.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The latitude and longitude analysis revealed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clusters of accidents occurring repeatedly in specific areas</a:t>
            </a: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These hotspots indicate locations where environmental or infrastructure factors are contributing to frequent accidents.</a:t>
            </a:r>
          </a:p>
          <a:p>
            <a:pPr marL="0" marR="0" indent="0">
              <a:spcBef>
                <a:spcPts val="0"/>
              </a:spcBef>
              <a:spcAft>
                <a:spcPts val="0"/>
              </a:spcAft>
              <a:buNone/>
            </a:pP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33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33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Install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traffic cameras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Add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speed control measures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road markings and signage</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Implement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traffic calming measures</a:t>
            </a: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such as speed bumps</a:t>
            </a:r>
            <a:r>
              <a:rPr lang="en-US" sz="3300" dirty="0">
                <a:solidFill>
                  <a:srgbClr val="0D0D0D"/>
                </a:solidFill>
                <a:latin typeface="Calibri" panose="020F0502020204030204" pitchFamily="34" charset="0"/>
                <a:ea typeface="Calibri" panose="020F0502020204030204" pitchFamily="34" charset="0"/>
                <a:cs typeface="Calibri" panose="020F0502020204030204" pitchFamily="34" charset="0"/>
              </a:rPr>
              <a:t>.</a:t>
            </a:r>
            <a:endParaRPr lang="en-US" sz="33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Targeted interventions in hotspots can significantly reduce accident frequency and improve overall road safety.</a:t>
            </a:r>
          </a:p>
          <a:p>
            <a:pPr marL="0" marR="0" indent="0" algn="l">
              <a:spcBef>
                <a:spcPts val="0"/>
              </a:spcBef>
              <a:spcAft>
                <a:spcPts val="0"/>
              </a:spcAft>
              <a:buNone/>
            </a:pPr>
            <a:endParaRPr lang="en-US" sz="3300"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3800" b="1" dirty="0">
                <a:solidFill>
                  <a:srgbClr val="0D0D0D"/>
                </a:solidFill>
                <a:latin typeface="Calibri" panose="020F0502020204030204" pitchFamily="34" charset="0"/>
                <a:ea typeface="Calibri" panose="020F0502020204030204" pitchFamily="34" charset="0"/>
                <a:cs typeface="Calibri" panose="020F0502020204030204" pitchFamily="34" charset="0"/>
              </a:rPr>
              <a:t>2</a:t>
            </a:r>
            <a:r>
              <a:rPr lang="en-US" sz="3800" dirty="0">
                <a:solidFill>
                  <a:srgbClr val="0D0D0D"/>
                </a:solidFill>
                <a:latin typeface="Calibri" panose="020F0502020204030204" pitchFamily="34" charset="0"/>
                <a:ea typeface="Calibri" panose="020F0502020204030204" pitchFamily="34" charset="0"/>
                <a:cs typeface="Calibri" panose="020F0502020204030204" pitchFamily="34" charset="0"/>
              </a:rPr>
              <a:t>. </a:t>
            </a:r>
            <a:r>
              <a:rPr lang="en-US" sz="38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Lighting in High-Risk Nighttime Areas</a:t>
            </a:r>
          </a:p>
          <a:p>
            <a:pPr marL="0" marR="0" indent="0">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Increase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street lighting and visibility infrastructure</a:t>
            </a: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in areas where accidents occur during darkness.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Although most accidents occur during daylight due to higher traffic volumes, the analysis showed that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nighttime accidents tend to have higher severity levels</a:t>
            </a: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Limited visibility increases the likelihood of serious or fatal accidents.</a:t>
            </a:r>
          </a:p>
          <a:p>
            <a:pPr marL="0" marR="0" indent="0" algn="l">
              <a:spcBef>
                <a:spcPts val="0"/>
              </a:spcBef>
              <a:spcAft>
                <a:spcPts val="0"/>
              </a:spcAft>
              <a:buNone/>
            </a:pP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33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33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Install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additional street lights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reflective road signs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Use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reflective lane markings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Add </a:t>
            </a:r>
            <a:r>
              <a:rPr lang="en-US" sz="33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illuminated pedestrian crossings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33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Improved visibility will help drivers detect hazards earlier, reducing severe nighttime accidents.</a:t>
            </a:r>
            <a:endParaRPr lang="en-US" sz="33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endParaRPr lang="en-US" sz="1800"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342900" marR="0" indent="-342900" algn="l">
              <a:spcBef>
                <a:spcPts val="0"/>
              </a:spcBef>
              <a:spcAft>
                <a:spcPts val="0"/>
              </a:spcAft>
              <a:buFont typeface="+mj-lt"/>
              <a:buAutoNum type="arabicPeriod"/>
            </a:pP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4112916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E4256-E7EF-4A78-90C7-B1A4D08AFE58}"/>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5D6C601-442A-4825-B389-A5CC4420319E}"/>
              </a:ext>
            </a:extLst>
          </p:cNvPr>
          <p:cNvSpPr>
            <a:spLocks noGrp="1"/>
          </p:cNvSpPr>
          <p:nvPr>
            <p:ph idx="1"/>
          </p:nvPr>
        </p:nvSpPr>
        <p:spPr>
          <a:xfrm>
            <a:off x="654518" y="1174280"/>
            <a:ext cx="10699281" cy="5178393"/>
          </a:xfrm>
        </p:spPr>
        <p:txBody>
          <a:bodyPr>
            <a:normAutofit fontScale="92500" lnSpcReduction="20000"/>
          </a:bodyPr>
          <a:lstStyle/>
          <a:p>
            <a:pPr marL="0" marR="0" indent="0">
              <a:lnSpc>
                <a:spcPct val="107000"/>
              </a:lnSpc>
              <a:spcBef>
                <a:spcPts val="0"/>
              </a:spcBef>
              <a:spcAft>
                <a:spcPts val="0"/>
              </a:spcAft>
              <a:buNone/>
            </a:pPr>
            <a:r>
              <a:rPr lang="en-US" sz="22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3. Strengthen Safety Measures on High-Speed Roads</a:t>
            </a: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Implement stricter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speed management policies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on roads with speed limits of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60–70 mph</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where accident severity tends to be higher. While most accidents occur in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30 mph zones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accidents on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higher-speed roads often result in more severe injuries or fatalities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This highlights the relationship between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speed and accident severity</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Install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speed cameras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Introduce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dynamic speed limits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Increase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police enforcement</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road barriers and safety design</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Reducing speeds in high-risk areas can significantly decrease fatal and serious accident outcomes.</a:t>
            </a:r>
          </a:p>
          <a:p>
            <a:pPr marL="0" marR="0" indent="0">
              <a:spcBef>
                <a:spcPts val="0"/>
              </a:spcBef>
              <a:spcAft>
                <a:spcPts val="0"/>
              </a:spcAft>
              <a:buNone/>
            </a:pPr>
            <a:endParaRPr lang="en-US" sz="2000"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2200" b="1" dirty="0">
                <a:solidFill>
                  <a:srgbClr val="0D0D0D"/>
                </a:solidFill>
                <a:latin typeface="Calibri" panose="020F0502020204030204" pitchFamily="34" charset="0"/>
                <a:ea typeface="Calibri" panose="020F0502020204030204" pitchFamily="34" charset="0"/>
                <a:cs typeface="Calibri" panose="020F0502020204030204" pitchFamily="34" charset="0"/>
              </a:rPr>
              <a:t>4. </a:t>
            </a:r>
            <a:r>
              <a:rPr lang="en-US" sz="22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Safety at Uncontrolled Junctions</a:t>
            </a:r>
            <a:endParaRPr lang="en-US" sz="2200" b="1" kern="0" dirty="0">
              <a:solidFill>
                <a:srgbClr val="2F5496"/>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Upgrade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uncontrolled or give-way junctions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with additional traffic control systems.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The junction control analysis showed that the highest number of accidents occurred at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uncontrolled intersections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Without clear right-of-way control, drivers may misjudge traffic flow.</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20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Install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traffic lights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Add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stop signs or yield signs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junction visibility</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Redesign complex intersections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Better traffic control will reduce collision risk and improve traffic flow safety.</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5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3504763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5D96F-42BD-4C23-A2DD-9F510BF88A03}"/>
              </a:ext>
            </a:extLst>
          </p:cNvPr>
          <p:cNvSpPr>
            <a:spLocks noGrp="1"/>
          </p:cNvSpPr>
          <p:nvPr>
            <p:ph type="title"/>
          </p:nvPr>
        </p:nvSpPr>
        <p:spPr>
          <a:xfrm>
            <a:off x="838200" y="365125"/>
            <a:ext cx="10515600" cy="5492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9035A06-1D35-4219-879D-CA90668EC2C3}"/>
              </a:ext>
            </a:extLst>
          </p:cNvPr>
          <p:cNvSpPr>
            <a:spLocks noGrp="1"/>
          </p:cNvSpPr>
          <p:nvPr>
            <p:ph idx="1"/>
          </p:nvPr>
        </p:nvSpPr>
        <p:spPr>
          <a:xfrm>
            <a:off x="731520" y="1183907"/>
            <a:ext cx="10622280" cy="5308968"/>
          </a:xfrm>
        </p:spPr>
        <p:txBody>
          <a:bodyPr>
            <a:normAutofit fontScale="92500" lnSpcReduction="10000"/>
          </a:bodyPr>
          <a:lstStyle/>
          <a:p>
            <a:pPr marL="0" marR="0" indent="0">
              <a:spcBef>
                <a:spcPts val="0"/>
              </a:spcBef>
              <a:spcAft>
                <a:spcPts val="0"/>
              </a:spcAft>
              <a:buNone/>
            </a:pPr>
            <a:r>
              <a:rPr lang="en-US" sz="22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5. Improve Safety on Single Carriageways</a:t>
            </a:r>
            <a:endParaRPr lang="en-US" sz="2200" b="1" kern="0" dirty="0">
              <a:solidFill>
                <a:srgbClr val="2F5496"/>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2000"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Introduce additional safety measures on single carriageway roads, which recorded the highest accident frequency. Single carriageways are the most common road type and therefore experience the highest accident counts. However, limited separation between opposing traffic increases collision risk.</a:t>
            </a:r>
            <a:endParaRPr lang="en-US" sz="2000" kern="0" dirty="0">
              <a:solidFill>
                <a:srgbClr val="2F5496"/>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Add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central barriers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Introduce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overtaking lanes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road signage</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Implement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speed management zones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Improved road design can reduce head-on collisions and enhance driver’s safety.</a:t>
            </a:r>
          </a:p>
          <a:p>
            <a:pPr marL="0" marR="0" indent="0">
              <a:spcBef>
                <a:spcPts val="0"/>
              </a:spcBef>
              <a:spcAft>
                <a:spcPts val="0"/>
              </a:spcAft>
              <a:buNone/>
            </a:pPr>
            <a:endParaRPr lang="en-US" sz="2200"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200" b="1" kern="0" dirty="0">
                <a:solidFill>
                  <a:srgbClr val="0D0D0D"/>
                </a:solidFill>
                <a:latin typeface="Calibri" panose="020F0502020204030204" pitchFamily="34" charset="0"/>
                <a:ea typeface="Calibri" panose="020F0502020204030204" pitchFamily="34" charset="0"/>
                <a:cs typeface="Calibri" panose="020F0502020204030204" pitchFamily="34" charset="0"/>
              </a:rPr>
              <a:t>6. </a:t>
            </a:r>
            <a:r>
              <a:rPr lang="en-US" sz="22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Strengthen Driver Awareness Programs</a:t>
            </a:r>
            <a:endParaRPr lang="en-US" sz="2200" b="1" kern="0" dirty="0">
              <a:solidFill>
                <a:srgbClr val="2F5496"/>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Implement </a:t>
            </a:r>
            <a:r>
              <a:rPr lang="en-US" sz="20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public awareness campaigns</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focused on risk factors identified in the analysis. </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Several behavioral factors may contribute to accidents, including speeding, distracted driving</a:t>
            </a:r>
            <a:r>
              <a:rPr lang="en-US" sz="2000" dirty="0">
                <a:latin typeface="Calibri" panose="020F0502020204030204" pitchFamily="34" charset="0"/>
                <a:ea typeface="Calibri" panose="020F0502020204030204" pitchFamily="34" charset="0"/>
                <a:cs typeface="Calibri" panose="020F0502020204030204" pitchFamily="34" charset="0"/>
              </a:rPr>
              <a:t>, p</a:t>
            </a: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oor weather driving habits, and night driving risks.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l">
              <a:spcBef>
                <a:spcPts val="0"/>
              </a:spcBef>
              <a:spcAft>
                <a:spcPts val="0"/>
              </a:spcAft>
              <a:buNone/>
            </a:pPr>
            <a:r>
              <a:rPr lang="en-US" sz="20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Driver education campaigns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Public safety advertisements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Defensive driving programs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School and community awareness initiatives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0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Better driver awareness can reduce risky behavior and improve overall road safety.</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endParaRPr lang="en-US" sz="15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600" b="1" dirty="0"/>
          </a:p>
        </p:txBody>
      </p:sp>
    </p:spTree>
    <p:extLst>
      <p:ext uri="{BB962C8B-B14F-4D97-AF65-F5344CB8AC3E}">
        <p14:creationId xmlns:p14="http://schemas.microsoft.com/office/powerpoint/2010/main" val="3268918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828F57-333C-470B-B5BB-3F1AE71126B2}"/>
              </a:ext>
            </a:extLst>
          </p:cNvPr>
          <p:cNvSpPr>
            <a:spLocks noGrp="1"/>
          </p:cNvSpPr>
          <p:nvPr>
            <p:ph idx="1"/>
          </p:nvPr>
        </p:nvSpPr>
        <p:spPr>
          <a:xfrm>
            <a:off x="838200" y="1212783"/>
            <a:ext cx="10515600" cy="5130265"/>
          </a:xfrm>
        </p:spPr>
        <p:txBody>
          <a:bodyPr>
            <a:normAutofit fontScale="92500" lnSpcReduction="20000"/>
          </a:bodyPr>
          <a:lstStyle/>
          <a:p>
            <a:pPr marL="0" marR="0" indent="0">
              <a:lnSpc>
                <a:spcPct val="107000"/>
              </a:lnSpc>
              <a:spcBef>
                <a:spcPts val="0"/>
              </a:spcBef>
              <a:spcAft>
                <a:spcPts val="0"/>
              </a:spcAft>
              <a:buNone/>
            </a:pPr>
            <a:r>
              <a:rPr lang="en-US" sz="2400" b="1" kern="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7. Use Data-Driven Road Safety Planning</a:t>
            </a:r>
            <a:endParaRPr lang="en-US" sz="2400" b="1" kern="0" dirty="0">
              <a:solidFill>
                <a:srgbClr val="2F5496"/>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Authorities should adopt </a:t>
            </a:r>
            <a:r>
              <a:rPr lang="en-US" sz="19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data-driven road safety management systems</a:t>
            </a: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using accident datasets. This analysis demonstrates that road accident data can reveal patterns related to: Geography, Road type, Environmental conditions, and Infrastructure. Using these insights can guide more effective policy decisions.</a:t>
            </a:r>
            <a:endParaRPr lang="en-US" sz="19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19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Possible Actions</a:t>
            </a:r>
            <a:endParaRPr lang="en-US" sz="19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Regular accident data monitoring</a:t>
            </a:r>
            <a:endParaRPr lang="en-US" sz="19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Predictive risk analysis</a:t>
            </a:r>
            <a:endParaRPr lang="en-US" sz="19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Geographic safety mapping</a:t>
            </a:r>
            <a:endParaRPr lang="en-US" sz="19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Smart traffic management systems</a:t>
            </a:r>
            <a:endParaRPr lang="en-US" sz="1900"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Evidence-based planning leads to </a:t>
            </a:r>
            <a:r>
              <a:rPr lang="en-US" sz="1900" b="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more efficient allocation of resources and more effective safety interventions</a:t>
            </a:r>
            <a:r>
              <a:rPr lang="en-US" sz="19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t>
            </a:r>
            <a:endParaRPr lang="en-US" sz="1900" dirty="0">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0"/>
              </a:spcAft>
              <a:buNone/>
            </a:pPr>
            <a:r>
              <a:rPr lang="en-US" sz="2200" b="1"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8. Road Safety Interventions During High-risk Time Periods</a:t>
            </a:r>
            <a:endParaRPr lang="en-US" sz="22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1900" dirty="0">
                <a:effectLst/>
                <a:latin typeface="Calibri" panose="020F0502020204030204" pitchFamily="34" charset="0"/>
                <a:ea typeface="Calibri" panose="020F0502020204030204" pitchFamily="34" charset="0"/>
                <a:cs typeface="Calibri" panose="020F0502020204030204" pitchFamily="34" charset="0"/>
              </a:rPr>
              <a:t>The time-based analysis indicates that road accidents are closely linked to daily traffic patterns and commuting behavior. The highest accident frequencies occur during the Afternoon and Evening periods, when traffic congestion is greatest. Improve traffic management during afternoon peak hours to reduce congestion and accident risk. These measures can help reduce accident frequency by addressing the time periods when accident risk is highest.</a:t>
            </a:r>
          </a:p>
          <a:p>
            <a:pPr marL="0" marR="0" indent="0">
              <a:lnSpc>
                <a:spcPct val="107000"/>
              </a:lnSpc>
              <a:spcBef>
                <a:spcPts val="0"/>
              </a:spcBef>
              <a:spcAft>
                <a:spcPts val="0"/>
              </a:spcAft>
              <a:buNone/>
            </a:pPr>
            <a:r>
              <a:rPr lang="en-US" sz="1900" b="1" dirty="0">
                <a:latin typeface="Calibri" panose="020F0502020204030204" pitchFamily="34" charset="0"/>
                <a:ea typeface="Calibri" panose="020F0502020204030204" pitchFamily="34" charset="0"/>
                <a:cs typeface="Calibri" panose="020F0502020204030204" pitchFamily="34" charset="0"/>
              </a:rPr>
              <a:t>Possible Actions</a:t>
            </a:r>
            <a:endParaRPr lang="en-US" sz="19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900" dirty="0">
                <a:effectLst/>
                <a:latin typeface="Calibri" panose="020F0502020204030204" pitchFamily="34" charset="0"/>
                <a:ea typeface="Calibri" panose="020F0502020204030204" pitchFamily="34" charset="0"/>
                <a:cs typeface="Calibri" panose="020F0502020204030204" pitchFamily="34" charset="0"/>
              </a:rPr>
              <a:t>Increase traffic enforcement during evening periods to discourage speeding and unsafe driving.</a:t>
            </a: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900" dirty="0">
                <a:effectLst/>
                <a:latin typeface="Calibri" panose="020F0502020204030204" pitchFamily="34" charset="0"/>
                <a:ea typeface="Calibri" panose="020F0502020204030204" pitchFamily="34" charset="0"/>
                <a:cs typeface="Calibri" panose="020F0502020204030204" pitchFamily="34" charset="0"/>
              </a:rPr>
              <a:t>Enhance road visibility at night through better street lighting, reflective road markings, and clear signage.</a:t>
            </a: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1900" dirty="0">
                <a:effectLst/>
                <a:latin typeface="Calibri" panose="020F0502020204030204" pitchFamily="34" charset="0"/>
                <a:ea typeface="Calibri" panose="020F0502020204030204" pitchFamily="34" charset="0"/>
                <a:cs typeface="Calibri" panose="020F0502020204030204" pitchFamily="34" charset="0"/>
              </a:rPr>
              <a:t>Encourage flexible work schedules to reduce traffic congestion during peak commuting times.</a:t>
            </a:r>
          </a:p>
          <a:p>
            <a:pPr marL="0" marR="0" indent="0">
              <a:spcBef>
                <a:spcPts val="0"/>
              </a:spcBef>
              <a:spcAft>
                <a:spcPts val="0"/>
              </a:spcAft>
              <a:buNone/>
            </a:pPr>
            <a:r>
              <a:rPr lang="en-US" sz="1900" dirty="0">
                <a:effectLst/>
                <a:latin typeface="Calibri" panose="020F0502020204030204" pitchFamily="34" charset="0"/>
                <a:ea typeface="Calibri" panose="020F0502020204030204" pitchFamily="34" charset="0"/>
                <a:cs typeface="Calibri" panose="020F0502020204030204" pitchFamily="34" charset="0"/>
              </a:rPr>
              <a:t>By focusing on road safety interventions during these high-risk time periods, authorities can significantly reduce accident frequency and improve overall traffic safety.</a:t>
            </a: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062865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B7E0-1216-4D9F-9560-739866E1A326}"/>
              </a:ext>
            </a:extLst>
          </p:cNvPr>
          <p:cNvSpPr>
            <a:spLocks noGrp="1"/>
          </p:cNvSpPr>
          <p:nvPr>
            <p:ph type="title"/>
          </p:nvPr>
        </p:nvSpPr>
        <p:spPr>
          <a:xfrm>
            <a:off x="838200" y="365125"/>
            <a:ext cx="10515600" cy="453021"/>
          </a:xfrm>
        </p:spPr>
        <p:txBody>
          <a:bodyPr>
            <a:normAutofit fontScale="90000"/>
          </a:bodyPr>
          <a:lstStyle/>
          <a:p>
            <a:pPr algn="ctr"/>
            <a:r>
              <a:rPr lang="en-US" b="1" dirty="0"/>
              <a:t>DASHBOARD</a:t>
            </a:r>
          </a:p>
        </p:txBody>
      </p:sp>
      <p:sp>
        <p:nvSpPr>
          <p:cNvPr id="4" name="Content Placeholder 3">
            <a:extLst>
              <a:ext uri="{FF2B5EF4-FFF2-40B4-BE49-F238E27FC236}">
                <a16:creationId xmlns:a16="http://schemas.microsoft.com/office/drawing/2014/main" id="{03EA1ECC-8BAC-4FBE-8619-BF6A15E41E30}"/>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9E88E524-7EE0-4E92-95FA-7880132620BE}"/>
              </a:ext>
            </a:extLst>
          </p:cNvPr>
          <p:cNvPicPr>
            <a:picLocks noChangeAspect="1"/>
          </p:cNvPicPr>
          <p:nvPr/>
        </p:nvPicPr>
        <p:blipFill>
          <a:blip r:embed="rId2"/>
          <a:stretch>
            <a:fillRect/>
          </a:stretch>
        </p:blipFill>
        <p:spPr>
          <a:xfrm>
            <a:off x="761198" y="967972"/>
            <a:ext cx="10515600" cy="5524902"/>
          </a:xfrm>
          <a:prstGeom prst="rect">
            <a:avLst/>
          </a:prstGeom>
        </p:spPr>
      </p:pic>
    </p:spTree>
    <p:extLst>
      <p:ext uri="{BB962C8B-B14F-4D97-AF65-F5344CB8AC3E}">
        <p14:creationId xmlns:p14="http://schemas.microsoft.com/office/powerpoint/2010/main" val="3708823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TotalTime>
  <Words>2320</Words>
  <Application>Microsoft Office PowerPoint</Application>
  <PresentationFormat>Widescreen</PresentationFormat>
  <Paragraphs>395</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Georgia</vt:lpstr>
      <vt:lpstr>Segoe UI</vt:lpstr>
      <vt:lpstr>Symbol</vt:lpstr>
      <vt:lpstr>Times New Roman</vt:lpstr>
      <vt:lpstr>Wingdings</vt:lpstr>
      <vt:lpstr>Office Theme</vt:lpstr>
      <vt:lpstr>Business Introduction</vt:lpstr>
      <vt:lpstr>CoreTech Labs provides the following services</vt:lpstr>
      <vt:lpstr>ROAD ACCIDENT ANALYSIS</vt:lpstr>
      <vt:lpstr>Project Rationale</vt:lpstr>
      <vt:lpstr>Project Workflow</vt:lpstr>
      <vt:lpstr>Questions the Data can Answer</vt:lpstr>
      <vt:lpstr>RESULTS</vt:lpstr>
      <vt:lpstr>ACCIDENT DETERMINANTS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HOTSPOTS &amp; HEAT MAP ANALYSIS</vt:lpstr>
      <vt:lpstr>HOTSPOTS &amp; HEAT MAP ANALYSIS</vt:lpstr>
      <vt:lpstr>RECOMMENDATIONS FOR ROAD SAFETY IMPROVEMENTS</vt:lpstr>
      <vt:lpstr>PowerPoint Presentation</vt:lpstr>
      <vt:lpstr>PowerPoint Presentation</vt:lpstr>
      <vt:lpstr>PowerPoint Presentation</vt:lpstr>
      <vt:lpstr>DASHBOARD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 Result</dc:title>
  <dc:creator>Prisca Muoghalu</dc:creator>
  <cp:lastModifiedBy>Prisca Muoghalu</cp:lastModifiedBy>
  <cp:revision>74</cp:revision>
  <dcterms:created xsi:type="dcterms:W3CDTF">2026-02-27T12:52:02Z</dcterms:created>
  <dcterms:modified xsi:type="dcterms:W3CDTF">2026-03-08T14:37:27Z</dcterms:modified>
</cp:coreProperties>
</file>